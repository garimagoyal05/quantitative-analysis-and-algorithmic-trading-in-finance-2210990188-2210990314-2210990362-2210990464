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g"/>
  <Default Extension="png" ContentType="image/png"/>
  <Default Extension="bmp" ContentType="image/bmp"/>
  <Default Extension="gif" ContentType="image/gif"/>
  <Default Extension="tif" ContentType="image/tif"/>
  <Default Extension="pdf" ContentType="application/pdf"/>
  <Default Extension="mov" ContentType="application/movie"/>
  <Default Extension="vml" ContentType="application/vnd.openxmlformats-officedocument.vmlDrawing"/>
  <Default Extension="xlsx" ContentType="application/vnd.openxmlformats-officedocument.spreadsheetml.sheet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commentAuthors.xml" ContentType="application/vnd.openxmlformats-officedocument.presentationml.commentAuthors+xml"/>
  <Override PartName="/ppt/tableStyles.xml" ContentType="application/vnd.openxmlformats-officedocument.presentationml.tableStyle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media/image1.jpeg" ContentType="image/jpeg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ldMasterIdLst>
    <p:sldMasterId id="2147483648" r:id="rId5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51435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</a:defRPr>
    </a:defPPr>
    <a:lvl1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1pPr>
    <a:lvl2pPr marL="0" marR="0" indent="4572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2pPr>
    <a:lvl3pPr marL="0" marR="0" indent="9144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3pPr>
    <a:lvl4pPr marL="0" marR="0" indent="13716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4pPr>
    <a:lvl5pPr marL="0" marR="0" indent="18288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5pPr>
    <a:lvl6pPr marL="0" marR="0" indent="22860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6pPr>
    <a:lvl7pPr marL="0" marR="0" indent="27432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7pPr>
    <a:lvl8pPr marL="0" marR="0" indent="32004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8pPr>
    <a:lvl9pPr marL="0" marR="0" indent="36576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/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howPr loop="0"/>
</p:presentationPr>
</file>

<file path=ppt/tableStyles.xml><?xml version="1.0" encoding="utf-8"?>
<a:tblStyleLst xmlns:a="http://schemas.openxmlformats.org/drawingml/2006/main" xmlns:r="http://schemas.openxmlformats.org/officeDocument/2006/relationships" def="{5940675A-B579-460E-94D1-54222C63F5DA}">
  <a:tblStyle styleId="{4C3C2611-4C71-4FC5-86AE-919BDF0F9419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DD4EA"/>
          </a:solidFill>
        </a:fill>
      </a:tcStyle>
    </a:wholeTbl>
    <a:band2H>
      <a:tcTxStyle b="def" i="def"/>
      <a:tcStyle>
        <a:tcBdr/>
        <a:fill>
          <a:solidFill>
            <a:srgbClr val="E8EBF5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Row>
  </a:tblStyle>
  <a:tblStyle styleId="{C7B018BB-80A7-4F77-B60F-C8B233D01FF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E0E0E0"/>
          </a:solidFill>
        </a:fill>
      </a:tcStyle>
    </a:wholeTbl>
    <a:band2H>
      <a:tcTxStyle b="def" i="def"/>
      <a:tcStyle>
        <a:tcBdr/>
        <a:fill>
          <a:solidFill>
            <a:srgbClr val="F0F0F0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Row>
  </a:tblStyle>
  <a:tblStyle styleId="{EEE7283C-3CF3-47DC-8721-378D4A62B22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D4E2CE"/>
          </a:solidFill>
        </a:fill>
      </a:tcStyle>
    </a:wholeTbl>
    <a:band2H>
      <a:tcTxStyle b="def" i="def"/>
      <a:tcStyle>
        <a:tcBdr/>
        <a:fill>
          <a:solidFill>
            <a:srgbClr val="EBF1E8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Row>
  </a:tblStyle>
  <a:tblStyle styleId="{CF821DB8-F4EB-4A41-A1BA-3FCAFE7338EE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E6E6E6"/>
          </a:solidFill>
        </a:fill>
      </a:tcStyle>
    </a:wholeTbl>
    <a:band2H>
      <a:tcTxStyle b="def" i="def"/>
      <a:tcStyle>
        <a:tcBdr/>
        <a:fill>
          <a:solidFill>
            <a:srgbClr val="FFFFFF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Row>
  </a:tblStyle>
  <a:tblStyle styleId="{33BA23B1-9221-436E-865A-0063620EA4FD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ACACA"/>
          </a:solidFill>
        </a:fill>
      </a:tcStyle>
    </a:wholeTbl>
    <a:band2H>
      <a:tcTxStyle b="def" i="def"/>
      <a:tcStyle>
        <a:tcBdr/>
        <a:fill>
          <a:solidFill>
            <a:srgbClr val="E6E6E6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Row>
  </a:tblStyle>
  <a:tblStyle styleId="{2708684C-4D16-4618-839F-0558EEFCDFE6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wholeTbl>
    <a:band2H>
      <a:tcTxStyle b="def" i="def"/>
      <a:tcStyle>
        <a:tcBdr/>
        <a:fill>
          <a:solidFill>
            <a:srgbClr val="FFFFFF"/>
          </a:solidFill>
        </a:fill>
      </a:tcStyle>
    </a:band2H>
    <a:firstCol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lastRow>
    <a:fir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Comments="1"/>
</file>

<file path=ppt/_rels/presentation.xml.rels><?xml version="1.0" encoding="UTF-8"?>
<Relationships xmlns="http://schemas.openxmlformats.org/package/2006/relationships"><Relationship Id="rId1" Type="http://schemas.openxmlformats.org/officeDocument/2006/relationships/presProps" Target="presProps.xml"/><Relationship Id="rId2" Type="http://schemas.openxmlformats.org/officeDocument/2006/relationships/viewProps" Target="viewProps.xml"/><Relationship Id="rId3" Type="http://schemas.openxmlformats.org/officeDocument/2006/relationships/commentAuthors" Target="commentAuthors.xml"/><Relationship Id="rId4" Type="http://schemas.openxmlformats.org/officeDocument/2006/relationships/tableStyles" Target="tableStyles.xml"/><Relationship Id="rId5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</Relationships>
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Shape 17"/>
          <p:cNvSpPr/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18" name="Shape 18"/>
          <p:cNvSpPr/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latinLnBrk="0">
      <a:defRPr sz="1200">
        <a:latin typeface="+mn-lt"/>
        <a:ea typeface="+mn-ea"/>
        <a:cs typeface="+mn-cs"/>
        <a:sym typeface="Calibri"/>
      </a:defRPr>
    </a:lvl1pPr>
    <a:lvl2pPr indent="228600" latinLnBrk="0">
      <a:defRPr sz="1200">
        <a:latin typeface="+mn-lt"/>
        <a:ea typeface="+mn-ea"/>
        <a:cs typeface="+mn-cs"/>
        <a:sym typeface="Calibri"/>
      </a:defRPr>
    </a:lvl2pPr>
    <a:lvl3pPr indent="457200" latinLnBrk="0">
      <a:defRPr sz="1200">
        <a:latin typeface="+mn-lt"/>
        <a:ea typeface="+mn-ea"/>
        <a:cs typeface="+mn-cs"/>
        <a:sym typeface="Calibri"/>
      </a:defRPr>
    </a:lvl3pPr>
    <a:lvl4pPr indent="685800" latinLnBrk="0">
      <a:defRPr sz="1200">
        <a:latin typeface="+mn-lt"/>
        <a:ea typeface="+mn-ea"/>
        <a:cs typeface="+mn-cs"/>
        <a:sym typeface="Calibri"/>
      </a:defRPr>
    </a:lvl4pPr>
    <a:lvl5pPr indent="914400" latinLnBrk="0">
      <a:defRPr sz="1200">
        <a:latin typeface="+mn-lt"/>
        <a:ea typeface="+mn-ea"/>
        <a:cs typeface="+mn-cs"/>
        <a:sym typeface="Calibri"/>
      </a:defRPr>
    </a:lvl5pPr>
    <a:lvl6pPr indent="1143000" latinLnBrk="0">
      <a:defRPr sz="1200">
        <a:latin typeface="+mn-lt"/>
        <a:ea typeface="+mn-ea"/>
        <a:cs typeface="+mn-cs"/>
        <a:sym typeface="Calibri"/>
      </a:defRPr>
    </a:lvl6pPr>
    <a:lvl7pPr indent="1371600" latinLnBrk="0">
      <a:defRPr sz="1200">
        <a:latin typeface="+mn-lt"/>
        <a:ea typeface="+mn-ea"/>
        <a:cs typeface="+mn-cs"/>
        <a:sym typeface="Calibri"/>
      </a:defRPr>
    </a:lvl7pPr>
    <a:lvl8pPr indent="1600200" latinLnBrk="0">
      <a:defRPr sz="1200">
        <a:latin typeface="+mn-lt"/>
        <a:ea typeface="+mn-ea"/>
        <a:cs typeface="+mn-cs"/>
        <a:sym typeface="Calibri"/>
      </a:defRPr>
    </a:lvl8pPr>
    <a:lvl9pPr indent="1828800" latinLnBrk="0">
      <a:defRPr sz="1200">
        <a:latin typeface="+mn-lt"/>
        <a:ea typeface="+mn-ea"/>
        <a:cs typeface="+mn-cs"/>
        <a:sym typeface="Calibri"/>
      </a:defRPr>
    </a:lvl9pPr>
  </p:notesStyle>
</p:notesMaster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Text"/>
          <p:cNvSpPr txBox="1"/>
          <p:nvPr>
            <p:ph type="title"/>
          </p:nvPr>
        </p:nvSpPr>
        <p:spPr>
          <a:xfrm>
            <a:off x="457200" y="69056"/>
            <a:ext cx="8229600" cy="113109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/>
          <a:lstStyle/>
          <a:p>
            <a:pPr/>
            <a:r>
              <a:t>Title Text</a:t>
            </a:r>
          </a:p>
        </p:txBody>
      </p:sp>
      <p:sp>
        <p:nvSpPr>
          <p:cNvPr id="3" name="Body Level One…"/>
          <p:cNvSpPr txBox="1"/>
          <p:nvPr>
            <p:ph type="body" idx="1"/>
          </p:nvPr>
        </p:nvSpPr>
        <p:spPr>
          <a:xfrm>
            <a:off x="457200" y="1200150"/>
            <a:ext cx="8229600" cy="394335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/>
          <a:lstStyle/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" name="Slide Number"/>
          <p:cNvSpPr txBox="1"/>
          <p:nvPr>
            <p:ph type="sldNum" sz="quarter" idx="2"/>
          </p:nvPr>
        </p:nvSpPr>
        <p:spPr>
          <a:xfrm>
            <a:off x="4419600" y="4627562"/>
            <a:ext cx="2133600" cy="279401"/>
          </a:xfrm>
          <a:prstGeom prst="rect">
            <a:avLst/>
          </a:prstGeom>
          <a:ln w="12700">
            <a:miter lim="400000"/>
          </a:ln>
        </p:spPr>
        <p:txBody>
          <a:bodyPr wrap="none" lIns="45719" rIns="45719" anchor="ctr">
            <a:spAutoFit/>
          </a:bodyPr>
          <a:lstStyle>
            <a:lvl1pPr algn="r">
              <a:defRPr sz="1200"/>
            </a:lvl1pPr>
          </a:lstStyle>
          <a:p>
            <a:pPr/>
            <a:fld id="{86CB4B4D-7CA3-9044-876B-883B54F8677D}" type="slidenum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</p:sldLayoutIdLst>
  <p:transition xmlns:p14="http://schemas.microsoft.com/office/powerpoint/2010/main" spd="med" advClick="1"/>
  <p:txStyles>
    <p:titleStyle>
      <a:lvl1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1pPr>
      <a:lvl2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2pPr>
      <a:lvl3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3pPr>
      <a:lvl4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4pPr>
      <a:lvl5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5pPr>
      <a:lvl6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6pPr>
      <a:lvl7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7pPr>
      <a:lvl8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8pPr>
      <a:lvl9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9pPr>
    </p:titleStyle>
    <p:bodyStyle>
      <a:lvl1pPr marL="342900" marR="0" indent="-34290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1pPr>
      <a:lvl2pPr marL="783771" marR="0" indent="-326571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–"/>
        <a:tabLst/>
        <a:defRPr b="0" baseline="0" cap="none" i="0" spc="0" strike="noStrike" sz="32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2pPr>
      <a:lvl3pPr marL="1219200" marR="0" indent="-30480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3pPr>
      <a:lvl4pPr marL="1737360" marR="0" indent="-36576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–"/>
        <a:tabLst/>
        <a:defRPr b="0" baseline="0" cap="none" i="0" spc="0" strike="noStrike" sz="32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4pPr>
      <a:lvl5pPr marL="2194560" marR="0" indent="-36576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»"/>
        <a:tabLst/>
        <a:defRPr b="0" baseline="0" cap="none" i="0" spc="0" strike="noStrike" sz="32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5pPr>
      <a:lvl6pPr marL="2651760" marR="0" indent="-36576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6pPr>
      <a:lvl7pPr marL="3108960" marR="0" indent="-36576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7pPr>
      <a:lvl8pPr marL="3566159" marR="0" indent="-365759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8pPr>
      <a:lvl9pPr marL="4023359" marR="0" indent="-365759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9pPr>
    </p:bodyStyle>
    <p:otherStyle>
      <a:lvl1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1pPr>
      <a:lvl2pPr marL="0" marR="0" indent="4572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2pPr>
      <a:lvl3pPr marL="0" marR="0" indent="9144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3pPr>
      <a:lvl4pPr marL="0" marR="0" indent="13716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4pPr>
      <a:lvl5pPr marL="0" marR="0" indent="18288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5pPr>
      <a:lvl6pPr marL="0" marR="0" indent="22860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6pPr>
      <a:lvl7pPr marL="0" marR="0" indent="27432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7pPr>
      <a:lvl8pPr marL="0" marR="0" indent="32004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8pPr>
      <a:lvl9pPr marL="0" marR="0" indent="36576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9pPr>
    </p:otherStyle>
  </p:txStyles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jpeg"/></Relationships>
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jpeg"/></Relationships>
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jpeg"/></Relationships>
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jpeg"/></Relationships>
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jpeg"/></Relationships>
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jpeg"/></Relationships>
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jpeg"/><Relationship Id="rId3" Type="http://schemas.openxmlformats.org/officeDocument/2006/relationships/image" Target="../media/image1.png"/><Relationship Id="rId4" Type="http://schemas.openxmlformats.org/officeDocument/2006/relationships/image" Target="../media/image2.png"/><Relationship Id="rId5" Type="http://schemas.openxmlformats.org/officeDocument/2006/relationships/image" Target="../media/image3.png"/><Relationship Id="rId6" Type="http://schemas.openxmlformats.org/officeDocument/2006/relationships/image" Target="../media/image4.png"/><Relationship Id="rId7" Type="http://schemas.openxmlformats.org/officeDocument/2006/relationships/image" Target="../media/image5.png"/><Relationship Id="rId8" Type="http://schemas.openxmlformats.org/officeDocument/2006/relationships/image" Target="../media/image6.png"/><Relationship Id="rId9" Type="http://schemas.openxmlformats.org/officeDocument/2006/relationships/image" Target="../media/image7.png"/></Relationships>
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jpeg"/></Relationships>
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jpeg"/></Relationships>
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jpeg"/></Relationships>
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jpeg"/></Relationships>
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jpeg"/></Relationships>

</file>

<file path=ppt/slides/_rels/slide1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jpeg"/></Relationships>

</file>

<file path=ppt/slides/_rels/slide1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jpeg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Image 0" descr="Image 0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ln w="12700">
            <a:miter lim="400000"/>
          </a:ln>
        </p:spPr>
      </p:pic>
      <p:sp>
        <p:nvSpPr>
          <p:cNvPr id="21" name="Text 12"/>
          <p:cNvSpPr txBox="1"/>
          <p:nvPr/>
        </p:nvSpPr>
        <p:spPr>
          <a:xfrm>
            <a:off x="502919" y="4503464"/>
            <a:ext cx="7680961" cy="2285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sz="1000">
                <a:solidFill>
                  <a:srgbClr val="FFFFFF"/>
                </a:solidFill>
              </a:defRPr>
            </a:lvl1pPr>
          </a:lstStyle>
          <a:p>
            <a:pPr/>
            <a:r>
              <a:t>Department of Computer Science and Engineering, Chitkara University, Punjab</a:t>
            </a:r>
          </a:p>
        </p:txBody>
      </p:sp>
      <p:sp>
        <p:nvSpPr>
          <p:cNvPr id="22" name="Text 13"/>
          <p:cNvSpPr txBox="1"/>
          <p:nvPr/>
        </p:nvSpPr>
        <p:spPr>
          <a:xfrm>
            <a:off x="8732519" y="4929124"/>
            <a:ext cx="27432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r">
              <a:defRPr b="1" sz="900">
                <a:solidFill>
                  <a:srgbClr val="FFFFFF"/>
                </a:solidFill>
              </a:defRPr>
            </a:lvl1pPr>
          </a:lstStyle>
          <a:p>
            <a:pPr/>
            <a:r>
              <a:t>1</a:t>
            </a:r>
          </a:p>
        </p:txBody>
      </p:sp>
      <p:sp>
        <p:nvSpPr>
          <p:cNvPr id="23" name="Research Paper Presentation of IOHE…"/>
          <p:cNvSpPr txBox="1"/>
          <p:nvPr/>
        </p:nvSpPr>
        <p:spPr>
          <a:xfrm>
            <a:off x="1298148" y="659776"/>
            <a:ext cx="6547704" cy="525644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/>
          <a:p>
            <a:pPr algn="ctr">
              <a:spcBef>
                <a:spcPts val="400"/>
              </a:spcBef>
              <a:defRPr b="1" sz="20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Research Paper Presentation of IOHE</a:t>
            </a:r>
          </a:p>
          <a:p>
            <a:pPr algn="ctr">
              <a:spcBef>
                <a:spcPts val="400"/>
              </a:spcBef>
              <a:defRPr spc="0" sz="16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On</a:t>
            </a:r>
          </a:p>
          <a:p>
            <a:pPr algn="ctr">
              <a:spcBef>
                <a:spcPts val="400"/>
              </a:spcBef>
              <a:defRPr b="1" sz="1600">
                <a:latin typeface="Arial"/>
                <a:ea typeface="Arial"/>
                <a:cs typeface="Arial"/>
                <a:sym typeface="Arial"/>
              </a:defRPr>
            </a:pPr>
            <a:r>
              <a:t>Quantitative Analysis and Algorithmic Trading in Financial Markets</a:t>
            </a:r>
          </a:p>
          <a:p>
            <a:pPr algn="ctr">
              <a:spcBef>
                <a:spcPts val="400"/>
              </a:spcBef>
              <a:defRPr b="1" spc="-1" sz="20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        </a:t>
            </a:r>
          </a:p>
          <a:p>
            <a:pPr algn="ctr">
              <a:spcBef>
                <a:spcPts val="400"/>
              </a:spcBef>
              <a:defRPr b="1" spc="-1" sz="2000">
                <a:latin typeface="Times New Roman"/>
                <a:ea typeface="Times New Roman"/>
                <a:cs typeface="Times New Roman"/>
                <a:sym typeface="Times New Roman"/>
              </a:defRPr>
            </a:pPr>
          </a:p>
          <a:p>
            <a:pPr>
              <a:spcBef>
                <a:spcPts val="400"/>
              </a:spcBef>
              <a:defRPr b="1" spc="-1" sz="20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spc="0" sz="1400"/>
              <a:t>Submitted By</a:t>
            </a:r>
            <a:r>
              <a:rPr b="0" spc="0" sz="1400"/>
              <a:t>:                                                                                 </a:t>
            </a:r>
            <a:r>
              <a:rPr spc="0" sz="1400"/>
              <a:t>Supervised By:</a:t>
            </a:r>
            <a:endParaRPr spc="0" sz="1400"/>
          </a:p>
          <a:p>
            <a:pPr>
              <a:spcBef>
                <a:spcPts val="400"/>
              </a:spcBef>
              <a:defRPr spc="0" sz="14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Ashish Tantubai(2210990188)                                                         Dr. Gifty Gupta </a:t>
            </a:r>
          </a:p>
          <a:p>
            <a:pPr>
              <a:spcBef>
                <a:spcPts val="400"/>
              </a:spcBef>
              <a:defRPr spc="0" sz="14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Garima(2210990314)                                                                       Associate Professor </a:t>
            </a:r>
          </a:p>
          <a:p>
            <a:pPr>
              <a:spcBef>
                <a:spcPts val="400"/>
              </a:spcBef>
              <a:defRPr spc="0" sz="14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Harjot Kaur(2210990362)</a:t>
            </a:r>
          </a:p>
          <a:p>
            <a:pPr>
              <a:spcBef>
                <a:spcPts val="400"/>
              </a:spcBef>
              <a:defRPr spc="0" sz="14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Jiya Gaba(2210990464)</a:t>
            </a:r>
          </a:p>
          <a:p>
            <a:pPr>
              <a:spcBef>
                <a:spcPts val="400"/>
              </a:spcBef>
              <a:defRPr spc="-1" sz="24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                                  </a:t>
            </a:r>
          </a:p>
          <a:p>
            <a:pPr>
              <a:spcBef>
                <a:spcPts val="400"/>
              </a:spcBef>
              <a:defRPr spc="-1" sz="24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                                </a:t>
            </a:r>
          </a:p>
          <a:p>
            <a:pPr algn="ctr">
              <a:spcBef>
                <a:spcPts val="400"/>
              </a:spcBef>
              <a:defRPr spc="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Department of Computer Science and Engineering, </a:t>
            </a:r>
          </a:p>
          <a:p>
            <a:pPr algn="ctr">
              <a:spcBef>
                <a:spcPts val="400"/>
              </a:spcBef>
              <a:defRPr spc="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Chitkara University, Punjab</a:t>
            </a:r>
          </a:p>
          <a:p>
            <a:pPr algn="ctr">
              <a:lnSpc>
                <a:spcPct val="150000"/>
              </a:lnSpc>
              <a:spcBef>
                <a:spcPts val="400"/>
              </a:spcBef>
              <a:defRPr spc="-1" sz="2400">
                <a:latin typeface="Times New Roman"/>
                <a:ea typeface="Times New Roman"/>
                <a:cs typeface="Times New Roman"/>
                <a:sym typeface="Times New Roman"/>
              </a:defRPr>
            </a:pP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Image 0" descr="Image 0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-1" y="-1"/>
            <a:ext cx="9144001" cy="5143501"/>
          </a:xfrm>
          <a:prstGeom prst="rect">
            <a:avLst/>
          </a:prstGeom>
          <a:ln w="12700">
            <a:miter lim="400000"/>
          </a:ln>
        </p:spPr>
      </p:pic>
      <p:sp>
        <p:nvSpPr>
          <p:cNvPr id="26" name="Text 0"/>
          <p:cNvSpPr txBox="1"/>
          <p:nvPr/>
        </p:nvSpPr>
        <p:spPr>
          <a:xfrm>
            <a:off x="94317" y="75017"/>
            <a:ext cx="7315201" cy="45660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3200"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Introduction</a:t>
            </a:r>
          </a:p>
        </p:txBody>
      </p:sp>
      <p:sp>
        <p:nvSpPr>
          <p:cNvPr id="27" name="Text 2"/>
          <p:cNvSpPr txBox="1"/>
          <p:nvPr/>
        </p:nvSpPr>
        <p:spPr>
          <a:xfrm>
            <a:off x="111922" y="687221"/>
            <a:ext cx="4480561" cy="429960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b="1" sz="1600">
                <a:solidFill>
                  <a:srgbClr val="0D1B2A"/>
                </a:solidFill>
              </a:defRPr>
            </a:pPr>
            <a:r>
              <a:t>Why Stock Market Prediction?</a:t>
            </a:r>
          </a:p>
          <a:p>
            <a:pPr>
              <a:defRPr sz="600"/>
            </a:pPr>
          </a:p>
          <a:p>
            <a:pPr>
              <a:defRPr sz="600"/>
            </a:pPr>
            <a:endParaRPr sz="1600"/>
          </a:p>
          <a:p>
            <a:pPr>
              <a:defRPr sz="1200">
                <a:solidFill>
                  <a:srgbClr val="334155"/>
                </a:solidFill>
              </a:defRPr>
            </a:pPr>
            <a:r>
              <a:t>Stock markets are critical for investment and capital creation, yet highly unpredictable due to complex economic factors and constant fluctuations.</a:t>
            </a:r>
          </a:p>
          <a:p>
            <a:pPr>
              <a:defRPr sz="1200">
                <a:solidFill>
                  <a:srgbClr val="334155"/>
                </a:solidFill>
              </a:defRPr>
            </a:pPr>
          </a:p>
          <a:p>
            <a:pPr>
              <a:defRPr sz="1200">
                <a:solidFill>
                  <a:srgbClr val="334155"/>
                </a:solidFill>
              </a:defRPr>
            </a:pPr>
            <a:endParaRPr sz="1600"/>
          </a:p>
          <a:p>
            <a:pPr>
              <a:defRPr b="1" sz="1600">
                <a:solidFill>
                  <a:srgbClr val="0D1B2A"/>
                </a:solidFill>
              </a:defRPr>
            </a:pPr>
            <a:r>
              <a:t>Limitations of Traditional Methods</a:t>
            </a:r>
          </a:p>
          <a:p>
            <a:pPr>
              <a:defRPr sz="600"/>
            </a:pPr>
          </a:p>
          <a:p>
            <a:pPr>
              <a:defRPr sz="600"/>
            </a:pPr>
            <a:endParaRPr sz="1600"/>
          </a:p>
          <a:p>
            <a:pPr>
              <a:defRPr sz="1200">
                <a:solidFill>
                  <a:srgbClr val="334155"/>
                </a:solidFill>
              </a:defRPr>
            </a:pPr>
            <a:r>
              <a:t>Human-driven methods are tedious, rigid, and prone to emotional bias — particularly ill-suited during periods of high volatility.</a:t>
            </a:r>
          </a:p>
          <a:p>
            <a:pPr>
              <a:defRPr sz="1200">
                <a:solidFill>
                  <a:srgbClr val="334155"/>
                </a:solidFill>
              </a:defRPr>
            </a:pPr>
          </a:p>
          <a:p>
            <a:pPr>
              <a:defRPr sz="1200">
                <a:solidFill>
                  <a:srgbClr val="334155"/>
                </a:solidFill>
              </a:defRPr>
            </a:pPr>
            <a:endParaRPr sz="1600"/>
          </a:p>
          <a:p>
            <a:pPr>
              <a:defRPr b="1" sz="1600">
                <a:solidFill>
                  <a:srgbClr val="0D1B2A"/>
                </a:solidFill>
              </a:defRPr>
            </a:pPr>
            <a:r>
              <a:t>Our Solution</a:t>
            </a:r>
          </a:p>
          <a:p>
            <a:pPr>
              <a:defRPr sz="600"/>
            </a:pPr>
          </a:p>
          <a:p>
            <a:pPr>
              <a:defRPr sz="600"/>
            </a:pPr>
            <a:endParaRPr sz="1600"/>
          </a:p>
          <a:p>
            <a:pPr>
              <a:defRPr sz="1200">
                <a:solidFill>
                  <a:srgbClr val="334155"/>
                </a:solidFill>
              </a:defRPr>
            </a:pPr>
            <a:r>
              <a:t>An automated stock price prediction system using NIFTY 50 historical data with advanced ML/DL algorithms and data preprocessing pipelines.</a:t>
            </a:r>
          </a:p>
        </p:txBody>
      </p:sp>
      <p:sp>
        <p:nvSpPr>
          <p:cNvPr id="28" name="Shape 3"/>
          <p:cNvSpPr/>
          <p:nvPr/>
        </p:nvSpPr>
        <p:spPr>
          <a:xfrm>
            <a:off x="5255356" y="1191104"/>
            <a:ext cx="1645921" cy="1463041"/>
          </a:xfrm>
          <a:prstGeom prst="rect">
            <a:avLst/>
          </a:prstGeom>
          <a:solidFill>
            <a:srgbClr val="EA4826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29" name="Text 4"/>
          <p:cNvSpPr txBox="1"/>
          <p:nvPr/>
        </p:nvSpPr>
        <p:spPr>
          <a:xfrm>
            <a:off x="5301076" y="1490824"/>
            <a:ext cx="1554481" cy="4978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b="1" sz="28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</a:lstStyle>
          <a:p>
            <a:pPr/>
            <a:r>
              <a:t>50</a:t>
            </a:r>
          </a:p>
        </p:txBody>
      </p:sp>
      <p:sp>
        <p:nvSpPr>
          <p:cNvPr id="30" name="Text 5"/>
          <p:cNvSpPr txBox="1"/>
          <p:nvPr/>
        </p:nvSpPr>
        <p:spPr>
          <a:xfrm>
            <a:off x="5301076" y="2185427"/>
            <a:ext cx="1554481" cy="2059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sz="900">
                <a:solidFill>
                  <a:srgbClr val="FFFFFF"/>
                </a:solidFill>
              </a:defRPr>
            </a:lvl1pPr>
          </a:lstStyle>
          <a:p>
            <a:pPr/>
            <a:r>
              <a:t>NIFTY Stocks Analyzed</a:t>
            </a:r>
          </a:p>
        </p:txBody>
      </p:sp>
      <p:sp>
        <p:nvSpPr>
          <p:cNvPr id="31" name="Shape 6"/>
          <p:cNvSpPr/>
          <p:nvPr/>
        </p:nvSpPr>
        <p:spPr>
          <a:xfrm>
            <a:off x="7038436" y="1191104"/>
            <a:ext cx="1645921" cy="1463041"/>
          </a:xfrm>
          <a:prstGeom prst="rect">
            <a:avLst/>
          </a:prstGeom>
          <a:solidFill>
            <a:srgbClr val="0D1B2A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32" name="Text 7"/>
          <p:cNvSpPr txBox="1"/>
          <p:nvPr/>
        </p:nvSpPr>
        <p:spPr>
          <a:xfrm>
            <a:off x="7084155" y="1490824"/>
            <a:ext cx="1554482" cy="4978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b="1" sz="28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</a:lstStyle>
          <a:p>
            <a:pPr/>
            <a:r>
              <a:t>6+</a:t>
            </a:r>
          </a:p>
        </p:txBody>
      </p:sp>
      <p:sp>
        <p:nvSpPr>
          <p:cNvPr id="33" name="Text 8"/>
          <p:cNvSpPr txBox="1"/>
          <p:nvPr/>
        </p:nvSpPr>
        <p:spPr>
          <a:xfrm>
            <a:off x="7084155" y="2185427"/>
            <a:ext cx="1554482" cy="2059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sz="900">
                <a:solidFill>
                  <a:srgbClr val="FFFFFF"/>
                </a:solidFill>
              </a:defRPr>
            </a:lvl1pPr>
          </a:lstStyle>
          <a:p>
            <a:pPr/>
            <a:r>
              <a:t>ML/DL Models Compared</a:t>
            </a:r>
          </a:p>
        </p:txBody>
      </p:sp>
      <p:sp>
        <p:nvSpPr>
          <p:cNvPr id="34" name="Shape 9"/>
          <p:cNvSpPr/>
          <p:nvPr/>
        </p:nvSpPr>
        <p:spPr>
          <a:xfrm>
            <a:off x="5255356" y="3019904"/>
            <a:ext cx="1645921" cy="1463041"/>
          </a:xfrm>
          <a:prstGeom prst="rect">
            <a:avLst/>
          </a:prstGeom>
          <a:solidFill>
            <a:srgbClr val="EA4826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35" name="Text 10"/>
          <p:cNvSpPr txBox="1"/>
          <p:nvPr/>
        </p:nvSpPr>
        <p:spPr>
          <a:xfrm>
            <a:off x="5301076" y="3319624"/>
            <a:ext cx="1554481" cy="4978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b="1" sz="28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</a:lstStyle>
          <a:p>
            <a:pPr/>
            <a:r>
              <a:t>LSTM</a:t>
            </a:r>
          </a:p>
        </p:txBody>
      </p:sp>
      <p:sp>
        <p:nvSpPr>
          <p:cNvPr id="36" name="Text 11"/>
          <p:cNvSpPr txBox="1"/>
          <p:nvPr/>
        </p:nvSpPr>
        <p:spPr>
          <a:xfrm>
            <a:off x="5301076" y="4014227"/>
            <a:ext cx="1554481" cy="2059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sz="900">
                <a:solidFill>
                  <a:srgbClr val="FFFFFF"/>
                </a:solidFill>
              </a:defRPr>
            </a:lvl1pPr>
          </a:lstStyle>
          <a:p>
            <a:pPr/>
            <a:r>
              <a:t>Top Performing Model</a:t>
            </a:r>
          </a:p>
        </p:txBody>
      </p:sp>
      <p:sp>
        <p:nvSpPr>
          <p:cNvPr id="37" name="Shape 12"/>
          <p:cNvSpPr/>
          <p:nvPr/>
        </p:nvSpPr>
        <p:spPr>
          <a:xfrm>
            <a:off x="7038436" y="3019904"/>
            <a:ext cx="1645921" cy="1463041"/>
          </a:xfrm>
          <a:prstGeom prst="rect">
            <a:avLst/>
          </a:prstGeom>
          <a:solidFill>
            <a:srgbClr val="0D1B2A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38" name="Text 13"/>
          <p:cNvSpPr txBox="1"/>
          <p:nvPr/>
        </p:nvSpPr>
        <p:spPr>
          <a:xfrm>
            <a:off x="7084155" y="3319624"/>
            <a:ext cx="1554482" cy="4978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b="1" sz="28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</a:lstStyle>
          <a:p>
            <a:pPr/>
            <a:r>
              <a:t>0.897</a:t>
            </a:r>
          </a:p>
        </p:txBody>
      </p:sp>
      <p:sp>
        <p:nvSpPr>
          <p:cNvPr id="39" name="Text 14"/>
          <p:cNvSpPr txBox="1"/>
          <p:nvPr/>
        </p:nvSpPr>
        <p:spPr>
          <a:xfrm>
            <a:off x="7084155" y="4014227"/>
            <a:ext cx="1554482" cy="2059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sz="900">
                <a:solidFill>
                  <a:srgbClr val="FFFFFF"/>
                </a:solidFill>
              </a:defRPr>
            </a:lvl1pPr>
          </a:lstStyle>
          <a:p>
            <a:pPr/>
            <a:r>
              <a:t>Best R² Score (LSTM)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" name="Image 0" descr="Image 0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0" y="0"/>
            <a:ext cx="9144001" cy="5143501"/>
          </a:xfrm>
          <a:prstGeom prst="rect">
            <a:avLst/>
          </a:prstGeom>
          <a:ln w="12700">
            <a:miter lim="400000"/>
          </a:ln>
        </p:spPr>
      </p:pic>
      <p:sp>
        <p:nvSpPr>
          <p:cNvPr id="42" name="Text 0"/>
          <p:cNvSpPr txBox="1"/>
          <p:nvPr/>
        </p:nvSpPr>
        <p:spPr>
          <a:xfrm>
            <a:off x="49886" y="108298"/>
            <a:ext cx="7315201" cy="45660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3200"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Problem Statement</a:t>
            </a:r>
          </a:p>
        </p:txBody>
      </p:sp>
      <p:sp>
        <p:nvSpPr>
          <p:cNvPr id="43" name="Shape 1"/>
          <p:cNvSpPr/>
          <p:nvPr/>
        </p:nvSpPr>
        <p:spPr>
          <a:xfrm>
            <a:off x="246760" y="867090"/>
            <a:ext cx="2743201" cy="3246121"/>
          </a:xfrm>
          <a:prstGeom prst="rect">
            <a:avLst/>
          </a:prstGeom>
          <a:solidFill>
            <a:srgbClr val="FFF5F5"/>
          </a:solidFill>
          <a:ln w="12700">
            <a:solidFill>
              <a:srgbClr val="FFBBBB"/>
            </a:solidFill>
          </a:ln>
          <a:effectLst>
            <a:outerShdw sx="100000" sy="100000" kx="0" ky="0" algn="b" rotWithShape="0" blurRad="76200" dist="25400" dir="8100000">
              <a:srgbClr val="000000">
                <a:alpha val="10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44" name="Shape 2"/>
          <p:cNvSpPr/>
          <p:nvPr/>
        </p:nvSpPr>
        <p:spPr>
          <a:xfrm>
            <a:off x="246760" y="867090"/>
            <a:ext cx="2743201" cy="73153"/>
          </a:xfrm>
          <a:prstGeom prst="rect">
            <a:avLst/>
          </a:prstGeom>
          <a:solidFill>
            <a:srgbClr val="CC2200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45" name="Text 3"/>
          <p:cNvSpPr txBox="1"/>
          <p:nvPr/>
        </p:nvSpPr>
        <p:spPr>
          <a:xfrm>
            <a:off x="383920" y="1151015"/>
            <a:ext cx="2468881" cy="26425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b="1" sz="1200">
                <a:solidFill>
                  <a:srgbClr val="CC220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Market Challenges</a:t>
            </a:r>
          </a:p>
        </p:txBody>
      </p:sp>
      <p:sp>
        <p:nvSpPr>
          <p:cNvPr id="46" name="Text 4"/>
          <p:cNvSpPr txBox="1"/>
          <p:nvPr/>
        </p:nvSpPr>
        <p:spPr>
          <a:xfrm>
            <a:off x="402208" y="1857306"/>
            <a:ext cx="2432305" cy="182347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/>
          <a:p>
            <a:pPr marL="110289" indent="-110289">
              <a:lnSpc>
                <a:spcPct val="150000"/>
              </a:lnSpc>
              <a:buSzPct val="100000"/>
              <a:buChar char="•"/>
              <a:defRPr sz="1100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Fail to perform consistently across different market conditions</a:t>
            </a:r>
          </a:p>
          <a:p>
            <a:pPr marL="110289" indent="-110289">
              <a:lnSpc>
                <a:spcPct val="150000"/>
              </a:lnSpc>
              <a:buSzPct val="100000"/>
              <a:buChar char="•"/>
              <a:defRPr sz="1100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Generate many false signals</a:t>
            </a:r>
          </a:p>
          <a:p>
            <a:pPr marL="110289" indent="-110289">
              <a:lnSpc>
                <a:spcPct val="150000"/>
              </a:lnSpc>
              <a:buSzPct val="100000"/>
              <a:buChar char="•"/>
              <a:defRPr sz="1100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Lead to false signals &amp; reduced profitability</a:t>
            </a:r>
          </a:p>
          <a:p>
            <a:pPr marL="110289" indent="-110289">
              <a:lnSpc>
                <a:spcPct val="150000"/>
              </a:lnSpc>
              <a:buSzPct val="100000"/>
              <a:buChar char="•"/>
              <a:defRPr sz="1100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Don’t adapt to changing market</a:t>
            </a:r>
          </a:p>
          <a:p>
            <a:pPr marL="110289" indent="-110289">
              <a:lnSpc>
                <a:spcPct val="150000"/>
              </a:lnSpc>
              <a:buSzPct val="100000"/>
              <a:buChar char="•"/>
              <a:defRPr sz="1100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Fixed strategies are ineffective in dynamic financial markets </a:t>
            </a:r>
          </a:p>
        </p:txBody>
      </p:sp>
      <p:sp>
        <p:nvSpPr>
          <p:cNvPr id="47" name="Shape 5"/>
          <p:cNvSpPr/>
          <p:nvPr/>
        </p:nvSpPr>
        <p:spPr>
          <a:xfrm>
            <a:off x="3172840" y="867090"/>
            <a:ext cx="2743201" cy="3246121"/>
          </a:xfrm>
          <a:prstGeom prst="rect">
            <a:avLst/>
          </a:prstGeom>
          <a:solidFill>
            <a:srgbClr val="FFF8F0"/>
          </a:solidFill>
          <a:ln w="12700">
            <a:solidFill>
              <a:srgbClr val="FFD0A0"/>
            </a:solidFill>
          </a:ln>
          <a:effectLst>
            <a:outerShdw sx="100000" sy="100000" kx="0" ky="0" algn="b" rotWithShape="0" blurRad="76200" dist="25400" dir="8100000">
              <a:srgbClr val="000000">
                <a:alpha val="10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48" name="Shape 6"/>
          <p:cNvSpPr/>
          <p:nvPr/>
        </p:nvSpPr>
        <p:spPr>
          <a:xfrm>
            <a:off x="3172840" y="867090"/>
            <a:ext cx="2743201" cy="73153"/>
          </a:xfrm>
          <a:prstGeom prst="rect">
            <a:avLst/>
          </a:prstGeom>
          <a:solidFill>
            <a:srgbClr val="C05000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49" name="Text 7"/>
          <p:cNvSpPr txBox="1"/>
          <p:nvPr/>
        </p:nvSpPr>
        <p:spPr>
          <a:xfrm>
            <a:off x="3310001" y="1062115"/>
            <a:ext cx="2468881" cy="44205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b="1" sz="1200">
                <a:solidFill>
                  <a:srgbClr val="C0500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Limitations of Traditional Strategies</a:t>
            </a:r>
          </a:p>
        </p:txBody>
      </p:sp>
      <p:sp>
        <p:nvSpPr>
          <p:cNvPr id="50" name="Text 8"/>
          <p:cNvSpPr txBox="1"/>
          <p:nvPr/>
        </p:nvSpPr>
        <p:spPr>
          <a:xfrm>
            <a:off x="3328289" y="1857306"/>
            <a:ext cx="2432305" cy="182347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/>
          <a:p>
            <a:pPr marL="100263" indent="-100263">
              <a:lnSpc>
                <a:spcPct val="150000"/>
              </a:lnSpc>
              <a:buSzPct val="100000"/>
              <a:buChar char="•"/>
              <a:defRPr sz="1100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EMA crossover are simple and widely used</a:t>
            </a:r>
          </a:p>
          <a:p>
            <a:pPr marL="100263" indent="-100263">
              <a:lnSpc>
                <a:spcPct val="150000"/>
              </a:lnSpc>
              <a:buSzPct val="100000"/>
              <a:buChar char="•"/>
              <a:defRPr sz="1100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Rule-based approaches treat all signals equally</a:t>
            </a:r>
          </a:p>
          <a:p>
            <a:pPr marL="100263" indent="-100263">
              <a:lnSpc>
                <a:spcPct val="150000"/>
              </a:lnSpc>
              <a:buSzPct val="100000"/>
              <a:buChar char="•"/>
              <a:defRPr sz="1100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Unable to capture complex nonlinear patterns in financial data</a:t>
            </a:r>
          </a:p>
          <a:p>
            <a:pPr marL="100263" indent="-100263">
              <a:lnSpc>
                <a:spcPct val="150000"/>
              </a:lnSpc>
              <a:buSzPct val="100000"/>
              <a:buChar char="•"/>
              <a:defRPr sz="1100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Ignore temporal dependencies in time-series data</a:t>
            </a:r>
          </a:p>
        </p:txBody>
      </p:sp>
      <p:sp>
        <p:nvSpPr>
          <p:cNvPr id="51" name="Shape 9"/>
          <p:cNvSpPr/>
          <p:nvPr/>
        </p:nvSpPr>
        <p:spPr>
          <a:xfrm>
            <a:off x="6098920" y="867090"/>
            <a:ext cx="2743201" cy="3246121"/>
          </a:xfrm>
          <a:prstGeom prst="rect">
            <a:avLst/>
          </a:prstGeom>
          <a:solidFill>
            <a:srgbClr val="F5F0FF"/>
          </a:solidFill>
          <a:ln w="12700">
            <a:solidFill>
              <a:srgbClr val="C4B5FD"/>
            </a:solidFill>
          </a:ln>
          <a:effectLst>
            <a:outerShdw sx="100000" sy="100000" kx="0" ky="0" algn="b" rotWithShape="0" blurRad="76200" dist="25400" dir="8100000">
              <a:srgbClr val="000000">
                <a:alpha val="10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52" name="Shape 10"/>
          <p:cNvSpPr/>
          <p:nvPr/>
        </p:nvSpPr>
        <p:spPr>
          <a:xfrm>
            <a:off x="6098920" y="867090"/>
            <a:ext cx="2743201" cy="73153"/>
          </a:xfrm>
          <a:prstGeom prst="rect">
            <a:avLst/>
          </a:prstGeom>
          <a:solidFill>
            <a:srgbClr val="5B21B6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53" name="Text 11"/>
          <p:cNvSpPr txBox="1"/>
          <p:nvPr/>
        </p:nvSpPr>
        <p:spPr>
          <a:xfrm>
            <a:off x="6236080" y="1151015"/>
            <a:ext cx="2468882" cy="26425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b="1" sz="1200">
                <a:solidFill>
                  <a:srgbClr val="5B21B6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Data &amp; Model Gaps</a:t>
            </a:r>
          </a:p>
        </p:txBody>
      </p:sp>
      <p:sp>
        <p:nvSpPr>
          <p:cNvPr id="54" name="Text 12"/>
          <p:cNvSpPr txBox="1"/>
          <p:nvPr/>
        </p:nvSpPr>
        <p:spPr>
          <a:xfrm>
            <a:off x="6254369" y="1970463"/>
            <a:ext cx="2432305" cy="159716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/>
          <a:p>
            <a:pPr marL="110289" indent="-110289">
              <a:lnSpc>
                <a:spcPct val="150000"/>
              </a:lnSpc>
              <a:buSzPct val="100000"/>
              <a:buChar char="•"/>
              <a:defRPr sz="1100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Need for a data-driven and adaptive approach</a:t>
            </a:r>
          </a:p>
          <a:p>
            <a:pPr marL="110289" indent="-110289">
              <a:lnSpc>
                <a:spcPct val="150000"/>
              </a:lnSpc>
              <a:buSzPct val="100000"/>
              <a:buChar char="•"/>
              <a:defRPr sz="1100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Machine learning and deep learning can improve prediction accuracy</a:t>
            </a:r>
          </a:p>
          <a:p>
            <a:pPr marL="110289" indent="-110289">
              <a:lnSpc>
                <a:spcPct val="150000"/>
              </a:lnSpc>
              <a:buSzPct val="100000"/>
              <a:buChar char="•"/>
              <a:defRPr sz="1100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Helps filter low-quaality trades and enhance overall trading performance</a:t>
            </a:r>
          </a:p>
        </p:txBody>
      </p:sp>
      <p:sp>
        <p:nvSpPr>
          <p:cNvPr id="55" name="Shape 13"/>
          <p:cNvSpPr/>
          <p:nvPr/>
        </p:nvSpPr>
        <p:spPr>
          <a:xfrm>
            <a:off x="246760" y="4232082"/>
            <a:ext cx="8686801" cy="566929"/>
          </a:xfrm>
          <a:prstGeom prst="rect">
            <a:avLst/>
          </a:prstGeom>
          <a:solidFill>
            <a:srgbClr val="FFF1F2"/>
          </a:solidFill>
          <a:ln w="12700">
            <a:solidFill>
              <a:srgbClr val="FECACA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56" name="Text 14"/>
          <p:cNvSpPr txBox="1"/>
          <p:nvPr/>
        </p:nvSpPr>
        <p:spPr>
          <a:xfrm>
            <a:off x="338200" y="4350954"/>
            <a:ext cx="8503921" cy="3200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b="1" sz="1100">
                <a:solidFill>
                  <a:srgbClr val="B91C1C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💡  Need for a data-driven and adaptive approach using Machine Learning and Deep Learning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8" name="Image 0" descr="Image 0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-1" y="-1"/>
            <a:ext cx="9144001" cy="5143501"/>
          </a:xfrm>
          <a:prstGeom prst="rect">
            <a:avLst/>
          </a:prstGeom>
          <a:ln w="12700">
            <a:miter lim="400000"/>
          </a:ln>
        </p:spPr>
      </p:pic>
      <p:sp>
        <p:nvSpPr>
          <p:cNvPr id="59" name="Text 0"/>
          <p:cNvSpPr txBox="1"/>
          <p:nvPr/>
        </p:nvSpPr>
        <p:spPr>
          <a:xfrm>
            <a:off x="72512" y="83905"/>
            <a:ext cx="7315201" cy="45660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3200"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Objectives</a:t>
            </a:r>
          </a:p>
        </p:txBody>
      </p:sp>
      <p:sp>
        <p:nvSpPr>
          <p:cNvPr id="60" name="Shape 1"/>
          <p:cNvSpPr/>
          <p:nvPr/>
        </p:nvSpPr>
        <p:spPr>
          <a:xfrm>
            <a:off x="274320" y="1022094"/>
            <a:ext cx="256033" cy="256033"/>
          </a:xfrm>
          <a:prstGeom prst="ellipse">
            <a:avLst/>
          </a:prstGeom>
          <a:solidFill>
            <a:srgbClr val="16A34A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61" name="Text 2"/>
          <p:cNvSpPr txBox="1"/>
          <p:nvPr/>
        </p:nvSpPr>
        <p:spPr>
          <a:xfrm>
            <a:off x="274320" y="1064766"/>
            <a:ext cx="256033" cy="152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1000">
                <a:solidFill>
                  <a:srgbClr val="FFFFFF"/>
                </a:solidFill>
                <a:latin typeface="+mj-lt"/>
                <a:ea typeface="+mj-ea"/>
                <a:cs typeface="+mj-cs"/>
                <a:sym typeface="Helvetica"/>
              </a:defRPr>
            </a:lvl1pPr>
          </a:lstStyle>
          <a:p>
            <a:pPr>
              <a:defRPr>
                <a:latin typeface="+mn-lt"/>
                <a:ea typeface="+mn-ea"/>
                <a:cs typeface="+mn-cs"/>
                <a:sym typeface="Calibri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✓</a:t>
            </a:r>
          </a:p>
        </p:txBody>
      </p:sp>
      <p:sp>
        <p:nvSpPr>
          <p:cNvPr id="62" name="Text 3"/>
          <p:cNvSpPr txBox="1"/>
          <p:nvPr/>
        </p:nvSpPr>
        <p:spPr>
          <a:xfrm>
            <a:off x="640079" y="1031157"/>
            <a:ext cx="3571979" cy="23790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sz="1100">
                <a:solidFill>
                  <a:srgbClr val="1E293B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</a:lstStyle>
          <a:p>
            <a:pPr/>
            <a:r>
              <a:t>Develop a data-driven stock prediction system for NIFTY 50</a:t>
            </a:r>
          </a:p>
        </p:txBody>
      </p:sp>
      <p:sp>
        <p:nvSpPr>
          <p:cNvPr id="63" name="Shape 4"/>
          <p:cNvSpPr/>
          <p:nvPr/>
        </p:nvSpPr>
        <p:spPr>
          <a:xfrm>
            <a:off x="274320" y="1717038"/>
            <a:ext cx="256033" cy="256033"/>
          </a:xfrm>
          <a:prstGeom prst="ellipse">
            <a:avLst/>
          </a:prstGeom>
          <a:solidFill>
            <a:srgbClr val="16A34A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64" name="Text 5"/>
          <p:cNvSpPr txBox="1"/>
          <p:nvPr/>
        </p:nvSpPr>
        <p:spPr>
          <a:xfrm>
            <a:off x="274320" y="1759710"/>
            <a:ext cx="256033" cy="152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1000">
                <a:solidFill>
                  <a:srgbClr val="FFFFFF"/>
                </a:solidFill>
                <a:latin typeface="+mj-lt"/>
                <a:ea typeface="+mj-ea"/>
                <a:cs typeface="+mj-cs"/>
                <a:sym typeface="Helvetica"/>
              </a:defRPr>
            </a:lvl1pPr>
          </a:lstStyle>
          <a:p>
            <a:pPr>
              <a:defRPr>
                <a:latin typeface="+mn-lt"/>
                <a:ea typeface="+mn-ea"/>
                <a:cs typeface="+mn-cs"/>
                <a:sym typeface="Calibri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✓</a:t>
            </a:r>
          </a:p>
        </p:txBody>
      </p:sp>
      <p:sp>
        <p:nvSpPr>
          <p:cNvPr id="65" name="Text 6"/>
          <p:cNvSpPr txBox="1"/>
          <p:nvPr/>
        </p:nvSpPr>
        <p:spPr>
          <a:xfrm>
            <a:off x="657852" y="1726101"/>
            <a:ext cx="3207259" cy="23790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sz="1100">
                <a:solidFill>
                  <a:srgbClr val="1E293B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</a:lstStyle>
          <a:p>
            <a:pPr/>
            <a:r>
              <a:t>Use ML &amp; DL techniques for accurate forecasting</a:t>
            </a:r>
          </a:p>
        </p:txBody>
      </p:sp>
      <p:sp>
        <p:nvSpPr>
          <p:cNvPr id="66" name="Shape 7"/>
          <p:cNvSpPr/>
          <p:nvPr/>
        </p:nvSpPr>
        <p:spPr>
          <a:xfrm>
            <a:off x="274320" y="2411981"/>
            <a:ext cx="256033" cy="256033"/>
          </a:xfrm>
          <a:prstGeom prst="ellipse">
            <a:avLst/>
          </a:prstGeom>
          <a:solidFill>
            <a:srgbClr val="16A34A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67" name="Text 8"/>
          <p:cNvSpPr txBox="1"/>
          <p:nvPr/>
        </p:nvSpPr>
        <p:spPr>
          <a:xfrm>
            <a:off x="274320" y="2454654"/>
            <a:ext cx="256033" cy="152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1000">
                <a:solidFill>
                  <a:srgbClr val="FFFFFF"/>
                </a:solidFill>
                <a:latin typeface="+mj-lt"/>
                <a:ea typeface="+mj-ea"/>
                <a:cs typeface="+mj-cs"/>
                <a:sym typeface="Helvetica"/>
              </a:defRPr>
            </a:lvl1pPr>
          </a:lstStyle>
          <a:p>
            <a:pPr>
              <a:defRPr>
                <a:latin typeface="+mn-lt"/>
                <a:ea typeface="+mn-ea"/>
                <a:cs typeface="+mn-cs"/>
                <a:sym typeface="Calibri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✓</a:t>
            </a:r>
          </a:p>
        </p:txBody>
      </p:sp>
      <p:sp>
        <p:nvSpPr>
          <p:cNvPr id="68" name="Text 9"/>
          <p:cNvSpPr txBox="1"/>
          <p:nvPr/>
        </p:nvSpPr>
        <p:spPr>
          <a:xfrm>
            <a:off x="675625" y="2421045"/>
            <a:ext cx="3171713" cy="23790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sz="1100">
                <a:solidFill>
                  <a:srgbClr val="1E293B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</a:lstStyle>
          <a:p>
            <a:pPr/>
            <a:r>
              <a:t>Analyze historical data to identify patterns and trends</a:t>
            </a:r>
          </a:p>
        </p:txBody>
      </p:sp>
      <p:sp>
        <p:nvSpPr>
          <p:cNvPr id="69" name="Shape 10"/>
          <p:cNvSpPr/>
          <p:nvPr/>
        </p:nvSpPr>
        <p:spPr>
          <a:xfrm>
            <a:off x="274320" y="3106925"/>
            <a:ext cx="256033" cy="256033"/>
          </a:xfrm>
          <a:prstGeom prst="ellipse">
            <a:avLst/>
          </a:prstGeom>
          <a:solidFill>
            <a:srgbClr val="16A34A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70" name="Text 11"/>
          <p:cNvSpPr txBox="1"/>
          <p:nvPr/>
        </p:nvSpPr>
        <p:spPr>
          <a:xfrm>
            <a:off x="274320" y="3149598"/>
            <a:ext cx="256033" cy="152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1000">
                <a:solidFill>
                  <a:srgbClr val="FFFFFF"/>
                </a:solidFill>
                <a:latin typeface="+mj-lt"/>
                <a:ea typeface="+mj-ea"/>
                <a:cs typeface="+mj-cs"/>
                <a:sym typeface="Helvetica"/>
              </a:defRPr>
            </a:lvl1pPr>
          </a:lstStyle>
          <a:p>
            <a:pPr>
              <a:defRPr>
                <a:latin typeface="+mn-lt"/>
                <a:ea typeface="+mn-ea"/>
                <a:cs typeface="+mn-cs"/>
                <a:sym typeface="Calibri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✓</a:t>
            </a:r>
          </a:p>
        </p:txBody>
      </p:sp>
      <p:sp>
        <p:nvSpPr>
          <p:cNvPr id="71" name="Text 12"/>
          <p:cNvSpPr txBox="1"/>
          <p:nvPr/>
        </p:nvSpPr>
        <p:spPr>
          <a:xfrm>
            <a:off x="640079" y="3106845"/>
            <a:ext cx="4020807" cy="23790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sz="1100">
                <a:solidFill>
                  <a:srgbClr val="1E293B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</a:lstStyle>
          <a:p>
            <a:pPr/>
            <a:r>
              <a:t>Perform feature engineering with returns, lags &amp; technical indicators</a:t>
            </a:r>
          </a:p>
        </p:txBody>
      </p:sp>
      <p:sp>
        <p:nvSpPr>
          <p:cNvPr id="72" name="Shape 13"/>
          <p:cNvSpPr/>
          <p:nvPr/>
        </p:nvSpPr>
        <p:spPr>
          <a:xfrm>
            <a:off x="274320" y="3801870"/>
            <a:ext cx="256033" cy="256033"/>
          </a:xfrm>
          <a:prstGeom prst="ellipse">
            <a:avLst/>
          </a:prstGeom>
          <a:solidFill>
            <a:srgbClr val="16A34A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73" name="Text 14"/>
          <p:cNvSpPr txBox="1"/>
          <p:nvPr/>
        </p:nvSpPr>
        <p:spPr>
          <a:xfrm>
            <a:off x="274320" y="3844542"/>
            <a:ext cx="256033" cy="152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1000">
                <a:solidFill>
                  <a:srgbClr val="FFFFFF"/>
                </a:solidFill>
                <a:latin typeface="+mj-lt"/>
                <a:ea typeface="+mj-ea"/>
                <a:cs typeface="+mj-cs"/>
                <a:sym typeface="Helvetica"/>
              </a:defRPr>
            </a:lvl1pPr>
          </a:lstStyle>
          <a:p>
            <a:pPr>
              <a:defRPr>
                <a:latin typeface="+mn-lt"/>
                <a:ea typeface="+mn-ea"/>
                <a:cs typeface="+mn-cs"/>
                <a:sym typeface="Calibri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✓</a:t>
            </a:r>
          </a:p>
        </p:txBody>
      </p:sp>
      <p:sp>
        <p:nvSpPr>
          <p:cNvPr id="74" name="Text 15"/>
          <p:cNvSpPr txBox="1"/>
          <p:nvPr/>
        </p:nvSpPr>
        <p:spPr>
          <a:xfrm>
            <a:off x="648966" y="3810933"/>
            <a:ext cx="2651761" cy="23790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sz="1100">
                <a:solidFill>
                  <a:srgbClr val="1E293B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</a:lstStyle>
          <a:p>
            <a:pPr/>
            <a:r>
              <a:t>Implement &amp; compare multiple models</a:t>
            </a:r>
          </a:p>
        </p:txBody>
      </p:sp>
      <p:sp>
        <p:nvSpPr>
          <p:cNvPr id="75" name="Shape 16"/>
          <p:cNvSpPr/>
          <p:nvPr/>
        </p:nvSpPr>
        <p:spPr>
          <a:xfrm>
            <a:off x="5188486" y="983254"/>
            <a:ext cx="256033" cy="256033"/>
          </a:xfrm>
          <a:prstGeom prst="ellipse">
            <a:avLst/>
          </a:prstGeom>
          <a:solidFill>
            <a:srgbClr val="16A34A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76" name="Text 17"/>
          <p:cNvSpPr txBox="1"/>
          <p:nvPr/>
        </p:nvSpPr>
        <p:spPr>
          <a:xfrm>
            <a:off x="5188486" y="1025926"/>
            <a:ext cx="256033" cy="152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1000">
                <a:solidFill>
                  <a:srgbClr val="FFFFFF"/>
                </a:solidFill>
                <a:latin typeface="+mj-lt"/>
                <a:ea typeface="+mj-ea"/>
                <a:cs typeface="+mj-cs"/>
                <a:sym typeface="Helvetica"/>
              </a:defRPr>
            </a:lvl1pPr>
          </a:lstStyle>
          <a:p>
            <a:pPr>
              <a:defRPr>
                <a:latin typeface="+mn-lt"/>
                <a:ea typeface="+mn-ea"/>
                <a:cs typeface="+mn-cs"/>
                <a:sym typeface="Calibri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✓</a:t>
            </a:r>
          </a:p>
        </p:txBody>
      </p:sp>
      <p:sp>
        <p:nvSpPr>
          <p:cNvPr id="77" name="Text 18"/>
          <p:cNvSpPr txBox="1"/>
          <p:nvPr/>
        </p:nvSpPr>
        <p:spPr>
          <a:xfrm>
            <a:off x="5554247" y="992317"/>
            <a:ext cx="2651761" cy="23790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sz="1100">
                <a:solidFill>
                  <a:srgbClr val="1E293B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</a:lstStyle>
          <a:p>
            <a:pPr/>
            <a:r>
              <a:t>Evaluate using RMSE, MAE &amp; R² metrics</a:t>
            </a:r>
          </a:p>
        </p:txBody>
      </p:sp>
      <p:sp>
        <p:nvSpPr>
          <p:cNvPr id="78" name="Shape 19"/>
          <p:cNvSpPr/>
          <p:nvPr/>
        </p:nvSpPr>
        <p:spPr>
          <a:xfrm>
            <a:off x="5188486" y="1678198"/>
            <a:ext cx="256033" cy="256033"/>
          </a:xfrm>
          <a:prstGeom prst="ellipse">
            <a:avLst/>
          </a:prstGeom>
          <a:solidFill>
            <a:srgbClr val="16A34A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79" name="Text 20"/>
          <p:cNvSpPr txBox="1"/>
          <p:nvPr/>
        </p:nvSpPr>
        <p:spPr>
          <a:xfrm>
            <a:off x="5188486" y="1720870"/>
            <a:ext cx="256033" cy="152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1000">
                <a:solidFill>
                  <a:srgbClr val="FFFFFF"/>
                </a:solidFill>
                <a:latin typeface="+mj-lt"/>
                <a:ea typeface="+mj-ea"/>
                <a:cs typeface="+mj-cs"/>
                <a:sym typeface="Helvetica"/>
              </a:defRPr>
            </a:lvl1pPr>
          </a:lstStyle>
          <a:p>
            <a:pPr>
              <a:defRPr>
                <a:latin typeface="+mn-lt"/>
                <a:ea typeface="+mn-ea"/>
                <a:cs typeface="+mn-cs"/>
                <a:sym typeface="Calibri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✓</a:t>
            </a:r>
          </a:p>
        </p:txBody>
      </p:sp>
      <p:sp>
        <p:nvSpPr>
          <p:cNvPr id="80" name="Text 21"/>
          <p:cNvSpPr txBox="1"/>
          <p:nvPr/>
        </p:nvSpPr>
        <p:spPr>
          <a:xfrm>
            <a:off x="5554247" y="1687261"/>
            <a:ext cx="2651761" cy="23790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sz="1100">
                <a:solidFill>
                  <a:srgbClr val="1E293B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</a:lstStyle>
          <a:p>
            <a:pPr/>
            <a:r>
              <a:t>Backtest strategies to analyze profitability</a:t>
            </a:r>
          </a:p>
        </p:txBody>
      </p:sp>
      <p:sp>
        <p:nvSpPr>
          <p:cNvPr id="81" name="Shape 22"/>
          <p:cNvSpPr/>
          <p:nvPr/>
        </p:nvSpPr>
        <p:spPr>
          <a:xfrm>
            <a:off x="5188486" y="2373142"/>
            <a:ext cx="256033" cy="256033"/>
          </a:xfrm>
          <a:prstGeom prst="ellipse">
            <a:avLst/>
          </a:prstGeom>
          <a:solidFill>
            <a:srgbClr val="16A34A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82" name="Text 23"/>
          <p:cNvSpPr txBox="1"/>
          <p:nvPr/>
        </p:nvSpPr>
        <p:spPr>
          <a:xfrm>
            <a:off x="5188486" y="2415814"/>
            <a:ext cx="256033" cy="152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1000">
                <a:solidFill>
                  <a:srgbClr val="FFFFFF"/>
                </a:solidFill>
                <a:latin typeface="+mj-lt"/>
                <a:ea typeface="+mj-ea"/>
                <a:cs typeface="+mj-cs"/>
                <a:sym typeface="Helvetica"/>
              </a:defRPr>
            </a:lvl1pPr>
          </a:lstStyle>
          <a:p>
            <a:pPr>
              <a:defRPr>
                <a:latin typeface="+mn-lt"/>
                <a:ea typeface="+mn-ea"/>
                <a:cs typeface="+mn-cs"/>
                <a:sym typeface="Calibri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✓</a:t>
            </a:r>
          </a:p>
        </p:txBody>
      </p:sp>
      <p:sp>
        <p:nvSpPr>
          <p:cNvPr id="83" name="Text 24"/>
          <p:cNvSpPr txBox="1"/>
          <p:nvPr/>
        </p:nvSpPr>
        <p:spPr>
          <a:xfrm>
            <a:off x="5554247" y="2373061"/>
            <a:ext cx="2800120" cy="23790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sz="1100">
                <a:solidFill>
                  <a:srgbClr val="1E293B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</a:lstStyle>
          <a:p>
            <a:pPr/>
            <a:r>
              <a:t>Reduce false signals &amp; improve trade selection</a:t>
            </a:r>
          </a:p>
        </p:txBody>
      </p:sp>
      <p:sp>
        <p:nvSpPr>
          <p:cNvPr id="84" name="Shape 25"/>
          <p:cNvSpPr/>
          <p:nvPr/>
        </p:nvSpPr>
        <p:spPr>
          <a:xfrm>
            <a:off x="5188486" y="3068086"/>
            <a:ext cx="256033" cy="256033"/>
          </a:xfrm>
          <a:prstGeom prst="ellipse">
            <a:avLst/>
          </a:prstGeom>
          <a:solidFill>
            <a:srgbClr val="16A34A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85" name="Text 26"/>
          <p:cNvSpPr txBox="1"/>
          <p:nvPr/>
        </p:nvSpPr>
        <p:spPr>
          <a:xfrm>
            <a:off x="5188486" y="3110758"/>
            <a:ext cx="256033" cy="152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1000">
                <a:solidFill>
                  <a:srgbClr val="FFFFFF"/>
                </a:solidFill>
                <a:latin typeface="+mj-lt"/>
                <a:ea typeface="+mj-ea"/>
                <a:cs typeface="+mj-cs"/>
                <a:sym typeface="Helvetica"/>
              </a:defRPr>
            </a:lvl1pPr>
          </a:lstStyle>
          <a:p>
            <a:pPr>
              <a:defRPr>
                <a:latin typeface="+mn-lt"/>
                <a:ea typeface="+mn-ea"/>
                <a:cs typeface="+mn-cs"/>
                <a:sym typeface="Calibri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✓</a:t>
            </a:r>
          </a:p>
        </p:txBody>
      </p:sp>
      <p:sp>
        <p:nvSpPr>
          <p:cNvPr id="86" name="Text 27"/>
          <p:cNvSpPr txBox="1"/>
          <p:nvPr/>
        </p:nvSpPr>
        <p:spPr>
          <a:xfrm>
            <a:off x="5554247" y="3077149"/>
            <a:ext cx="2933553" cy="23790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sz="1100">
                <a:solidFill>
                  <a:srgbClr val="1E293B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</a:lstStyle>
          <a:p>
            <a:pPr/>
            <a:r>
              <a:t>Enhance prediction accuracy &amp; model robustness</a:t>
            </a:r>
          </a:p>
        </p:txBody>
      </p:sp>
      <p:sp>
        <p:nvSpPr>
          <p:cNvPr id="87" name="Shape 28"/>
          <p:cNvSpPr/>
          <p:nvPr/>
        </p:nvSpPr>
        <p:spPr>
          <a:xfrm>
            <a:off x="5188486" y="3763030"/>
            <a:ext cx="256033" cy="256033"/>
          </a:xfrm>
          <a:prstGeom prst="ellipse">
            <a:avLst/>
          </a:prstGeom>
          <a:solidFill>
            <a:srgbClr val="16A34A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88" name="Text 29"/>
          <p:cNvSpPr txBox="1"/>
          <p:nvPr/>
        </p:nvSpPr>
        <p:spPr>
          <a:xfrm>
            <a:off x="5188486" y="3805702"/>
            <a:ext cx="256033" cy="152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1000">
                <a:solidFill>
                  <a:srgbClr val="FFFFFF"/>
                </a:solidFill>
                <a:latin typeface="+mj-lt"/>
                <a:ea typeface="+mj-ea"/>
                <a:cs typeface="+mj-cs"/>
                <a:sym typeface="Helvetica"/>
              </a:defRPr>
            </a:lvl1pPr>
          </a:lstStyle>
          <a:p>
            <a:pPr>
              <a:defRPr>
                <a:latin typeface="+mn-lt"/>
                <a:ea typeface="+mn-ea"/>
                <a:cs typeface="+mn-cs"/>
                <a:sym typeface="Calibri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✓</a:t>
            </a:r>
          </a:p>
        </p:txBody>
      </p:sp>
      <p:sp>
        <p:nvSpPr>
          <p:cNvPr id="89" name="Text 30"/>
          <p:cNvSpPr txBox="1"/>
          <p:nvPr/>
        </p:nvSpPr>
        <p:spPr>
          <a:xfrm>
            <a:off x="5554247" y="3772093"/>
            <a:ext cx="2933553" cy="23790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sz="1100">
                <a:solidFill>
                  <a:srgbClr val="1E293B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</a:lstStyle>
          <a:p>
            <a:pPr/>
            <a:r>
              <a:t>Support intelligent, data-driven decision-making</a:t>
            </a:r>
          </a:p>
        </p:txBody>
      </p:sp>
      <p:sp>
        <p:nvSpPr>
          <p:cNvPr id="90" name="Text 48"/>
          <p:cNvSpPr txBox="1"/>
          <p:nvPr/>
        </p:nvSpPr>
        <p:spPr>
          <a:xfrm>
            <a:off x="8732519" y="4929124"/>
            <a:ext cx="27432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r">
              <a:defRPr b="1" sz="900">
                <a:solidFill>
                  <a:srgbClr val="FFFFFF"/>
                </a:solidFill>
              </a:defRPr>
            </a:lvl1pPr>
          </a:lstStyle>
          <a:p>
            <a:pPr/>
            <a:r>
              <a:t>3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" name="Image 0" descr="Image 0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-1" y="-1"/>
            <a:ext cx="9144001" cy="5143501"/>
          </a:xfrm>
          <a:prstGeom prst="rect">
            <a:avLst/>
          </a:prstGeom>
          <a:ln w="12700">
            <a:miter lim="400000"/>
          </a:ln>
        </p:spPr>
      </p:pic>
      <p:sp>
        <p:nvSpPr>
          <p:cNvPr id="93" name="Text 0"/>
          <p:cNvSpPr txBox="1"/>
          <p:nvPr/>
        </p:nvSpPr>
        <p:spPr>
          <a:xfrm>
            <a:off x="69017" y="94183"/>
            <a:ext cx="7315201" cy="45660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3200"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Methodology</a:t>
            </a:r>
          </a:p>
        </p:txBody>
      </p:sp>
      <p:sp>
        <p:nvSpPr>
          <p:cNvPr id="94" name="Text 42"/>
          <p:cNvSpPr txBox="1"/>
          <p:nvPr/>
        </p:nvSpPr>
        <p:spPr>
          <a:xfrm>
            <a:off x="8732519" y="4929124"/>
            <a:ext cx="27432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r">
              <a:defRPr b="1" sz="900">
                <a:solidFill>
                  <a:srgbClr val="FFFFFF"/>
                </a:solidFill>
              </a:defRPr>
            </a:lvl1pPr>
          </a:lstStyle>
          <a:p>
            <a:pPr/>
            <a:r>
              <a:t>4</a:t>
            </a:r>
          </a:p>
        </p:txBody>
      </p:sp>
      <p:sp>
        <p:nvSpPr>
          <p:cNvPr id="95" name="Shape 2"/>
          <p:cNvSpPr/>
          <p:nvPr/>
        </p:nvSpPr>
        <p:spPr>
          <a:xfrm>
            <a:off x="411479" y="847175"/>
            <a:ext cx="2651761" cy="1828801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  <a:effectLst>
            <a:outerShdw sx="100000" sy="100000" kx="0" ky="0" algn="b" rotWithShape="0" blurRad="190500" dist="12700" dir="5400000">
              <a:srgbClr val="000000"/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96" name="Shape 3"/>
          <p:cNvSpPr/>
          <p:nvPr/>
        </p:nvSpPr>
        <p:spPr>
          <a:xfrm>
            <a:off x="502919" y="938615"/>
            <a:ext cx="502922" cy="502921"/>
          </a:xfrm>
          <a:prstGeom prst="ellipse">
            <a:avLst/>
          </a:prstGeom>
          <a:solidFill>
            <a:srgbClr val="EA4826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97" name="Text 4"/>
          <p:cNvSpPr txBox="1"/>
          <p:nvPr/>
        </p:nvSpPr>
        <p:spPr>
          <a:xfrm>
            <a:off x="548639" y="1042754"/>
            <a:ext cx="411480" cy="2946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b="1" sz="14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</a:lstStyle>
          <a:p>
            <a:pPr/>
            <a:r>
              <a:t>1</a:t>
            </a:r>
          </a:p>
        </p:txBody>
      </p:sp>
      <p:sp>
        <p:nvSpPr>
          <p:cNvPr id="98" name="Text 5"/>
          <p:cNvSpPr txBox="1"/>
          <p:nvPr/>
        </p:nvSpPr>
        <p:spPr>
          <a:xfrm>
            <a:off x="1142999" y="1028023"/>
            <a:ext cx="1783082" cy="2692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b="1" sz="1200">
                <a:solidFill>
                  <a:srgbClr val="0D1B2A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</a:lstStyle>
          <a:p>
            <a:pPr/>
            <a:r>
              <a:t>Data Acquisition</a:t>
            </a:r>
          </a:p>
        </p:txBody>
      </p:sp>
      <p:sp>
        <p:nvSpPr>
          <p:cNvPr id="99" name="Text 6"/>
          <p:cNvSpPr txBox="1"/>
          <p:nvPr/>
        </p:nvSpPr>
        <p:spPr>
          <a:xfrm>
            <a:off x="548639" y="1441535"/>
            <a:ext cx="2377442" cy="39361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1000">
                <a:solidFill>
                  <a:srgbClr val="334155"/>
                </a:solidFill>
              </a:defRPr>
            </a:pPr>
            <a:r>
              <a:t>yFinance API</a:t>
            </a:r>
          </a:p>
          <a:p>
            <a:pPr>
              <a:defRPr sz="1000">
                <a:solidFill>
                  <a:srgbClr val="334155"/>
                </a:solidFill>
              </a:defRPr>
            </a:pPr>
            <a:r>
              <a:t>NIFTY50 OHLCV data</a:t>
            </a:r>
          </a:p>
        </p:txBody>
      </p:sp>
      <p:sp>
        <p:nvSpPr>
          <p:cNvPr id="100" name="Shape 7"/>
          <p:cNvSpPr/>
          <p:nvPr/>
        </p:nvSpPr>
        <p:spPr>
          <a:xfrm>
            <a:off x="3246119" y="847175"/>
            <a:ext cx="2651761" cy="1828801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  <a:effectLst>
            <a:outerShdw sx="100000" sy="100000" kx="0" ky="0" algn="b" rotWithShape="0" blurRad="190500" dist="12700" dir="5400000">
              <a:srgbClr val="000000"/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01" name="Shape 8"/>
          <p:cNvSpPr/>
          <p:nvPr/>
        </p:nvSpPr>
        <p:spPr>
          <a:xfrm>
            <a:off x="3337559" y="938615"/>
            <a:ext cx="502921" cy="502921"/>
          </a:xfrm>
          <a:prstGeom prst="ellipse">
            <a:avLst/>
          </a:prstGeom>
          <a:solidFill>
            <a:srgbClr val="EA4826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102" name="Text 9"/>
          <p:cNvSpPr txBox="1"/>
          <p:nvPr/>
        </p:nvSpPr>
        <p:spPr>
          <a:xfrm>
            <a:off x="3383279" y="1042754"/>
            <a:ext cx="411480" cy="2946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b="1" sz="14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</a:lstStyle>
          <a:p>
            <a:pPr/>
            <a:r>
              <a:t>2</a:t>
            </a:r>
          </a:p>
        </p:txBody>
      </p:sp>
      <p:sp>
        <p:nvSpPr>
          <p:cNvPr id="103" name="Text 10"/>
          <p:cNvSpPr txBox="1"/>
          <p:nvPr/>
        </p:nvSpPr>
        <p:spPr>
          <a:xfrm>
            <a:off x="3977639" y="1028023"/>
            <a:ext cx="1783081" cy="2692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b="1" sz="1200">
                <a:solidFill>
                  <a:srgbClr val="0D1B2A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</a:lstStyle>
          <a:p>
            <a:pPr/>
            <a:r>
              <a:t>Preprocessing</a:t>
            </a:r>
          </a:p>
        </p:txBody>
      </p:sp>
      <p:sp>
        <p:nvSpPr>
          <p:cNvPr id="104" name="Text 11"/>
          <p:cNvSpPr txBox="1"/>
          <p:nvPr/>
        </p:nvSpPr>
        <p:spPr>
          <a:xfrm>
            <a:off x="3383279" y="1441535"/>
            <a:ext cx="2377442" cy="55871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1000">
                <a:solidFill>
                  <a:srgbClr val="334155"/>
                </a:solidFill>
              </a:defRPr>
            </a:pPr>
            <a:r>
              <a:t>Remove nulls</a:t>
            </a:r>
          </a:p>
          <a:p>
            <a:pPr>
              <a:defRPr sz="1000">
                <a:solidFill>
                  <a:srgbClr val="334155"/>
                </a:solidFill>
              </a:defRPr>
            </a:pPr>
            <a:r>
              <a:t>Min-Max scaling</a:t>
            </a:r>
          </a:p>
          <a:p>
            <a:pPr>
              <a:defRPr sz="1000">
                <a:solidFill>
                  <a:srgbClr val="334155"/>
                </a:solidFill>
              </a:defRPr>
            </a:pPr>
            <a:r>
              <a:t>Daily returns calc</a:t>
            </a:r>
          </a:p>
        </p:txBody>
      </p:sp>
      <p:sp>
        <p:nvSpPr>
          <p:cNvPr id="105" name="Shape 12"/>
          <p:cNvSpPr/>
          <p:nvPr/>
        </p:nvSpPr>
        <p:spPr>
          <a:xfrm>
            <a:off x="6080759" y="847175"/>
            <a:ext cx="2651761" cy="1828801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  <a:effectLst>
            <a:outerShdw sx="100000" sy="100000" kx="0" ky="0" algn="b" rotWithShape="0" blurRad="190500" dist="12700" dir="5400000">
              <a:srgbClr val="000000"/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06" name="Shape 13"/>
          <p:cNvSpPr/>
          <p:nvPr/>
        </p:nvSpPr>
        <p:spPr>
          <a:xfrm>
            <a:off x="6172199" y="938615"/>
            <a:ext cx="502921" cy="502921"/>
          </a:xfrm>
          <a:prstGeom prst="ellipse">
            <a:avLst/>
          </a:prstGeom>
          <a:solidFill>
            <a:srgbClr val="EA4826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107" name="Text 14"/>
          <p:cNvSpPr txBox="1"/>
          <p:nvPr/>
        </p:nvSpPr>
        <p:spPr>
          <a:xfrm>
            <a:off x="6217919" y="1042754"/>
            <a:ext cx="411480" cy="2946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b="1" sz="14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</a:lstStyle>
          <a:p>
            <a:pPr/>
            <a:r>
              <a:t>3</a:t>
            </a:r>
          </a:p>
        </p:txBody>
      </p:sp>
      <p:sp>
        <p:nvSpPr>
          <p:cNvPr id="108" name="Text 15"/>
          <p:cNvSpPr txBox="1"/>
          <p:nvPr/>
        </p:nvSpPr>
        <p:spPr>
          <a:xfrm>
            <a:off x="6812279" y="1028023"/>
            <a:ext cx="1783081" cy="2692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b="1" sz="1200">
                <a:solidFill>
                  <a:srgbClr val="0D1B2A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</a:lstStyle>
          <a:p>
            <a:pPr/>
            <a:r>
              <a:t>Feature Engineering</a:t>
            </a:r>
          </a:p>
        </p:txBody>
      </p:sp>
      <p:sp>
        <p:nvSpPr>
          <p:cNvPr id="109" name="Text 16"/>
          <p:cNvSpPr txBox="1"/>
          <p:nvPr/>
        </p:nvSpPr>
        <p:spPr>
          <a:xfrm>
            <a:off x="6217919" y="1441535"/>
            <a:ext cx="2377441" cy="55871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1000">
                <a:solidFill>
                  <a:srgbClr val="334155"/>
                </a:solidFill>
              </a:defRPr>
            </a:pPr>
            <a:r>
              <a:t>Lag features</a:t>
            </a:r>
          </a:p>
          <a:p>
            <a:pPr>
              <a:defRPr sz="1000">
                <a:solidFill>
                  <a:srgbClr val="334155"/>
                </a:solidFill>
              </a:defRPr>
            </a:pPr>
            <a:r>
              <a:t>Statistical features</a:t>
            </a:r>
          </a:p>
          <a:p>
            <a:pPr>
              <a:defRPr sz="1000">
                <a:solidFill>
                  <a:srgbClr val="334155"/>
                </a:solidFill>
              </a:defRPr>
            </a:pPr>
            <a:r>
              <a:t>Return values</a:t>
            </a:r>
          </a:p>
        </p:txBody>
      </p:sp>
      <p:sp>
        <p:nvSpPr>
          <p:cNvPr id="110" name="Shape 17"/>
          <p:cNvSpPr/>
          <p:nvPr/>
        </p:nvSpPr>
        <p:spPr>
          <a:xfrm>
            <a:off x="411479" y="2813135"/>
            <a:ext cx="2651761" cy="1828801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  <a:effectLst>
            <a:outerShdw sx="100000" sy="100000" kx="0" ky="0" algn="b" rotWithShape="0" blurRad="190500" dist="12700" dir="5400000">
              <a:srgbClr val="000000"/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11" name="Shape 18"/>
          <p:cNvSpPr/>
          <p:nvPr/>
        </p:nvSpPr>
        <p:spPr>
          <a:xfrm>
            <a:off x="502919" y="2904575"/>
            <a:ext cx="502922" cy="502921"/>
          </a:xfrm>
          <a:prstGeom prst="ellipse">
            <a:avLst/>
          </a:prstGeom>
          <a:solidFill>
            <a:srgbClr val="EA4826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112" name="Text 19"/>
          <p:cNvSpPr txBox="1"/>
          <p:nvPr/>
        </p:nvSpPr>
        <p:spPr>
          <a:xfrm>
            <a:off x="548639" y="3008714"/>
            <a:ext cx="411480" cy="2946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b="1" sz="14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</a:lstStyle>
          <a:p>
            <a:pPr/>
            <a:r>
              <a:t>4</a:t>
            </a:r>
          </a:p>
        </p:txBody>
      </p:sp>
      <p:sp>
        <p:nvSpPr>
          <p:cNvPr id="113" name="Text 20"/>
          <p:cNvSpPr txBox="1"/>
          <p:nvPr/>
        </p:nvSpPr>
        <p:spPr>
          <a:xfrm>
            <a:off x="1142999" y="2993983"/>
            <a:ext cx="1783082" cy="2692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b="1" sz="1200">
                <a:solidFill>
                  <a:srgbClr val="0D1B2A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</a:lstStyle>
          <a:p>
            <a:pPr/>
            <a:r>
              <a:t>Train / Test Split</a:t>
            </a:r>
          </a:p>
        </p:txBody>
      </p:sp>
      <p:sp>
        <p:nvSpPr>
          <p:cNvPr id="114" name="Text 21"/>
          <p:cNvSpPr txBox="1"/>
          <p:nvPr/>
        </p:nvSpPr>
        <p:spPr>
          <a:xfrm>
            <a:off x="548639" y="3407495"/>
            <a:ext cx="2377442" cy="55871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1000">
                <a:solidFill>
                  <a:srgbClr val="334155"/>
                </a:solidFill>
              </a:defRPr>
            </a:pPr>
            <a:r>
              <a:t>80% Training</a:t>
            </a:r>
          </a:p>
          <a:p>
            <a:pPr>
              <a:defRPr sz="1000">
                <a:solidFill>
                  <a:srgbClr val="334155"/>
                </a:solidFill>
              </a:defRPr>
            </a:pPr>
            <a:r>
              <a:t>20% Testing</a:t>
            </a:r>
          </a:p>
          <a:p>
            <a:pPr>
              <a:defRPr sz="1000">
                <a:solidFill>
                  <a:srgbClr val="334155"/>
                </a:solidFill>
              </a:defRPr>
            </a:pPr>
            <a:r>
              <a:t>Time-based split</a:t>
            </a:r>
          </a:p>
        </p:txBody>
      </p:sp>
      <p:sp>
        <p:nvSpPr>
          <p:cNvPr id="115" name="Shape 22"/>
          <p:cNvSpPr/>
          <p:nvPr/>
        </p:nvSpPr>
        <p:spPr>
          <a:xfrm>
            <a:off x="3246119" y="2813135"/>
            <a:ext cx="2651761" cy="1828801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  <a:effectLst>
            <a:outerShdw sx="100000" sy="100000" kx="0" ky="0" algn="b" rotWithShape="0" blurRad="190500" dist="12700" dir="5400000">
              <a:srgbClr val="000000"/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16" name="Shape 23"/>
          <p:cNvSpPr/>
          <p:nvPr/>
        </p:nvSpPr>
        <p:spPr>
          <a:xfrm>
            <a:off x="3337559" y="2904575"/>
            <a:ext cx="502921" cy="502921"/>
          </a:xfrm>
          <a:prstGeom prst="ellipse">
            <a:avLst/>
          </a:prstGeom>
          <a:solidFill>
            <a:srgbClr val="EA4826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117" name="Text 24"/>
          <p:cNvSpPr txBox="1"/>
          <p:nvPr/>
        </p:nvSpPr>
        <p:spPr>
          <a:xfrm>
            <a:off x="3383279" y="3008714"/>
            <a:ext cx="411480" cy="2946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b="1" sz="14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</a:lstStyle>
          <a:p>
            <a:pPr/>
            <a:r>
              <a:t>5</a:t>
            </a:r>
          </a:p>
        </p:txBody>
      </p:sp>
      <p:sp>
        <p:nvSpPr>
          <p:cNvPr id="118" name="Text 25"/>
          <p:cNvSpPr txBox="1"/>
          <p:nvPr/>
        </p:nvSpPr>
        <p:spPr>
          <a:xfrm>
            <a:off x="3977639" y="2993983"/>
            <a:ext cx="1783081" cy="2692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b="1" sz="1200">
                <a:solidFill>
                  <a:srgbClr val="0D1B2A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</a:lstStyle>
          <a:p>
            <a:pPr/>
            <a:r>
              <a:t>Model Training</a:t>
            </a:r>
          </a:p>
        </p:txBody>
      </p:sp>
      <p:sp>
        <p:nvSpPr>
          <p:cNvPr id="119" name="Text 26"/>
          <p:cNvSpPr txBox="1"/>
          <p:nvPr/>
        </p:nvSpPr>
        <p:spPr>
          <a:xfrm>
            <a:off x="3383279" y="3407495"/>
            <a:ext cx="2377442" cy="55871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1000">
                <a:solidFill>
                  <a:srgbClr val="334155"/>
                </a:solidFill>
              </a:defRPr>
            </a:pPr>
            <a:r>
              <a:t>LR, XGBoost, LSTM</a:t>
            </a:r>
          </a:p>
          <a:p>
            <a:pPr>
              <a:defRPr sz="1000">
                <a:solidFill>
                  <a:srgbClr val="334155"/>
                </a:solidFill>
              </a:defRPr>
            </a:pPr>
            <a:r>
              <a:t>ARIMA, Prophet</a:t>
            </a:r>
          </a:p>
          <a:p>
            <a:pPr>
              <a:defRPr sz="1000">
                <a:solidFill>
                  <a:srgbClr val="334155"/>
                </a:solidFill>
              </a:defRPr>
            </a:pPr>
            <a:r>
              <a:t>Random Forest, SVR</a:t>
            </a:r>
          </a:p>
        </p:txBody>
      </p:sp>
      <p:sp>
        <p:nvSpPr>
          <p:cNvPr id="120" name="Shape 27"/>
          <p:cNvSpPr/>
          <p:nvPr/>
        </p:nvSpPr>
        <p:spPr>
          <a:xfrm>
            <a:off x="6080759" y="2813135"/>
            <a:ext cx="2651761" cy="1828801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  <a:effectLst>
            <a:outerShdw sx="100000" sy="100000" kx="0" ky="0" algn="b" rotWithShape="0" blurRad="190500" dist="12700" dir="5400000">
              <a:srgbClr val="000000"/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21" name="Shape 28"/>
          <p:cNvSpPr/>
          <p:nvPr/>
        </p:nvSpPr>
        <p:spPr>
          <a:xfrm>
            <a:off x="6172199" y="2904575"/>
            <a:ext cx="502921" cy="502921"/>
          </a:xfrm>
          <a:prstGeom prst="ellipse">
            <a:avLst/>
          </a:prstGeom>
          <a:solidFill>
            <a:srgbClr val="EA4826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122" name="Text 29"/>
          <p:cNvSpPr txBox="1"/>
          <p:nvPr/>
        </p:nvSpPr>
        <p:spPr>
          <a:xfrm>
            <a:off x="6217919" y="3008714"/>
            <a:ext cx="411480" cy="2946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b="1" sz="14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</a:lstStyle>
          <a:p>
            <a:pPr/>
            <a:r>
              <a:t>6</a:t>
            </a:r>
          </a:p>
        </p:txBody>
      </p:sp>
      <p:sp>
        <p:nvSpPr>
          <p:cNvPr id="123" name="Text 30"/>
          <p:cNvSpPr txBox="1"/>
          <p:nvPr/>
        </p:nvSpPr>
        <p:spPr>
          <a:xfrm>
            <a:off x="6812279" y="2993983"/>
            <a:ext cx="1783081" cy="2692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b="1" sz="1200">
                <a:solidFill>
                  <a:srgbClr val="0D1B2A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</a:lstStyle>
          <a:p>
            <a:pPr/>
            <a:r>
              <a:t>Backtesting &amp; Eval</a:t>
            </a:r>
          </a:p>
        </p:txBody>
      </p:sp>
      <p:sp>
        <p:nvSpPr>
          <p:cNvPr id="124" name="Text 31"/>
          <p:cNvSpPr txBox="1"/>
          <p:nvPr/>
        </p:nvSpPr>
        <p:spPr>
          <a:xfrm>
            <a:off x="6217919" y="3407495"/>
            <a:ext cx="2377441" cy="55871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1000">
                <a:solidFill>
                  <a:srgbClr val="334155"/>
                </a:solidFill>
              </a:defRPr>
            </a:pPr>
            <a:r>
              <a:t>Buy/Sell signals</a:t>
            </a:r>
          </a:p>
          <a:p>
            <a:pPr>
              <a:defRPr sz="1000">
                <a:solidFill>
                  <a:srgbClr val="334155"/>
                </a:solidFill>
              </a:defRPr>
            </a:pPr>
            <a:r>
              <a:t>MAE, MSE, RMSE</a:t>
            </a:r>
          </a:p>
          <a:p>
            <a:pPr>
              <a:defRPr sz="1000">
                <a:solidFill>
                  <a:srgbClr val="334155"/>
                </a:solidFill>
              </a:defRPr>
            </a:pPr>
            <a:r>
              <a:t>R² &amp; directional acc.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6" name="Image 0" descr="Image 0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-1" y="0"/>
            <a:ext cx="9144001" cy="5143501"/>
          </a:xfrm>
          <a:prstGeom prst="rect">
            <a:avLst/>
          </a:prstGeom>
          <a:ln w="12700">
            <a:miter lim="400000"/>
          </a:ln>
        </p:spPr>
      </p:pic>
      <p:sp>
        <p:nvSpPr>
          <p:cNvPr id="127" name="Shape 4"/>
          <p:cNvSpPr/>
          <p:nvPr/>
        </p:nvSpPr>
        <p:spPr>
          <a:xfrm>
            <a:off x="182879" y="745427"/>
            <a:ext cx="5394962" cy="1298449"/>
          </a:xfrm>
          <a:prstGeom prst="rect">
            <a:avLst/>
          </a:prstGeom>
          <a:solidFill>
            <a:srgbClr val="F5F5F5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128" name="Shape 5"/>
          <p:cNvSpPr/>
          <p:nvPr/>
        </p:nvSpPr>
        <p:spPr>
          <a:xfrm>
            <a:off x="182879" y="745427"/>
            <a:ext cx="5394962" cy="347473"/>
          </a:xfrm>
          <a:prstGeom prst="rect">
            <a:avLst/>
          </a:prstGeom>
          <a:solidFill>
            <a:srgbClr val="2563EB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129" name="Text 6"/>
          <p:cNvSpPr txBox="1"/>
          <p:nvPr/>
        </p:nvSpPr>
        <p:spPr>
          <a:xfrm>
            <a:off x="274319" y="787035"/>
            <a:ext cx="5212081" cy="26425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b="1" sz="12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Price-Based Features</a:t>
            </a:r>
          </a:p>
        </p:txBody>
      </p:sp>
      <p:sp>
        <p:nvSpPr>
          <p:cNvPr id="130" name="Text 7"/>
          <p:cNvSpPr txBox="1"/>
          <p:nvPr/>
        </p:nvSpPr>
        <p:spPr>
          <a:xfrm>
            <a:off x="365760" y="1134853"/>
            <a:ext cx="5120640" cy="22698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sz="1000">
                <a:solidFill>
                  <a:srgbClr val="444444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• Daily Return: (Close_t - Close_t-1) / Close_t-1</a:t>
            </a:r>
          </a:p>
        </p:txBody>
      </p:sp>
      <p:sp>
        <p:nvSpPr>
          <p:cNvPr id="131" name="Text 8"/>
          <p:cNvSpPr txBox="1"/>
          <p:nvPr/>
        </p:nvSpPr>
        <p:spPr>
          <a:xfrm>
            <a:off x="365760" y="1372597"/>
            <a:ext cx="5120640" cy="22698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sz="1000">
                <a:solidFill>
                  <a:srgbClr val="444444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• Lag Features: 1-day, 3-day, 5-day price lags</a:t>
            </a:r>
          </a:p>
        </p:txBody>
      </p:sp>
      <p:sp>
        <p:nvSpPr>
          <p:cNvPr id="132" name="Text 9"/>
          <p:cNvSpPr txBox="1"/>
          <p:nvPr/>
        </p:nvSpPr>
        <p:spPr>
          <a:xfrm>
            <a:off x="365760" y="1610342"/>
            <a:ext cx="5120640" cy="22698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sz="1000">
                <a:solidFill>
                  <a:srgbClr val="444444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• Rolling Mean: 7-day &amp; 21-day moving averages</a:t>
            </a:r>
          </a:p>
        </p:txBody>
      </p:sp>
      <p:sp>
        <p:nvSpPr>
          <p:cNvPr id="133" name="Text 10"/>
          <p:cNvSpPr txBox="1"/>
          <p:nvPr/>
        </p:nvSpPr>
        <p:spPr>
          <a:xfrm>
            <a:off x="365760" y="1848085"/>
            <a:ext cx="5120640" cy="22698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sz="1000">
                <a:solidFill>
                  <a:srgbClr val="444444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• Rolling Std Dev: 7-day &amp; 21-day volatility</a:t>
            </a:r>
          </a:p>
        </p:txBody>
      </p:sp>
      <p:sp>
        <p:nvSpPr>
          <p:cNvPr id="134" name="Shape 11"/>
          <p:cNvSpPr/>
          <p:nvPr/>
        </p:nvSpPr>
        <p:spPr>
          <a:xfrm>
            <a:off x="182879" y="2162747"/>
            <a:ext cx="5394962" cy="1298449"/>
          </a:xfrm>
          <a:prstGeom prst="rect">
            <a:avLst/>
          </a:prstGeom>
          <a:solidFill>
            <a:srgbClr val="F5F5F5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135" name="Shape 12"/>
          <p:cNvSpPr/>
          <p:nvPr/>
        </p:nvSpPr>
        <p:spPr>
          <a:xfrm>
            <a:off x="182879" y="2162747"/>
            <a:ext cx="5394962" cy="347473"/>
          </a:xfrm>
          <a:prstGeom prst="rect">
            <a:avLst/>
          </a:prstGeom>
          <a:solidFill>
            <a:srgbClr val="0D9488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136" name="Text 13"/>
          <p:cNvSpPr txBox="1"/>
          <p:nvPr/>
        </p:nvSpPr>
        <p:spPr>
          <a:xfrm>
            <a:off x="274319" y="2204355"/>
            <a:ext cx="5212081" cy="26425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b="1" sz="12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Volume Features</a:t>
            </a:r>
          </a:p>
        </p:txBody>
      </p:sp>
      <p:sp>
        <p:nvSpPr>
          <p:cNvPr id="137" name="Text 14"/>
          <p:cNvSpPr txBox="1"/>
          <p:nvPr/>
        </p:nvSpPr>
        <p:spPr>
          <a:xfrm>
            <a:off x="365760" y="2552173"/>
            <a:ext cx="5120640" cy="22698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sz="1000">
                <a:solidFill>
                  <a:srgbClr val="444444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• Volume change % day-over-day</a:t>
            </a:r>
          </a:p>
        </p:txBody>
      </p:sp>
      <p:sp>
        <p:nvSpPr>
          <p:cNvPr id="138" name="Text 15"/>
          <p:cNvSpPr txBox="1"/>
          <p:nvPr/>
        </p:nvSpPr>
        <p:spPr>
          <a:xfrm>
            <a:off x="365760" y="2789917"/>
            <a:ext cx="5120640" cy="22698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sz="1000">
                <a:solidFill>
                  <a:srgbClr val="444444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• Volume moving average (5-day)</a:t>
            </a:r>
          </a:p>
        </p:txBody>
      </p:sp>
      <p:sp>
        <p:nvSpPr>
          <p:cNvPr id="139" name="Text 16"/>
          <p:cNvSpPr txBox="1"/>
          <p:nvPr/>
        </p:nvSpPr>
        <p:spPr>
          <a:xfrm>
            <a:off x="365760" y="3027661"/>
            <a:ext cx="5120640" cy="22698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sz="1000">
                <a:solidFill>
                  <a:srgbClr val="444444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• Volume vs price divergence indicator</a:t>
            </a:r>
          </a:p>
        </p:txBody>
      </p:sp>
      <p:sp>
        <p:nvSpPr>
          <p:cNvPr id="140" name="Shape 17"/>
          <p:cNvSpPr/>
          <p:nvPr/>
        </p:nvSpPr>
        <p:spPr>
          <a:xfrm>
            <a:off x="182879" y="3580067"/>
            <a:ext cx="5394962" cy="1298449"/>
          </a:xfrm>
          <a:prstGeom prst="rect">
            <a:avLst/>
          </a:prstGeom>
          <a:solidFill>
            <a:srgbClr val="F5F5F5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141" name="Shape 18"/>
          <p:cNvSpPr/>
          <p:nvPr/>
        </p:nvSpPr>
        <p:spPr>
          <a:xfrm>
            <a:off x="182879" y="3580067"/>
            <a:ext cx="5394962" cy="347473"/>
          </a:xfrm>
          <a:prstGeom prst="rect">
            <a:avLst/>
          </a:prstGeom>
          <a:solidFill>
            <a:srgbClr val="D97706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142" name="Text 19"/>
          <p:cNvSpPr txBox="1"/>
          <p:nvPr/>
        </p:nvSpPr>
        <p:spPr>
          <a:xfrm>
            <a:off x="274319" y="3621675"/>
            <a:ext cx="5212081" cy="26425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b="1" sz="12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Technical Indicators</a:t>
            </a:r>
          </a:p>
        </p:txBody>
      </p:sp>
      <p:sp>
        <p:nvSpPr>
          <p:cNvPr id="143" name="Text 20"/>
          <p:cNvSpPr txBox="1"/>
          <p:nvPr/>
        </p:nvSpPr>
        <p:spPr>
          <a:xfrm>
            <a:off x="365760" y="3969493"/>
            <a:ext cx="5120640" cy="22698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sz="1000">
                <a:solidFill>
                  <a:srgbClr val="444444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• RSI (Relative Strength Index)</a:t>
            </a:r>
          </a:p>
        </p:txBody>
      </p:sp>
      <p:sp>
        <p:nvSpPr>
          <p:cNvPr id="144" name="Text 21"/>
          <p:cNvSpPr txBox="1"/>
          <p:nvPr/>
        </p:nvSpPr>
        <p:spPr>
          <a:xfrm>
            <a:off x="365760" y="4207237"/>
            <a:ext cx="5120640" cy="22698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sz="1000">
                <a:solidFill>
                  <a:srgbClr val="444444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• MACD (Moving Avg Convergence Divergence)</a:t>
            </a:r>
          </a:p>
        </p:txBody>
      </p:sp>
      <p:sp>
        <p:nvSpPr>
          <p:cNvPr id="145" name="Text 22"/>
          <p:cNvSpPr txBox="1"/>
          <p:nvPr/>
        </p:nvSpPr>
        <p:spPr>
          <a:xfrm>
            <a:off x="365760" y="4444981"/>
            <a:ext cx="5120640" cy="22698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sz="1000">
                <a:solidFill>
                  <a:srgbClr val="444444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• Bollinger Bands (Upper / Lower / Width)</a:t>
            </a:r>
          </a:p>
        </p:txBody>
      </p:sp>
      <p:sp>
        <p:nvSpPr>
          <p:cNvPr id="146" name="Shape 23"/>
          <p:cNvSpPr/>
          <p:nvPr/>
        </p:nvSpPr>
        <p:spPr>
          <a:xfrm>
            <a:off x="5760720" y="745427"/>
            <a:ext cx="3200401" cy="1920240"/>
          </a:xfrm>
          <a:prstGeom prst="rect">
            <a:avLst/>
          </a:prstGeom>
          <a:solidFill>
            <a:srgbClr val="FFF3CD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147" name="Text 24"/>
          <p:cNvSpPr txBox="1"/>
          <p:nvPr/>
        </p:nvSpPr>
        <p:spPr>
          <a:xfrm>
            <a:off x="5852160" y="814467"/>
            <a:ext cx="3017521" cy="26425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b="1" sz="1200">
                <a:solidFill>
                  <a:srgbClr val="856404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Correlation Insight</a:t>
            </a:r>
          </a:p>
        </p:txBody>
      </p:sp>
      <p:sp>
        <p:nvSpPr>
          <p:cNvPr id="148" name="Text 25"/>
          <p:cNvSpPr txBox="1"/>
          <p:nvPr/>
        </p:nvSpPr>
        <p:spPr>
          <a:xfrm>
            <a:off x="5852160" y="1459974"/>
            <a:ext cx="3017521" cy="81118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/>
          <a:p>
            <a:pPr>
              <a:defRPr sz="1000">
                <a:solidFill>
                  <a:srgbClr val="444444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Open, High, Low, Close are perfectly correlated (r = 1.00), showing multicollinearity.</a:t>
            </a:r>
          </a:p>
          <a:p>
            <a:pPr>
              <a:defRPr sz="1000"/>
            </a:pPr>
          </a:p>
          <a:p>
            <a:pPr>
              <a:defRPr sz="1000">
                <a:solidFill>
                  <a:srgbClr val="444444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Volume has weak negative correlation (r = -0.27) — useful as an independent signal.</a:t>
            </a:r>
          </a:p>
        </p:txBody>
      </p:sp>
      <p:sp>
        <p:nvSpPr>
          <p:cNvPr id="149" name="Shape 26"/>
          <p:cNvSpPr/>
          <p:nvPr/>
        </p:nvSpPr>
        <p:spPr>
          <a:xfrm>
            <a:off x="5760720" y="2802827"/>
            <a:ext cx="3200401" cy="1600201"/>
          </a:xfrm>
          <a:prstGeom prst="rect">
            <a:avLst/>
          </a:prstGeom>
          <a:solidFill>
            <a:srgbClr val="E8F5E9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150" name="Text 27"/>
          <p:cNvSpPr txBox="1"/>
          <p:nvPr/>
        </p:nvSpPr>
        <p:spPr>
          <a:xfrm>
            <a:off x="5852160" y="2871868"/>
            <a:ext cx="3017521" cy="26425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b="1" sz="1200">
                <a:solidFill>
                  <a:srgbClr val="1B5E2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Normalization</a:t>
            </a:r>
          </a:p>
        </p:txBody>
      </p:sp>
      <p:sp>
        <p:nvSpPr>
          <p:cNvPr id="151" name="Text 28"/>
          <p:cNvSpPr txBox="1"/>
          <p:nvPr/>
        </p:nvSpPr>
        <p:spPr>
          <a:xfrm>
            <a:off x="5852160" y="3380214"/>
            <a:ext cx="3017521" cy="81118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/>
          <a:p>
            <a:pPr>
              <a:defRPr sz="1000">
                <a:solidFill>
                  <a:srgbClr val="444444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Min-Max Scaling applied to standardize all features to [0,1] range before model training.</a:t>
            </a:r>
          </a:p>
          <a:p>
            <a:pPr>
              <a:defRPr sz="1000"/>
            </a:pPr>
          </a:p>
          <a:p>
            <a:pPr>
              <a:defRPr sz="1000">
                <a:solidFill>
                  <a:srgbClr val="444444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80% data used for training, 20% for testing (time-based split).</a:t>
            </a:r>
          </a:p>
        </p:txBody>
      </p:sp>
      <p:sp>
        <p:nvSpPr>
          <p:cNvPr id="152" name="Shape 29"/>
          <p:cNvSpPr/>
          <p:nvPr/>
        </p:nvSpPr>
        <p:spPr>
          <a:xfrm>
            <a:off x="5760720" y="4467035"/>
            <a:ext cx="3200401" cy="502920"/>
          </a:xfrm>
          <a:prstGeom prst="rect">
            <a:avLst/>
          </a:prstGeom>
          <a:solidFill>
            <a:srgbClr val="E8431A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153" name="Text 30"/>
          <p:cNvSpPr txBox="1"/>
          <p:nvPr/>
        </p:nvSpPr>
        <p:spPr>
          <a:xfrm>
            <a:off x="5806440" y="4598859"/>
            <a:ext cx="3108961" cy="23927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b="1" sz="11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Total: 15+ engineered features per stock</a:t>
            </a:r>
          </a:p>
        </p:txBody>
      </p:sp>
      <p:sp>
        <p:nvSpPr>
          <p:cNvPr id="154" name="Text 0"/>
          <p:cNvSpPr txBox="1"/>
          <p:nvPr/>
        </p:nvSpPr>
        <p:spPr>
          <a:xfrm>
            <a:off x="69017" y="94183"/>
            <a:ext cx="7315201" cy="45660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3200"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Feature Engineering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6" name="Image 0" descr="Image 0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-1" y="0"/>
            <a:ext cx="9144001" cy="5143501"/>
          </a:xfrm>
          <a:prstGeom prst="rect">
            <a:avLst/>
          </a:prstGeom>
          <a:ln w="12700">
            <a:miter lim="400000"/>
          </a:ln>
        </p:spPr>
      </p:pic>
      <p:sp>
        <p:nvSpPr>
          <p:cNvPr id="157" name="Text 0"/>
          <p:cNvSpPr txBox="1"/>
          <p:nvPr/>
        </p:nvSpPr>
        <p:spPr>
          <a:xfrm>
            <a:off x="63625" y="90953"/>
            <a:ext cx="7315201" cy="45660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3200"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Implementation Steps</a:t>
            </a:r>
          </a:p>
        </p:txBody>
      </p:sp>
      <p:sp>
        <p:nvSpPr>
          <p:cNvPr id="158" name="Shape 1"/>
          <p:cNvSpPr/>
          <p:nvPr/>
        </p:nvSpPr>
        <p:spPr>
          <a:xfrm>
            <a:off x="355090" y="1203448"/>
            <a:ext cx="1161289" cy="3474721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>
            <a:outerShdw sx="100000" sy="100000" kx="0" ky="0" algn="b" rotWithShape="0" blurRad="63500" dist="25400" dir="8100000">
              <a:srgbClr val="000000">
                <a:alpha val="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59" name="Shape 2"/>
          <p:cNvSpPr/>
          <p:nvPr/>
        </p:nvSpPr>
        <p:spPr>
          <a:xfrm>
            <a:off x="355090" y="1203448"/>
            <a:ext cx="1161289" cy="475488"/>
          </a:xfrm>
          <a:prstGeom prst="rect">
            <a:avLst/>
          </a:prstGeom>
          <a:solidFill>
            <a:srgbClr val="1A6FD8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160" name="Text 3"/>
          <p:cNvSpPr txBox="1"/>
          <p:nvPr/>
        </p:nvSpPr>
        <p:spPr>
          <a:xfrm>
            <a:off x="355090" y="1336615"/>
            <a:ext cx="1161289" cy="20915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1600">
                <a:solidFill>
                  <a:srgbClr val="FFFFFF"/>
                </a:solidFill>
              </a:defRPr>
            </a:lvl1pPr>
          </a:lstStyle>
          <a:p>
            <a:pPr/>
            <a:r>
              <a:t>01</a:t>
            </a:r>
          </a:p>
        </p:txBody>
      </p:sp>
      <p:sp>
        <p:nvSpPr>
          <p:cNvPr id="161" name="Shape 4"/>
          <p:cNvSpPr/>
          <p:nvPr/>
        </p:nvSpPr>
        <p:spPr>
          <a:xfrm>
            <a:off x="707134" y="1888491"/>
            <a:ext cx="457201" cy="457201"/>
          </a:xfrm>
          <a:prstGeom prst="ellipse">
            <a:avLst/>
          </a:prstGeom>
          <a:solidFill>
            <a:srgbClr val="1A6FD8">
              <a:alpha val="15000"/>
            </a:srgbClr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162" name="Text 5"/>
          <p:cNvSpPr txBox="1"/>
          <p:nvPr/>
        </p:nvSpPr>
        <p:spPr>
          <a:xfrm>
            <a:off x="409955" y="2688413"/>
            <a:ext cx="996697" cy="36668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b="1" sz="1000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Data Collection</a:t>
            </a:r>
          </a:p>
        </p:txBody>
      </p:sp>
      <p:sp>
        <p:nvSpPr>
          <p:cNvPr id="163" name="Text 6"/>
          <p:cNvSpPr txBox="1"/>
          <p:nvPr/>
        </p:nvSpPr>
        <p:spPr>
          <a:xfrm>
            <a:off x="455674" y="3686624"/>
            <a:ext cx="978409" cy="54407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sz="1100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NIFTY 50 data using yFinance API</a:t>
            </a:r>
          </a:p>
        </p:txBody>
      </p:sp>
      <p:sp>
        <p:nvSpPr>
          <p:cNvPr id="164" name="Shape 7"/>
          <p:cNvSpPr/>
          <p:nvPr/>
        </p:nvSpPr>
        <p:spPr>
          <a:xfrm>
            <a:off x="1571242" y="1203448"/>
            <a:ext cx="1161289" cy="3474721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>
            <a:outerShdw sx="100000" sy="100000" kx="0" ky="0" algn="b" rotWithShape="0" blurRad="63500" dist="25400" dir="8100000">
              <a:srgbClr val="000000">
                <a:alpha val="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65" name="Shape 8"/>
          <p:cNvSpPr/>
          <p:nvPr/>
        </p:nvSpPr>
        <p:spPr>
          <a:xfrm>
            <a:off x="1571242" y="1203448"/>
            <a:ext cx="1161289" cy="475488"/>
          </a:xfrm>
          <a:prstGeom prst="rect">
            <a:avLst/>
          </a:prstGeom>
          <a:solidFill>
            <a:srgbClr val="16A34A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166" name="Text 9"/>
          <p:cNvSpPr txBox="1"/>
          <p:nvPr/>
        </p:nvSpPr>
        <p:spPr>
          <a:xfrm>
            <a:off x="1571242" y="1336615"/>
            <a:ext cx="1161289" cy="20915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1600">
                <a:solidFill>
                  <a:srgbClr val="FFFFFF"/>
                </a:solidFill>
              </a:defRPr>
            </a:lvl1pPr>
          </a:lstStyle>
          <a:p>
            <a:pPr/>
            <a:r>
              <a:t>02</a:t>
            </a:r>
          </a:p>
        </p:txBody>
      </p:sp>
      <p:sp>
        <p:nvSpPr>
          <p:cNvPr id="167" name="Shape 10"/>
          <p:cNvSpPr/>
          <p:nvPr/>
        </p:nvSpPr>
        <p:spPr>
          <a:xfrm>
            <a:off x="1923286" y="1888491"/>
            <a:ext cx="457201" cy="457201"/>
          </a:xfrm>
          <a:prstGeom prst="ellipse">
            <a:avLst/>
          </a:prstGeom>
          <a:solidFill>
            <a:srgbClr val="16A34A">
              <a:alpha val="15000"/>
            </a:srgbClr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168" name="Text 11"/>
          <p:cNvSpPr txBox="1"/>
          <p:nvPr/>
        </p:nvSpPr>
        <p:spPr>
          <a:xfrm>
            <a:off x="1653538" y="2688413"/>
            <a:ext cx="996697" cy="36668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b="1" sz="1000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Data Preprocessing</a:t>
            </a:r>
          </a:p>
        </p:txBody>
      </p:sp>
      <p:sp>
        <p:nvSpPr>
          <p:cNvPr id="169" name="Text 12"/>
          <p:cNvSpPr txBox="1"/>
          <p:nvPr/>
        </p:nvSpPr>
        <p:spPr>
          <a:xfrm>
            <a:off x="1662682" y="3534224"/>
            <a:ext cx="978409" cy="84887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sz="1100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Handle missing values, sort &amp; normalize data</a:t>
            </a:r>
          </a:p>
        </p:txBody>
      </p:sp>
      <p:sp>
        <p:nvSpPr>
          <p:cNvPr id="170" name="Shape 13"/>
          <p:cNvSpPr/>
          <p:nvPr/>
        </p:nvSpPr>
        <p:spPr>
          <a:xfrm>
            <a:off x="2787394" y="1203448"/>
            <a:ext cx="1161289" cy="3474721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>
            <a:outerShdw sx="100000" sy="100000" kx="0" ky="0" algn="b" rotWithShape="0" blurRad="63500" dist="25400" dir="8100000">
              <a:srgbClr val="000000">
                <a:alpha val="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71" name="Shape 14"/>
          <p:cNvSpPr/>
          <p:nvPr/>
        </p:nvSpPr>
        <p:spPr>
          <a:xfrm>
            <a:off x="2787394" y="1203448"/>
            <a:ext cx="1161289" cy="475488"/>
          </a:xfrm>
          <a:prstGeom prst="rect">
            <a:avLst/>
          </a:prstGeom>
          <a:solidFill>
            <a:srgbClr val="EA6C00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172" name="Text 15"/>
          <p:cNvSpPr txBox="1"/>
          <p:nvPr/>
        </p:nvSpPr>
        <p:spPr>
          <a:xfrm>
            <a:off x="2787394" y="1336615"/>
            <a:ext cx="1161289" cy="20915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1600">
                <a:solidFill>
                  <a:srgbClr val="FFFFFF"/>
                </a:solidFill>
              </a:defRPr>
            </a:lvl1pPr>
          </a:lstStyle>
          <a:p>
            <a:pPr/>
            <a:r>
              <a:t>03</a:t>
            </a:r>
          </a:p>
        </p:txBody>
      </p:sp>
      <p:sp>
        <p:nvSpPr>
          <p:cNvPr id="173" name="Shape 16"/>
          <p:cNvSpPr/>
          <p:nvPr/>
        </p:nvSpPr>
        <p:spPr>
          <a:xfrm>
            <a:off x="3139438" y="1888491"/>
            <a:ext cx="457201" cy="457201"/>
          </a:xfrm>
          <a:prstGeom prst="ellipse">
            <a:avLst/>
          </a:prstGeom>
          <a:solidFill>
            <a:srgbClr val="EA6C00">
              <a:alpha val="15000"/>
            </a:srgbClr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174" name="Text 17"/>
          <p:cNvSpPr txBox="1"/>
          <p:nvPr/>
        </p:nvSpPr>
        <p:spPr>
          <a:xfrm>
            <a:off x="2869689" y="2688413"/>
            <a:ext cx="996697" cy="36668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b="1" sz="1000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Feature Engineering</a:t>
            </a:r>
          </a:p>
        </p:txBody>
      </p:sp>
      <p:sp>
        <p:nvSpPr>
          <p:cNvPr id="175" name="Text 18"/>
          <p:cNvSpPr txBox="1"/>
          <p:nvPr/>
        </p:nvSpPr>
        <p:spPr>
          <a:xfrm>
            <a:off x="2878834" y="3686624"/>
            <a:ext cx="978409" cy="54407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sz="1100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Returns, lag features, indicators</a:t>
            </a:r>
          </a:p>
        </p:txBody>
      </p:sp>
      <p:sp>
        <p:nvSpPr>
          <p:cNvPr id="176" name="Shape 19"/>
          <p:cNvSpPr/>
          <p:nvPr/>
        </p:nvSpPr>
        <p:spPr>
          <a:xfrm>
            <a:off x="4003546" y="1203448"/>
            <a:ext cx="1161289" cy="3474721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>
            <a:outerShdw sx="100000" sy="100000" kx="0" ky="0" algn="b" rotWithShape="0" blurRad="63500" dist="25400" dir="8100000">
              <a:srgbClr val="000000">
                <a:alpha val="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77" name="Shape 20"/>
          <p:cNvSpPr/>
          <p:nvPr/>
        </p:nvSpPr>
        <p:spPr>
          <a:xfrm>
            <a:off x="4003546" y="1203448"/>
            <a:ext cx="1161289" cy="475488"/>
          </a:xfrm>
          <a:prstGeom prst="rect">
            <a:avLst/>
          </a:prstGeom>
          <a:solidFill>
            <a:srgbClr val="CA8A04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178" name="Text 21"/>
          <p:cNvSpPr txBox="1"/>
          <p:nvPr/>
        </p:nvSpPr>
        <p:spPr>
          <a:xfrm>
            <a:off x="4003546" y="1336615"/>
            <a:ext cx="1161289" cy="20915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1600">
                <a:solidFill>
                  <a:srgbClr val="FFFFFF"/>
                </a:solidFill>
              </a:defRPr>
            </a:lvl1pPr>
          </a:lstStyle>
          <a:p>
            <a:pPr/>
            <a:r>
              <a:t>04</a:t>
            </a:r>
          </a:p>
        </p:txBody>
      </p:sp>
      <p:sp>
        <p:nvSpPr>
          <p:cNvPr id="179" name="Shape 22"/>
          <p:cNvSpPr/>
          <p:nvPr/>
        </p:nvSpPr>
        <p:spPr>
          <a:xfrm>
            <a:off x="4355590" y="1888491"/>
            <a:ext cx="457201" cy="457201"/>
          </a:xfrm>
          <a:prstGeom prst="ellipse">
            <a:avLst/>
          </a:prstGeom>
          <a:solidFill>
            <a:srgbClr val="CA8A04">
              <a:alpha val="15000"/>
            </a:srgbClr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180" name="Text 23"/>
          <p:cNvSpPr txBox="1"/>
          <p:nvPr/>
        </p:nvSpPr>
        <p:spPr>
          <a:xfrm>
            <a:off x="4076699" y="2688413"/>
            <a:ext cx="996697" cy="36668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b="1" sz="1000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Dataset Splitting</a:t>
            </a:r>
          </a:p>
        </p:txBody>
      </p:sp>
      <p:sp>
        <p:nvSpPr>
          <p:cNvPr id="181" name="Text 24"/>
          <p:cNvSpPr txBox="1"/>
          <p:nvPr/>
        </p:nvSpPr>
        <p:spPr>
          <a:xfrm>
            <a:off x="4094986" y="3686624"/>
            <a:ext cx="978409" cy="54407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sz="1100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Train-test split (80% training, 20% testing)</a:t>
            </a:r>
          </a:p>
        </p:txBody>
      </p:sp>
      <p:sp>
        <p:nvSpPr>
          <p:cNvPr id="182" name="Shape 25"/>
          <p:cNvSpPr/>
          <p:nvPr/>
        </p:nvSpPr>
        <p:spPr>
          <a:xfrm>
            <a:off x="5219698" y="1203448"/>
            <a:ext cx="1161289" cy="3474721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>
            <a:outerShdw sx="100000" sy="100000" kx="0" ky="0" algn="b" rotWithShape="0" blurRad="63500" dist="25400" dir="8100000">
              <a:srgbClr val="000000">
                <a:alpha val="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83" name="Shape 26"/>
          <p:cNvSpPr/>
          <p:nvPr/>
        </p:nvSpPr>
        <p:spPr>
          <a:xfrm>
            <a:off x="5219698" y="1203448"/>
            <a:ext cx="1161289" cy="475488"/>
          </a:xfrm>
          <a:prstGeom prst="rect">
            <a:avLst/>
          </a:prstGeom>
          <a:solidFill>
            <a:srgbClr val="DB2777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184" name="Text 27"/>
          <p:cNvSpPr txBox="1"/>
          <p:nvPr/>
        </p:nvSpPr>
        <p:spPr>
          <a:xfrm>
            <a:off x="5219698" y="1336615"/>
            <a:ext cx="1161289" cy="20915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1600">
                <a:solidFill>
                  <a:srgbClr val="FFFFFF"/>
                </a:solidFill>
              </a:defRPr>
            </a:lvl1pPr>
          </a:lstStyle>
          <a:p>
            <a:pPr/>
            <a:r>
              <a:t>05</a:t>
            </a:r>
          </a:p>
        </p:txBody>
      </p:sp>
      <p:sp>
        <p:nvSpPr>
          <p:cNvPr id="185" name="Shape 28"/>
          <p:cNvSpPr/>
          <p:nvPr/>
        </p:nvSpPr>
        <p:spPr>
          <a:xfrm>
            <a:off x="5571742" y="1888491"/>
            <a:ext cx="457201" cy="457201"/>
          </a:xfrm>
          <a:prstGeom prst="ellipse">
            <a:avLst/>
          </a:prstGeom>
          <a:solidFill>
            <a:srgbClr val="DB2777">
              <a:alpha val="15000"/>
            </a:srgbClr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186" name="Text 29"/>
          <p:cNvSpPr txBox="1"/>
          <p:nvPr/>
        </p:nvSpPr>
        <p:spPr>
          <a:xfrm>
            <a:off x="5254496" y="2688413"/>
            <a:ext cx="1085343" cy="36668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b="1" sz="1000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Model Implementation</a:t>
            </a:r>
          </a:p>
        </p:txBody>
      </p:sp>
      <p:sp>
        <p:nvSpPr>
          <p:cNvPr id="187" name="Text 30"/>
          <p:cNvSpPr txBox="1"/>
          <p:nvPr/>
        </p:nvSpPr>
        <p:spPr>
          <a:xfrm>
            <a:off x="5311138" y="3458024"/>
            <a:ext cx="978409" cy="100127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sz="1100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Linear Regression, XGBoost, LSTM, ARIMA, Prophet</a:t>
            </a:r>
          </a:p>
        </p:txBody>
      </p:sp>
      <p:sp>
        <p:nvSpPr>
          <p:cNvPr id="188" name="Shape 31"/>
          <p:cNvSpPr/>
          <p:nvPr/>
        </p:nvSpPr>
        <p:spPr>
          <a:xfrm>
            <a:off x="6435850" y="1203448"/>
            <a:ext cx="1161289" cy="3474721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>
            <a:outerShdw sx="100000" sy="100000" kx="0" ky="0" algn="b" rotWithShape="0" blurRad="63500" dist="25400" dir="8100000">
              <a:srgbClr val="000000">
                <a:alpha val="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89" name="Shape 32"/>
          <p:cNvSpPr/>
          <p:nvPr/>
        </p:nvSpPr>
        <p:spPr>
          <a:xfrm>
            <a:off x="6435850" y="1203448"/>
            <a:ext cx="1161289" cy="475488"/>
          </a:xfrm>
          <a:prstGeom prst="rect">
            <a:avLst/>
          </a:prstGeom>
          <a:solidFill>
            <a:srgbClr val="7C3AED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190" name="Text 33"/>
          <p:cNvSpPr txBox="1"/>
          <p:nvPr/>
        </p:nvSpPr>
        <p:spPr>
          <a:xfrm>
            <a:off x="6435850" y="1336615"/>
            <a:ext cx="1161289" cy="20915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1600">
                <a:solidFill>
                  <a:srgbClr val="FFFFFF"/>
                </a:solidFill>
              </a:defRPr>
            </a:lvl1pPr>
          </a:lstStyle>
          <a:p>
            <a:pPr/>
            <a:r>
              <a:t>06</a:t>
            </a:r>
          </a:p>
        </p:txBody>
      </p:sp>
      <p:sp>
        <p:nvSpPr>
          <p:cNvPr id="191" name="Shape 34"/>
          <p:cNvSpPr/>
          <p:nvPr/>
        </p:nvSpPr>
        <p:spPr>
          <a:xfrm>
            <a:off x="6787894" y="1888491"/>
            <a:ext cx="457201" cy="457201"/>
          </a:xfrm>
          <a:prstGeom prst="ellipse">
            <a:avLst/>
          </a:prstGeom>
          <a:solidFill>
            <a:srgbClr val="7C3AED">
              <a:alpha val="15000"/>
            </a:srgbClr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192" name="Text 35"/>
          <p:cNvSpPr txBox="1"/>
          <p:nvPr/>
        </p:nvSpPr>
        <p:spPr>
          <a:xfrm>
            <a:off x="6509001" y="2688413"/>
            <a:ext cx="996697" cy="36668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b="1" sz="1000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Prediction Generation</a:t>
            </a:r>
          </a:p>
        </p:txBody>
      </p:sp>
      <p:sp>
        <p:nvSpPr>
          <p:cNvPr id="193" name="Text 36"/>
          <p:cNvSpPr txBox="1"/>
          <p:nvPr/>
        </p:nvSpPr>
        <p:spPr>
          <a:xfrm>
            <a:off x="6527290" y="3686624"/>
            <a:ext cx="978409" cy="54407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sz="1100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Forecast future stock prices</a:t>
            </a:r>
          </a:p>
        </p:txBody>
      </p:sp>
      <p:sp>
        <p:nvSpPr>
          <p:cNvPr id="194" name="Shape 37"/>
          <p:cNvSpPr/>
          <p:nvPr/>
        </p:nvSpPr>
        <p:spPr>
          <a:xfrm>
            <a:off x="7652001" y="1203448"/>
            <a:ext cx="1161289" cy="3474721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>
            <a:outerShdw sx="100000" sy="100000" kx="0" ky="0" algn="b" rotWithShape="0" blurRad="63500" dist="25400" dir="8100000">
              <a:srgbClr val="000000">
                <a:alpha val="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95" name="Shape 38"/>
          <p:cNvSpPr/>
          <p:nvPr/>
        </p:nvSpPr>
        <p:spPr>
          <a:xfrm>
            <a:off x="7652001" y="1203448"/>
            <a:ext cx="1161289" cy="475488"/>
          </a:xfrm>
          <a:prstGeom prst="rect">
            <a:avLst/>
          </a:prstGeom>
          <a:solidFill>
            <a:srgbClr val="0891B2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196" name="Text 39"/>
          <p:cNvSpPr txBox="1"/>
          <p:nvPr/>
        </p:nvSpPr>
        <p:spPr>
          <a:xfrm>
            <a:off x="7652001" y="1336615"/>
            <a:ext cx="1161289" cy="20915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1600">
                <a:solidFill>
                  <a:srgbClr val="FFFFFF"/>
                </a:solidFill>
              </a:defRPr>
            </a:lvl1pPr>
          </a:lstStyle>
          <a:p>
            <a:pPr/>
            <a:r>
              <a:t>07</a:t>
            </a:r>
          </a:p>
        </p:txBody>
      </p:sp>
      <p:sp>
        <p:nvSpPr>
          <p:cNvPr id="197" name="Shape 40"/>
          <p:cNvSpPr/>
          <p:nvPr/>
        </p:nvSpPr>
        <p:spPr>
          <a:xfrm>
            <a:off x="8004045" y="1888491"/>
            <a:ext cx="457201" cy="457201"/>
          </a:xfrm>
          <a:prstGeom prst="ellipse">
            <a:avLst/>
          </a:prstGeom>
          <a:solidFill>
            <a:srgbClr val="0891B2">
              <a:alpha val="15000"/>
            </a:srgbClr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198" name="Text 41"/>
          <p:cNvSpPr txBox="1"/>
          <p:nvPr/>
        </p:nvSpPr>
        <p:spPr>
          <a:xfrm>
            <a:off x="7743442" y="2688413"/>
            <a:ext cx="996697" cy="36668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b="1" sz="1000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Backtesting &amp; Evaluation</a:t>
            </a:r>
          </a:p>
        </p:txBody>
      </p:sp>
      <p:sp>
        <p:nvSpPr>
          <p:cNvPr id="199" name="Text 42"/>
          <p:cNvSpPr txBox="1"/>
          <p:nvPr/>
        </p:nvSpPr>
        <p:spPr>
          <a:xfrm>
            <a:off x="7743442" y="3534224"/>
            <a:ext cx="978409" cy="84887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sz="1100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Simulate trading, Evaluate using RMSE, MAE, R²</a:t>
            </a:r>
          </a:p>
        </p:txBody>
      </p:sp>
      <p:sp>
        <p:nvSpPr>
          <p:cNvPr id="200" name="Text 43"/>
          <p:cNvSpPr txBox="1"/>
          <p:nvPr/>
        </p:nvSpPr>
        <p:spPr>
          <a:xfrm>
            <a:off x="8732519" y="4929124"/>
            <a:ext cx="27432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r">
              <a:defRPr b="1" sz="900">
                <a:solidFill>
                  <a:srgbClr val="FFFFFF"/>
                </a:solidFill>
              </a:defRPr>
            </a:lvl1pPr>
          </a:lstStyle>
          <a:p>
            <a:pPr/>
            <a:r>
              <a:t>5</a:t>
            </a:r>
          </a:p>
        </p:txBody>
      </p:sp>
      <p:pic>
        <p:nvPicPr>
          <p:cNvPr id="201" name="Image 1" descr="Image 1"/>
          <p:cNvPicPr>
            <a:picLocks noChangeAspect="1"/>
          </p:cNvPicPr>
          <p:nvPr/>
        </p:nvPicPr>
        <p:blipFill>
          <a:blip r:embed="rId3">
            <a:alphaModFix amt="42826"/>
            <a:extLst/>
          </a:blip>
          <a:stretch>
            <a:fillRect/>
          </a:stretch>
        </p:blipFill>
        <p:spPr>
          <a:xfrm>
            <a:off x="707135" y="1888491"/>
            <a:ext cx="457201" cy="457201"/>
          </a:xfrm>
          <a:prstGeom prst="rect">
            <a:avLst/>
          </a:prstGeom>
          <a:ln w="12700">
            <a:miter lim="400000"/>
          </a:ln>
        </p:spPr>
      </p:pic>
      <p:pic>
        <p:nvPicPr>
          <p:cNvPr id="202" name="Image 2" descr="Image 2"/>
          <p:cNvPicPr>
            <a:picLocks noChangeAspect="1"/>
          </p:cNvPicPr>
          <p:nvPr/>
        </p:nvPicPr>
        <p:blipFill>
          <a:blip r:embed="rId4">
            <a:alphaModFix amt="42707"/>
            <a:extLst/>
          </a:blip>
          <a:stretch>
            <a:fillRect/>
          </a:stretch>
        </p:blipFill>
        <p:spPr>
          <a:xfrm>
            <a:off x="1923286" y="1888491"/>
            <a:ext cx="457201" cy="457201"/>
          </a:xfrm>
          <a:prstGeom prst="rect">
            <a:avLst/>
          </a:prstGeom>
          <a:ln w="12700">
            <a:miter lim="400000"/>
          </a:ln>
        </p:spPr>
      </p:pic>
      <p:pic>
        <p:nvPicPr>
          <p:cNvPr id="203" name="Image 3" descr="Image 3"/>
          <p:cNvPicPr>
            <a:picLocks noChangeAspect="1"/>
          </p:cNvPicPr>
          <p:nvPr/>
        </p:nvPicPr>
        <p:blipFill>
          <a:blip r:embed="rId5">
            <a:alphaModFix amt="43262"/>
            <a:extLst/>
          </a:blip>
          <a:stretch>
            <a:fillRect/>
          </a:stretch>
        </p:blipFill>
        <p:spPr>
          <a:xfrm>
            <a:off x="3139438" y="1888491"/>
            <a:ext cx="457201" cy="457201"/>
          </a:xfrm>
          <a:prstGeom prst="rect">
            <a:avLst/>
          </a:prstGeom>
          <a:ln w="12700">
            <a:miter lim="400000"/>
          </a:ln>
        </p:spPr>
      </p:pic>
      <p:pic>
        <p:nvPicPr>
          <p:cNvPr id="204" name="Image 4" descr="Image 4"/>
          <p:cNvPicPr>
            <a:picLocks noChangeAspect="1"/>
          </p:cNvPicPr>
          <p:nvPr/>
        </p:nvPicPr>
        <p:blipFill>
          <a:blip r:embed="rId6">
            <a:alphaModFix amt="43000"/>
            <a:extLst/>
          </a:blip>
          <a:stretch>
            <a:fillRect/>
          </a:stretch>
        </p:blipFill>
        <p:spPr>
          <a:xfrm>
            <a:off x="4355590" y="1888491"/>
            <a:ext cx="457201" cy="457201"/>
          </a:xfrm>
          <a:prstGeom prst="rect">
            <a:avLst/>
          </a:prstGeom>
          <a:ln w="12700">
            <a:miter lim="400000"/>
          </a:ln>
        </p:spPr>
      </p:pic>
      <p:pic>
        <p:nvPicPr>
          <p:cNvPr id="205" name="Image 5" descr="Image 5"/>
          <p:cNvPicPr>
            <a:picLocks noChangeAspect="1"/>
          </p:cNvPicPr>
          <p:nvPr/>
        </p:nvPicPr>
        <p:blipFill>
          <a:blip r:embed="rId7">
            <a:alphaModFix amt="43000"/>
            <a:extLst/>
          </a:blip>
          <a:stretch>
            <a:fillRect/>
          </a:stretch>
        </p:blipFill>
        <p:spPr>
          <a:xfrm>
            <a:off x="5571742" y="1888491"/>
            <a:ext cx="457201" cy="457201"/>
          </a:xfrm>
          <a:prstGeom prst="rect">
            <a:avLst/>
          </a:prstGeom>
          <a:ln w="12700">
            <a:miter lim="400000"/>
          </a:ln>
        </p:spPr>
      </p:pic>
      <p:pic>
        <p:nvPicPr>
          <p:cNvPr id="206" name="Image 6" descr="Image 6"/>
          <p:cNvPicPr>
            <a:picLocks noChangeAspect="1"/>
          </p:cNvPicPr>
          <p:nvPr/>
        </p:nvPicPr>
        <p:blipFill>
          <a:blip r:embed="rId8">
            <a:alphaModFix amt="43000"/>
            <a:extLst/>
          </a:blip>
          <a:stretch>
            <a:fillRect/>
          </a:stretch>
        </p:blipFill>
        <p:spPr>
          <a:xfrm>
            <a:off x="6787894" y="1888491"/>
            <a:ext cx="457201" cy="457201"/>
          </a:xfrm>
          <a:prstGeom prst="rect">
            <a:avLst/>
          </a:prstGeom>
          <a:ln w="12700">
            <a:miter lim="400000"/>
          </a:ln>
        </p:spPr>
      </p:pic>
      <p:pic>
        <p:nvPicPr>
          <p:cNvPr id="207" name="Image 7" descr="Image 7"/>
          <p:cNvPicPr>
            <a:picLocks noChangeAspect="1"/>
          </p:cNvPicPr>
          <p:nvPr/>
        </p:nvPicPr>
        <p:blipFill>
          <a:blip r:embed="rId9">
            <a:alphaModFix amt="43000"/>
            <a:extLst/>
          </a:blip>
          <a:stretch>
            <a:fillRect/>
          </a:stretch>
        </p:blipFill>
        <p:spPr>
          <a:xfrm>
            <a:off x="8004046" y="1888491"/>
            <a:ext cx="457201" cy="457201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9" name="Image 0" descr="Image 0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0" y="0"/>
            <a:ext cx="9144001" cy="5143501"/>
          </a:xfrm>
          <a:prstGeom prst="rect">
            <a:avLst/>
          </a:prstGeom>
          <a:ln w="12700">
            <a:miter lim="400000"/>
          </a:ln>
        </p:spPr>
      </p:pic>
      <p:sp>
        <p:nvSpPr>
          <p:cNvPr id="210" name="Text 0"/>
          <p:cNvSpPr txBox="1"/>
          <p:nvPr/>
        </p:nvSpPr>
        <p:spPr>
          <a:xfrm>
            <a:off x="81398" y="128238"/>
            <a:ext cx="7315201" cy="45660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3200"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Model Used</a:t>
            </a:r>
          </a:p>
        </p:txBody>
      </p:sp>
      <p:sp>
        <p:nvSpPr>
          <p:cNvPr id="211" name="Shape 2"/>
          <p:cNvSpPr/>
          <p:nvPr/>
        </p:nvSpPr>
        <p:spPr>
          <a:xfrm>
            <a:off x="251459" y="996953"/>
            <a:ext cx="4206242" cy="896113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  <a:effectLst>
            <a:outerShdw sx="100000" sy="100000" kx="0" ky="0" algn="b" rotWithShape="0" blurRad="63500" dist="12700" dir="8100000">
              <a:srgbClr val="000000">
                <a:alpha val="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12" name="Shape 3"/>
          <p:cNvSpPr/>
          <p:nvPr/>
        </p:nvSpPr>
        <p:spPr>
          <a:xfrm>
            <a:off x="251459" y="996953"/>
            <a:ext cx="109729" cy="896113"/>
          </a:xfrm>
          <a:prstGeom prst="rect">
            <a:avLst/>
          </a:prstGeom>
          <a:solidFill>
            <a:srgbClr val="64748B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213" name="Text 4"/>
          <p:cNvSpPr txBox="1"/>
          <p:nvPr/>
        </p:nvSpPr>
        <p:spPr>
          <a:xfrm>
            <a:off x="452627" y="1117349"/>
            <a:ext cx="2926082" cy="152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100">
                <a:solidFill>
                  <a:srgbClr val="0D1B2A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</a:lstStyle>
          <a:p>
            <a:pPr/>
            <a:r>
              <a:t>Linear Regression</a:t>
            </a:r>
          </a:p>
        </p:txBody>
      </p:sp>
      <p:sp>
        <p:nvSpPr>
          <p:cNvPr id="214" name="Shape 5"/>
          <p:cNvSpPr/>
          <p:nvPr/>
        </p:nvSpPr>
        <p:spPr>
          <a:xfrm>
            <a:off x="3378708" y="1070105"/>
            <a:ext cx="1005841" cy="274321"/>
          </a:xfrm>
          <a:prstGeom prst="roundRect">
            <a:avLst>
              <a:gd name="adj" fmla="val 13333"/>
            </a:avLst>
          </a:prstGeom>
          <a:solidFill>
            <a:srgbClr val="64748B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215" name="Text 6"/>
          <p:cNvSpPr txBox="1"/>
          <p:nvPr/>
        </p:nvSpPr>
        <p:spPr>
          <a:xfrm>
            <a:off x="3424428" y="1109257"/>
            <a:ext cx="914400" cy="19601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b="1" sz="800">
                <a:solidFill>
                  <a:srgbClr val="FFFFFF"/>
                </a:solidFill>
              </a:defRPr>
            </a:lvl1pPr>
          </a:lstStyle>
          <a:p>
            <a:pPr/>
            <a:r>
              <a:t>Classical</a:t>
            </a:r>
          </a:p>
        </p:txBody>
      </p:sp>
      <p:sp>
        <p:nvSpPr>
          <p:cNvPr id="216" name="Text 7"/>
          <p:cNvSpPr txBox="1"/>
          <p:nvPr/>
        </p:nvSpPr>
        <p:spPr>
          <a:xfrm>
            <a:off x="498347" y="1381001"/>
            <a:ext cx="3794761" cy="2285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1000">
                <a:solidFill>
                  <a:srgbClr val="334155"/>
                </a:solidFill>
              </a:defRPr>
            </a:lvl1pPr>
          </a:lstStyle>
          <a:p>
            <a:pPr/>
            <a:r>
              <a:t>Baseline model; low accuracy for volatile data.</a:t>
            </a:r>
          </a:p>
        </p:txBody>
      </p:sp>
      <p:sp>
        <p:nvSpPr>
          <p:cNvPr id="217" name="Shape 8"/>
          <p:cNvSpPr/>
          <p:nvPr/>
        </p:nvSpPr>
        <p:spPr>
          <a:xfrm>
            <a:off x="251459" y="2002793"/>
            <a:ext cx="4206242" cy="896113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  <a:effectLst>
            <a:outerShdw sx="100000" sy="100000" kx="0" ky="0" algn="b" rotWithShape="0" blurRad="63500" dist="12700" dir="8100000">
              <a:srgbClr val="000000">
                <a:alpha val="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18" name="Shape 9"/>
          <p:cNvSpPr/>
          <p:nvPr/>
        </p:nvSpPr>
        <p:spPr>
          <a:xfrm>
            <a:off x="251459" y="2002793"/>
            <a:ext cx="109729" cy="896113"/>
          </a:xfrm>
          <a:prstGeom prst="rect">
            <a:avLst/>
          </a:prstGeom>
          <a:solidFill>
            <a:srgbClr val="64748B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219" name="Text 10"/>
          <p:cNvSpPr txBox="1"/>
          <p:nvPr/>
        </p:nvSpPr>
        <p:spPr>
          <a:xfrm>
            <a:off x="452627" y="2123189"/>
            <a:ext cx="2926082" cy="152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100">
                <a:solidFill>
                  <a:srgbClr val="0D1B2A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</a:lstStyle>
          <a:p>
            <a:pPr/>
            <a:r>
              <a:t>Ridge Regression</a:t>
            </a:r>
          </a:p>
        </p:txBody>
      </p:sp>
      <p:sp>
        <p:nvSpPr>
          <p:cNvPr id="220" name="Shape 11"/>
          <p:cNvSpPr/>
          <p:nvPr/>
        </p:nvSpPr>
        <p:spPr>
          <a:xfrm>
            <a:off x="3378708" y="2075945"/>
            <a:ext cx="1005841" cy="274321"/>
          </a:xfrm>
          <a:prstGeom prst="roundRect">
            <a:avLst>
              <a:gd name="adj" fmla="val 13333"/>
            </a:avLst>
          </a:prstGeom>
          <a:solidFill>
            <a:srgbClr val="64748B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221" name="Text 12"/>
          <p:cNvSpPr txBox="1"/>
          <p:nvPr/>
        </p:nvSpPr>
        <p:spPr>
          <a:xfrm>
            <a:off x="3424428" y="2115097"/>
            <a:ext cx="914400" cy="19601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b="1" sz="800">
                <a:solidFill>
                  <a:srgbClr val="FFFFFF"/>
                </a:solidFill>
              </a:defRPr>
            </a:lvl1pPr>
          </a:lstStyle>
          <a:p>
            <a:pPr/>
            <a:r>
              <a:t>Classical</a:t>
            </a:r>
          </a:p>
        </p:txBody>
      </p:sp>
      <p:sp>
        <p:nvSpPr>
          <p:cNvPr id="222" name="Text 13"/>
          <p:cNvSpPr txBox="1"/>
          <p:nvPr/>
        </p:nvSpPr>
        <p:spPr>
          <a:xfrm>
            <a:off x="498347" y="2386841"/>
            <a:ext cx="3794761" cy="2285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1000">
                <a:solidFill>
                  <a:srgbClr val="334155"/>
                </a:solidFill>
              </a:defRPr>
            </a:lvl1pPr>
          </a:lstStyle>
          <a:p>
            <a:pPr/>
            <a:r>
              <a:t>Regularized variant; good for certain stocks.</a:t>
            </a:r>
          </a:p>
        </p:txBody>
      </p:sp>
      <p:sp>
        <p:nvSpPr>
          <p:cNvPr id="223" name="Shape 14"/>
          <p:cNvSpPr/>
          <p:nvPr/>
        </p:nvSpPr>
        <p:spPr>
          <a:xfrm>
            <a:off x="251459" y="3008633"/>
            <a:ext cx="4206242" cy="896113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  <a:effectLst>
            <a:outerShdw sx="100000" sy="100000" kx="0" ky="0" algn="b" rotWithShape="0" blurRad="63500" dist="12700" dir="8100000">
              <a:srgbClr val="000000">
                <a:alpha val="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24" name="Shape 15"/>
          <p:cNvSpPr/>
          <p:nvPr/>
        </p:nvSpPr>
        <p:spPr>
          <a:xfrm>
            <a:off x="251459" y="3008633"/>
            <a:ext cx="109729" cy="896113"/>
          </a:xfrm>
          <a:prstGeom prst="rect">
            <a:avLst/>
          </a:prstGeom>
          <a:solidFill>
            <a:srgbClr val="1D4ED8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225" name="Text 16"/>
          <p:cNvSpPr txBox="1"/>
          <p:nvPr/>
        </p:nvSpPr>
        <p:spPr>
          <a:xfrm>
            <a:off x="452627" y="3129029"/>
            <a:ext cx="2926082" cy="152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100">
                <a:solidFill>
                  <a:srgbClr val="0D1B2A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</a:lstStyle>
          <a:p>
            <a:pPr/>
            <a:r>
              <a:t>Random Forest</a:t>
            </a:r>
          </a:p>
        </p:txBody>
      </p:sp>
      <p:sp>
        <p:nvSpPr>
          <p:cNvPr id="226" name="Shape 17"/>
          <p:cNvSpPr/>
          <p:nvPr/>
        </p:nvSpPr>
        <p:spPr>
          <a:xfrm>
            <a:off x="3378708" y="3081785"/>
            <a:ext cx="1005841" cy="274321"/>
          </a:xfrm>
          <a:prstGeom prst="roundRect">
            <a:avLst>
              <a:gd name="adj" fmla="val 13333"/>
            </a:avLst>
          </a:prstGeom>
          <a:solidFill>
            <a:srgbClr val="1D4ED8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227" name="Text 18"/>
          <p:cNvSpPr txBox="1"/>
          <p:nvPr/>
        </p:nvSpPr>
        <p:spPr>
          <a:xfrm>
            <a:off x="3424428" y="3120937"/>
            <a:ext cx="914400" cy="19601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b="1" sz="800">
                <a:solidFill>
                  <a:srgbClr val="FFFFFF"/>
                </a:solidFill>
              </a:defRPr>
            </a:lvl1pPr>
          </a:lstStyle>
          <a:p>
            <a:pPr/>
            <a:r>
              <a:t>Ensemble</a:t>
            </a:r>
          </a:p>
        </p:txBody>
      </p:sp>
      <p:sp>
        <p:nvSpPr>
          <p:cNvPr id="228" name="Text 19"/>
          <p:cNvSpPr txBox="1"/>
          <p:nvPr/>
        </p:nvSpPr>
        <p:spPr>
          <a:xfrm>
            <a:off x="498347" y="3392681"/>
            <a:ext cx="3794761" cy="2285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1000">
                <a:solidFill>
                  <a:srgbClr val="334155"/>
                </a:solidFill>
              </a:defRPr>
            </a:lvl1pPr>
          </a:lstStyle>
          <a:p>
            <a:pPr/>
            <a:r>
              <a:t>Moderate performance; handles non-linearity.</a:t>
            </a:r>
          </a:p>
        </p:txBody>
      </p:sp>
      <p:sp>
        <p:nvSpPr>
          <p:cNvPr id="229" name="Shape 20"/>
          <p:cNvSpPr/>
          <p:nvPr/>
        </p:nvSpPr>
        <p:spPr>
          <a:xfrm>
            <a:off x="251459" y="4014473"/>
            <a:ext cx="4206242" cy="896113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  <a:effectLst>
            <a:outerShdw sx="100000" sy="100000" kx="0" ky="0" algn="b" rotWithShape="0" blurRad="63500" dist="12700" dir="8100000">
              <a:srgbClr val="000000">
                <a:alpha val="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30" name="Shape 21"/>
          <p:cNvSpPr/>
          <p:nvPr/>
        </p:nvSpPr>
        <p:spPr>
          <a:xfrm>
            <a:off x="251459" y="4014473"/>
            <a:ext cx="109729" cy="896113"/>
          </a:xfrm>
          <a:prstGeom prst="rect">
            <a:avLst/>
          </a:prstGeom>
          <a:solidFill>
            <a:srgbClr val="1D4ED8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231" name="Text 22"/>
          <p:cNvSpPr txBox="1"/>
          <p:nvPr/>
        </p:nvSpPr>
        <p:spPr>
          <a:xfrm>
            <a:off x="452627" y="4134869"/>
            <a:ext cx="2926082" cy="152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100">
                <a:solidFill>
                  <a:srgbClr val="0D1B2A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</a:lstStyle>
          <a:p>
            <a:pPr/>
            <a:r>
              <a:t>XGBoost / Gradient Boosting</a:t>
            </a:r>
          </a:p>
        </p:txBody>
      </p:sp>
      <p:sp>
        <p:nvSpPr>
          <p:cNvPr id="232" name="Shape 23"/>
          <p:cNvSpPr/>
          <p:nvPr/>
        </p:nvSpPr>
        <p:spPr>
          <a:xfrm>
            <a:off x="3378708" y="4087625"/>
            <a:ext cx="1005841" cy="274321"/>
          </a:xfrm>
          <a:prstGeom prst="roundRect">
            <a:avLst>
              <a:gd name="adj" fmla="val 13333"/>
            </a:avLst>
          </a:prstGeom>
          <a:solidFill>
            <a:srgbClr val="1D4ED8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233" name="Text 24"/>
          <p:cNvSpPr txBox="1"/>
          <p:nvPr/>
        </p:nvSpPr>
        <p:spPr>
          <a:xfrm>
            <a:off x="3424428" y="4126777"/>
            <a:ext cx="914400" cy="19601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b="1" sz="800">
                <a:solidFill>
                  <a:srgbClr val="FFFFFF"/>
                </a:solidFill>
              </a:defRPr>
            </a:lvl1pPr>
          </a:lstStyle>
          <a:p>
            <a:pPr/>
            <a:r>
              <a:t>Ensemble</a:t>
            </a:r>
          </a:p>
        </p:txBody>
      </p:sp>
      <p:sp>
        <p:nvSpPr>
          <p:cNvPr id="234" name="Text 25"/>
          <p:cNvSpPr txBox="1"/>
          <p:nvPr/>
        </p:nvSpPr>
        <p:spPr>
          <a:xfrm>
            <a:off x="498347" y="4398521"/>
            <a:ext cx="3794761" cy="2285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1000">
                <a:solidFill>
                  <a:srgbClr val="334155"/>
                </a:solidFill>
              </a:defRPr>
            </a:lvl1pPr>
          </a:lstStyle>
          <a:p>
            <a:pPr/>
            <a:r>
              <a:t>Strong for trend-based predictions; moderate accuracy.</a:t>
            </a:r>
          </a:p>
        </p:txBody>
      </p:sp>
      <p:sp>
        <p:nvSpPr>
          <p:cNvPr id="235" name="Shape 26"/>
          <p:cNvSpPr/>
          <p:nvPr/>
        </p:nvSpPr>
        <p:spPr>
          <a:xfrm>
            <a:off x="4686300" y="996953"/>
            <a:ext cx="4206241" cy="896113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  <a:effectLst>
            <a:outerShdw sx="100000" sy="100000" kx="0" ky="0" algn="b" rotWithShape="0" blurRad="63500" dist="12700" dir="8100000">
              <a:srgbClr val="000000">
                <a:alpha val="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36" name="Shape 27"/>
          <p:cNvSpPr/>
          <p:nvPr/>
        </p:nvSpPr>
        <p:spPr>
          <a:xfrm>
            <a:off x="4686300" y="996953"/>
            <a:ext cx="109728" cy="896113"/>
          </a:xfrm>
          <a:prstGeom prst="rect">
            <a:avLst/>
          </a:prstGeom>
          <a:solidFill>
            <a:srgbClr val="7C3AED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237" name="Text 28"/>
          <p:cNvSpPr txBox="1"/>
          <p:nvPr/>
        </p:nvSpPr>
        <p:spPr>
          <a:xfrm>
            <a:off x="4887467" y="1117349"/>
            <a:ext cx="2926082" cy="152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100">
                <a:solidFill>
                  <a:srgbClr val="0D1B2A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</a:lstStyle>
          <a:p>
            <a:pPr/>
            <a:r>
              <a:t>SVR</a:t>
            </a:r>
          </a:p>
        </p:txBody>
      </p:sp>
      <p:sp>
        <p:nvSpPr>
          <p:cNvPr id="238" name="Shape 29"/>
          <p:cNvSpPr/>
          <p:nvPr/>
        </p:nvSpPr>
        <p:spPr>
          <a:xfrm>
            <a:off x="7813547" y="1070105"/>
            <a:ext cx="1005841" cy="274321"/>
          </a:xfrm>
          <a:prstGeom prst="roundRect">
            <a:avLst>
              <a:gd name="adj" fmla="val 13333"/>
            </a:avLst>
          </a:prstGeom>
          <a:solidFill>
            <a:srgbClr val="7C3AED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239" name="Text 30"/>
          <p:cNvSpPr txBox="1"/>
          <p:nvPr/>
        </p:nvSpPr>
        <p:spPr>
          <a:xfrm>
            <a:off x="7859267" y="1109257"/>
            <a:ext cx="914400" cy="19601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b="1" sz="800">
                <a:solidFill>
                  <a:srgbClr val="FFFFFF"/>
                </a:solidFill>
              </a:defRPr>
            </a:lvl1pPr>
          </a:lstStyle>
          <a:p>
            <a:pPr/>
            <a:r>
              <a:t>Kernel</a:t>
            </a:r>
          </a:p>
        </p:txBody>
      </p:sp>
      <p:sp>
        <p:nvSpPr>
          <p:cNvPr id="240" name="Text 31"/>
          <p:cNvSpPr txBox="1"/>
          <p:nvPr/>
        </p:nvSpPr>
        <p:spPr>
          <a:xfrm>
            <a:off x="4933188" y="1381001"/>
            <a:ext cx="3794760" cy="2285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1000">
                <a:solidFill>
                  <a:srgbClr val="334155"/>
                </a:solidFill>
              </a:defRPr>
            </a:lvl1pPr>
          </a:lstStyle>
          <a:p>
            <a:pPr/>
            <a:r>
              <a:t>Moderate efficiency; handles complex boundaries.</a:t>
            </a:r>
          </a:p>
        </p:txBody>
      </p:sp>
      <p:sp>
        <p:nvSpPr>
          <p:cNvPr id="241" name="Shape 32"/>
          <p:cNvSpPr/>
          <p:nvPr/>
        </p:nvSpPr>
        <p:spPr>
          <a:xfrm>
            <a:off x="4686300" y="2002793"/>
            <a:ext cx="4206241" cy="896113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  <a:effectLst>
            <a:outerShdw sx="100000" sy="100000" kx="0" ky="0" algn="b" rotWithShape="0" blurRad="63500" dist="12700" dir="8100000">
              <a:srgbClr val="000000">
                <a:alpha val="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42" name="Shape 33"/>
          <p:cNvSpPr/>
          <p:nvPr/>
        </p:nvSpPr>
        <p:spPr>
          <a:xfrm>
            <a:off x="4686300" y="2002793"/>
            <a:ext cx="109728" cy="896113"/>
          </a:xfrm>
          <a:prstGeom prst="rect">
            <a:avLst/>
          </a:prstGeom>
          <a:solidFill>
            <a:srgbClr val="028090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243" name="Text 34"/>
          <p:cNvSpPr txBox="1"/>
          <p:nvPr/>
        </p:nvSpPr>
        <p:spPr>
          <a:xfrm>
            <a:off x="4887467" y="2123189"/>
            <a:ext cx="2926082" cy="152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100">
                <a:solidFill>
                  <a:srgbClr val="0D1B2A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</a:lstStyle>
          <a:p>
            <a:pPr/>
            <a:r>
              <a:t>LSTM</a:t>
            </a:r>
          </a:p>
        </p:txBody>
      </p:sp>
      <p:sp>
        <p:nvSpPr>
          <p:cNvPr id="244" name="Shape 35"/>
          <p:cNvSpPr/>
          <p:nvPr/>
        </p:nvSpPr>
        <p:spPr>
          <a:xfrm>
            <a:off x="7813547" y="2075945"/>
            <a:ext cx="1005841" cy="274321"/>
          </a:xfrm>
          <a:prstGeom prst="roundRect">
            <a:avLst>
              <a:gd name="adj" fmla="val 13333"/>
            </a:avLst>
          </a:prstGeom>
          <a:solidFill>
            <a:srgbClr val="028090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245" name="Text 36"/>
          <p:cNvSpPr txBox="1"/>
          <p:nvPr/>
        </p:nvSpPr>
        <p:spPr>
          <a:xfrm>
            <a:off x="7859267" y="2115097"/>
            <a:ext cx="914400" cy="19601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b="1" sz="800">
                <a:solidFill>
                  <a:srgbClr val="FFFFFF"/>
                </a:solidFill>
              </a:defRPr>
            </a:lvl1pPr>
          </a:lstStyle>
          <a:p>
            <a:pPr/>
            <a:r>
              <a:t>Deep Learning</a:t>
            </a:r>
          </a:p>
        </p:txBody>
      </p:sp>
      <p:sp>
        <p:nvSpPr>
          <p:cNvPr id="246" name="Text 37"/>
          <p:cNvSpPr txBox="1"/>
          <p:nvPr/>
        </p:nvSpPr>
        <p:spPr>
          <a:xfrm>
            <a:off x="4933188" y="2386841"/>
            <a:ext cx="3794760" cy="2285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1000">
                <a:solidFill>
                  <a:srgbClr val="334155"/>
                </a:solidFill>
              </a:defRPr>
            </a:lvl1pPr>
          </a:lstStyle>
          <a:p>
            <a:pPr/>
            <a:r>
              <a:t>Best overall; captures temporal dependencies. R²=0.897, RMSE=41.69.</a:t>
            </a:r>
          </a:p>
        </p:txBody>
      </p:sp>
      <p:sp>
        <p:nvSpPr>
          <p:cNvPr id="247" name="Shape 38"/>
          <p:cNvSpPr/>
          <p:nvPr/>
        </p:nvSpPr>
        <p:spPr>
          <a:xfrm>
            <a:off x="4686300" y="3008633"/>
            <a:ext cx="4206241" cy="896113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  <a:effectLst>
            <a:outerShdw sx="100000" sy="100000" kx="0" ky="0" algn="b" rotWithShape="0" blurRad="63500" dist="12700" dir="8100000">
              <a:srgbClr val="000000">
                <a:alpha val="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48" name="Shape 39"/>
          <p:cNvSpPr/>
          <p:nvPr/>
        </p:nvSpPr>
        <p:spPr>
          <a:xfrm>
            <a:off x="4686300" y="3008633"/>
            <a:ext cx="109728" cy="896113"/>
          </a:xfrm>
          <a:prstGeom prst="rect">
            <a:avLst/>
          </a:prstGeom>
          <a:solidFill>
            <a:srgbClr val="EF4444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249" name="Text 40"/>
          <p:cNvSpPr txBox="1"/>
          <p:nvPr/>
        </p:nvSpPr>
        <p:spPr>
          <a:xfrm>
            <a:off x="4887467" y="3129029"/>
            <a:ext cx="2926082" cy="152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100">
                <a:solidFill>
                  <a:srgbClr val="0D1B2A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</a:lstStyle>
          <a:p>
            <a:pPr/>
            <a:r>
              <a:t>ARIMA</a:t>
            </a:r>
          </a:p>
        </p:txBody>
      </p:sp>
      <p:sp>
        <p:nvSpPr>
          <p:cNvPr id="250" name="Shape 41"/>
          <p:cNvSpPr/>
          <p:nvPr/>
        </p:nvSpPr>
        <p:spPr>
          <a:xfrm>
            <a:off x="7813547" y="3081785"/>
            <a:ext cx="1005841" cy="274321"/>
          </a:xfrm>
          <a:prstGeom prst="roundRect">
            <a:avLst>
              <a:gd name="adj" fmla="val 13333"/>
            </a:avLst>
          </a:prstGeom>
          <a:solidFill>
            <a:srgbClr val="EF4444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251" name="Text 42"/>
          <p:cNvSpPr txBox="1"/>
          <p:nvPr/>
        </p:nvSpPr>
        <p:spPr>
          <a:xfrm>
            <a:off x="7859267" y="3120937"/>
            <a:ext cx="914400" cy="19601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b="1" sz="800">
                <a:solidFill>
                  <a:srgbClr val="FFFFFF"/>
                </a:solidFill>
              </a:defRPr>
            </a:lvl1pPr>
          </a:lstStyle>
          <a:p>
            <a:pPr/>
            <a:r>
              <a:t>Statistical</a:t>
            </a:r>
          </a:p>
        </p:txBody>
      </p:sp>
      <p:sp>
        <p:nvSpPr>
          <p:cNvPr id="252" name="Text 43"/>
          <p:cNvSpPr txBox="1"/>
          <p:nvPr/>
        </p:nvSpPr>
        <p:spPr>
          <a:xfrm>
            <a:off x="4933188" y="3392681"/>
            <a:ext cx="3794760" cy="2285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1000">
                <a:solidFill>
                  <a:srgbClr val="334155"/>
                </a:solidFill>
              </a:defRPr>
            </a:lvl1pPr>
          </a:lstStyle>
          <a:p>
            <a:pPr/>
            <a:r>
              <a:t>Poor in volatile markets; negative R² values.</a:t>
            </a:r>
          </a:p>
        </p:txBody>
      </p:sp>
      <p:sp>
        <p:nvSpPr>
          <p:cNvPr id="253" name="Shape 44"/>
          <p:cNvSpPr/>
          <p:nvPr/>
        </p:nvSpPr>
        <p:spPr>
          <a:xfrm>
            <a:off x="4686300" y="4014473"/>
            <a:ext cx="4206241" cy="896113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  <a:effectLst>
            <a:outerShdw sx="100000" sy="100000" kx="0" ky="0" algn="b" rotWithShape="0" blurRad="63500" dist="12700" dir="8100000">
              <a:srgbClr val="000000">
                <a:alpha val="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54" name="Shape 45"/>
          <p:cNvSpPr/>
          <p:nvPr/>
        </p:nvSpPr>
        <p:spPr>
          <a:xfrm>
            <a:off x="4686300" y="4014473"/>
            <a:ext cx="109728" cy="896113"/>
          </a:xfrm>
          <a:prstGeom prst="rect">
            <a:avLst/>
          </a:prstGeom>
          <a:solidFill>
            <a:srgbClr val="EF4444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255" name="Text 46"/>
          <p:cNvSpPr txBox="1"/>
          <p:nvPr/>
        </p:nvSpPr>
        <p:spPr>
          <a:xfrm>
            <a:off x="4887467" y="4134869"/>
            <a:ext cx="2926082" cy="152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100">
                <a:solidFill>
                  <a:srgbClr val="0D1B2A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</a:lstStyle>
          <a:p>
            <a:pPr/>
            <a:r>
              <a:t>Prophet</a:t>
            </a:r>
          </a:p>
        </p:txBody>
      </p:sp>
      <p:sp>
        <p:nvSpPr>
          <p:cNvPr id="256" name="Shape 47"/>
          <p:cNvSpPr/>
          <p:nvPr/>
        </p:nvSpPr>
        <p:spPr>
          <a:xfrm>
            <a:off x="7813547" y="4087625"/>
            <a:ext cx="1005841" cy="274321"/>
          </a:xfrm>
          <a:prstGeom prst="roundRect">
            <a:avLst>
              <a:gd name="adj" fmla="val 13333"/>
            </a:avLst>
          </a:prstGeom>
          <a:solidFill>
            <a:srgbClr val="EF4444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257" name="Text 48"/>
          <p:cNvSpPr txBox="1"/>
          <p:nvPr/>
        </p:nvSpPr>
        <p:spPr>
          <a:xfrm>
            <a:off x="7859267" y="4126777"/>
            <a:ext cx="914400" cy="19601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b="1" sz="800">
                <a:solidFill>
                  <a:srgbClr val="FFFFFF"/>
                </a:solidFill>
              </a:defRPr>
            </a:lvl1pPr>
          </a:lstStyle>
          <a:p>
            <a:pPr/>
            <a:r>
              <a:t>Statistical</a:t>
            </a:r>
          </a:p>
        </p:txBody>
      </p:sp>
      <p:sp>
        <p:nvSpPr>
          <p:cNvPr id="258" name="Text 49"/>
          <p:cNvSpPr txBox="1"/>
          <p:nvPr/>
        </p:nvSpPr>
        <p:spPr>
          <a:xfrm>
            <a:off x="4933188" y="4398521"/>
            <a:ext cx="3794760" cy="2285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1000">
                <a:solidFill>
                  <a:srgbClr val="334155"/>
                </a:solidFill>
              </a:defRPr>
            </a:lvl1pPr>
          </a:lstStyle>
          <a:p>
            <a:pPr/>
            <a:r>
              <a:t>Ineffective for stock data; negative R² values.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60" name="Table 0"/>
          <p:cNvGraphicFramePr/>
          <p:nvPr/>
        </p:nvGraphicFramePr>
        <p:xfrm>
          <a:off x="1089282" y="2913168"/>
          <a:ext cx="7680961" cy="3922776"/>
        </p:xfrm>
        <a:graphic xmlns:a="http://schemas.openxmlformats.org/drawingml/2006/main">
          <a:graphicData uri="http://schemas.openxmlformats.org/drawingml/2006/table">
            <a:tbl>
              <a:tblPr firstCol="0" firstRow="0" lastCol="0" lastRow="0" bandCol="0" bandRow="0" rtl="0">
                <a:tableStyleId>{4C3C2611-4C71-4FC5-86AE-919BDF0F9419}</a:tableStyleId>
              </a:tblPr>
              <a:tblGrid>
                <a:gridCol w="2103120"/>
                <a:gridCol w="1005839"/>
                <a:gridCol w="1005839"/>
                <a:gridCol w="1005839"/>
                <a:gridCol w="1371600"/>
                <a:gridCol w="1188720"/>
              </a:tblGrid>
              <a:tr h="356616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</a:p>
                  </a:txBody>
                  <a:tcPr marL="0" marR="0" marT="0" marB="0" anchor="t" anchorCtr="0" horzOverflow="overflow">
                    <a:lnL w="12700">
                      <a:miter lim="400000"/>
                    </a:lnL>
                    <a:lnR w="12700">
                      <a:miter lim="400000"/>
                    </a:lnR>
                    <a:lnT w="12700">
                      <a:miter lim="400000"/>
                    </a:lnT>
                    <a:lnB w="12700">
                      <a:miter lim="400000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</a:p>
                  </a:txBody>
                  <a:tcPr marL="0" marR="0" marT="0" marB="0" anchor="t" anchorCtr="0" horzOverflow="overflow">
                    <a:lnL w="12700">
                      <a:miter lim="400000"/>
                    </a:lnL>
                    <a:lnR w="12700">
                      <a:miter lim="400000"/>
                    </a:lnR>
                    <a:lnT w="12700">
                      <a:miter lim="400000"/>
                    </a:lnT>
                    <a:lnB w="12700">
                      <a:miter lim="400000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</a:p>
                  </a:txBody>
                  <a:tcPr marL="0" marR="0" marT="0" marB="0" anchor="t" anchorCtr="0" horzOverflow="overflow">
                    <a:lnL w="12700">
                      <a:miter lim="400000"/>
                    </a:lnL>
                    <a:lnR w="12700">
                      <a:miter lim="400000"/>
                    </a:lnR>
                    <a:lnT w="12700">
                      <a:miter lim="400000"/>
                    </a:lnT>
                    <a:lnB w="12700">
                      <a:miter lim="400000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</a:p>
                  </a:txBody>
                  <a:tcPr marL="0" marR="0" marT="0" marB="0" anchor="t" anchorCtr="0" horzOverflow="overflow">
                    <a:lnL w="12700">
                      <a:miter lim="400000"/>
                    </a:lnL>
                    <a:lnR w="12700">
                      <a:miter lim="400000"/>
                    </a:lnR>
                    <a:lnT w="12700">
                      <a:miter lim="400000"/>
                    </a:lnT>
                    <a:lnB w="12700">
                      <a:miter lim="400000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</a:p>
                  </a:txBody>
                  <a:tcPr marL="0" marR="0" marT="0" marB="0" anchor="t" anchorCtr="0" horzOverflow="overflow">
                    <a:lnL w="12700">
                      <a:miter lim="400000"/>
                    </a:lnL>
                    <a:lnR w="12700">
                      <a:miter lim="400000"/>
                    </a:lnR>
                    <a:lnT w="12700">
                      <a:miter lim="400000"/>
                    </a:lnT>
                    <a:lnB w="12700">
                      <a:miter lim="400000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</a:p>
                  </a:txBody>
                  <a:tcPr marL="0" marR="0" marT="0" marB="0" anchor="t" anchorCtr="0" horzOverflow="overflow">
                    <a:lnL w="12700">
                      <a:miter lim="400000"/>
                    </a:lnL>
                    <a:lnR w="12700">
                      <a:miter lim="400000"/>
                    </a:lnR>
                    <a:lnT w="12700">
                      <a:miter lim="400000"/>
                    </a:lnT>
                    <a:lnB w="12700">
                      <a:miter lim="400000"/>
                    </a:lnB>
                    <a:noFill/>
                  </a:tcPr>
                </a:tc>
              </a:tr>
              <a:tr h="356616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</a:p>
                  </a:txBody>
                  <a:tcPr marL="0" marR="0" marT="0" marB="0" anchor="t" anchorCtr="0" horzOverflow="overflow">
                    <a:lnL w="12700">
                      <a:miter lim="400000"/>
                    </a:lnL>
                    <a:lnR w="12700">
                      <a:miter lim="400000"/>
                    </a:lnR>
                    <a:lnT w="12700">
                      <a:miter lim="400000"/>
                    </a:lnT>
                    <a:lnB w="12700">
                      <a:miter lim="400000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</a:p>
                  </a:txBody>
                  <a:tcPr marL="0" marR="0" marT="0" marB="0" anchor="t" anchorCtr="0" horzOverflow="overflow">
                    <a:lnL w="12700">
                      <a:miter lim="400000"/>
                    </a:lnL>
                    <a:lnR w="12700">
                      <a:miter lim="400000"/>
                    </a:lnR>
                    <a:lnT w="12700">
                      <a:miter lim="400000"/>
                    </a:lnT>
                    <a:lnB w="12700">
                      <a:miter lim="400000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</a:p>
                  </a:txBody>
                  <a:tcPr marL="0" marR="0" marT="0" marB="0" anchor="t" anchorCtr="0" horzOverflow="overflow">
                    <a:lnL w="12700">
                      <a:miter lim="400000"/>
                    </a:lnL>
                    <a:lnR w="12700">
                      <a:miter lim="400000"/>
                    </a:lnR>
                    <a:lnT w="12700">
                      <a:miter lim="400000"/>
                    </a:lnT>
                    <a:lnB w="12700">
                      <a:miter lim="400000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</a:p>
                  </a:txBody>
                  <a:tcPr marL="0" marR="0" marT="0" marB="0" anchor="t" anchorCtr="0" horzOverflow="overflow">
                    <a:lnL w="12700">
                      <a:miter lim="400000"/>
                    </a:lnL>
                    <a:lnR w="12700">
                      <a:miter lim="400000"/>
                    </a:lnR>
                    <a:lnT w="12700">
                      <a:miter lim="400000"/>
                    </a:lnT>
                    <a:lnB w="12700">
                      <a:miter lim="400000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</a:p>
                  </a:txBody>
                  <a:tcPr marL="0" marR="0" marT="0" marB="0" anchor="t" anchorCtr="0" horzOverflow="overflow">
                    <a:lnL w="12700">
                      <a:miter lim="400000"/>
                    </a:lnL>
                    <a:lnR w="12700">
                      <a:miter lim="400000"/>
                    </a:lnR>
                    <a:lnT w="12700">
                      <a:miter lim="400000"/>
                    </a:lnT>
                    <a:lnB w="12700">
                      <a:miter lim="400000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</a:p>
                  </a:txBody>
                  <a:tcPr marL="0" marR="0" marT="0" marB="0" anchor="t" anchorCtr="0" horzOverflow="overflow">
                    <a:lnL w="12700">
                      <a:miter lim="400000"/>
                    </a:lnL>
                    <a:lnR w="12700">
                      <a:miter lim="400000"/>
                    </a:lnR>
                    <a:lnT w="12700">
                      <a:miter lim="400000"/>
                    </a:lnT>
                    <a:lnB w="12700">
                      <a:miter lim="400000"/>
                    </a:lnB>
                    <a:noFill/>
                  </a:tcPr>
                </a:tc>
              </a:tr>
              <a:tr h="356616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</a:p>
                  </a:txBody>
                  <a:tcPr marL="0" marR="0" marT="0" marB="0" anchor="t" anchorCtr="0" horzOverflow="overflow">
                    <a:lnL w="12700">
                      <a:miter lim="400000"/>
                    </a:lnL>
                    <a:lnR w="12700">
                      <a:miter lim="400000"/>
                    </a:lnR>
                    <a:lnT w="12700">
                      <a:miter lim="400000"/>
                    </a:lnT>
                    <a:lnB w="12700">
                      <a:miter lim="400000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</a:p>
                  </a:txBody>
                  <a:tcPr marL="0" marR="0" marT="0" marB="0" anchor="t" anchorCtr="0" horzOverflow="overflow">
                    <a:lnL w="12700">
                      <a:miter lim="400000"/>
                    </a:lnL>
                    <a:lnR w="12700">
                      <a:miter lim="400000"/>
                    </a:lnR>
                    <a:lnT w="12700">
                      <a:miter lim="400000"/>
                    </a:lnT>
                    <a:lnB w="12700">
                      <a:miter lim="400000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</a:p>
                  </a:txBody>
                  <a:tcPr marL="0" marR="0" marT="0" marB="0" anchor="t" anchorCtr="0" horzOverflow="overflow">
                    <a:lnL w="12700">
                      <a:miter lim="400000"/>
                    </a:lnL>
                    <a:lnR w="12700">
                      <a:miter lim="400000"/>
                    </a:lnR>
                    <a:lnT w="12700">
                      <a:miter lim="400000"/>
                    </a:lnT>
                    <a:lnB w="12700">
                      <a:miter lim="400000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</a:p>
                  </a:txBody>
                  <a:tcPr marL="0" marR="0" marT="0" marB="0" anchor="t" anchorCtr="0" horzOverflow="overflow">
                    <a:lnL w="12700">
                      <a:miter lim="400000"/>
                    </a:lnL>
                    <a:lnR w="12700">
                      <a:miter lim="400000"/>
                    </a:lnR>
                    <a:lnT w="12700">
                      <a:miter lim="400000"/>
                    </a:lnT>
                    <a:lnB w="12700">
                      <a:miter lim="400000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</a:p>
                  </a:txBody>
                  <a:tcPr marL="0" marR="0" marT="0" marB="0" anchor="t" anchorCtr="0" horzOverflow="overflow">
                    <a:lnL w="12700">
                      <a:miter lim="400000"/>
                    </a:lnL>
                    <a:lnR w="12700">
                      <a:miter lim="400000"/>
                    </a:lnR>
                    <a:lnT w="12700">
                      <a:miter lim="400000"/>
                    </a:lnT>
                    <a:lnB w="12700">
                      <a:miter lim="400000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</a:p>
                  </a:txBody>
                  <a:tcPr marL="0" marR="0" marT="0" marB="0" anchor="t" anchorCtr="0" horzOverflow="overflow">
                    <a:lnL w="12700">
                      <a:miter lim="400000"/>
                    </a:lnL>
                    <a:lnR w="12700">
                      <a:miter lim="400000"/>
                    </a:lnR>
                    <a:lnT w="12700">
                      <a:miter lim="400000"/>
                    </a:lnT>
                    <a:lnB w="12700">
                      <a:miter lim="400000"/>
                    </a:lnB>
                    <a:noFill/>
                  </a:tcPr>
                </a:tc>
              </a:tr>
              <a:tr h="356616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</a:p>
                  </a:txBody>
                  <a:tcPr marL="0" marR="0" marT="0" marB="0" anchor="t" anchorCtr="0" horzOverflow="overflow">
                    <a:lnL w="12700">
                      <a:miter lim="400000"/>
                    </a:lnL>
                    <a:lnR w="12700">
                      <a:miter lim="400000"/>
                    </a:lnR>
                    <a:lnT w="12700">
                      <a:miter lim="400000"/>
                    </a:lnT>
                    <a:lnB w="12700">
                      <a:miter lim="400000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</a:p>
                  </a:txBody>
                  <a:tcPr marL="0" marR="0" marT="0" marB="0" anchor="t" anchorCtr="0" horzOverflow="overflow">
                    <a:lnL w="12700">
                      <a:miter lim="400000"/>
                    </a:lnL>
                    <a:lnR w="12700">
                      <a:miter lim="400000"/>
                    </a:lnR>
                    <a:lnT w="12700">
                      <a:miter lim="400000"/>
                    </a:lnT>
                    <a:lnB w="12700">
                      <a:miter lim="400000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</a:p>
                  </a:txBody>
                  <a:tcPr marL="0" marR="0" marT="0" marB="0" anchor="t" anchorCtr="0" horzOverflow="overflow">
                    <a:lnL w="12700">
                      <a:miter lim="400000"/>
                    </a:lnL>
                    <a:lnR w="12700">
                      <a:miter lim="400000"/>
                    </a:lnR>
                    <a:lnT w="12700">
                      <a:miter lim="400000"/>
                    </a:lnT>
                    <a:lnB w="12700">
                      <a:miter lim="400000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</a:p>
                  </a:txBody>
                  <a:tcPr marL="0" marR="0" marT="0" marB="0" anchor="t" anchorCtr="0" horzOverflow="overflow">
                    <a:lnL w="12700">
                      <a:miter lim="400000"/>
                    </a:lnL>
                    <a:lnR w="12700">
                      <a:miter lim="400000"/>
                    </a:lnR>
                    <a:lnT w="12700">
                      <a:miter lim="400000"/>
                    </a:lnT>
                    <a:lnB w="12700">
                      <a:miter lim="400000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</a:p>
                  </a:txBody>
                  <a:tcPr marL="0" marR="0" marT="0" marB="0" anchor="t" anchorCtr="0" horzOverflow="overflow">
                    <a:lnL w="12700">
                      <a:miter lim="400000"/>
                    </a:lnL>
                    <a:lnR w="12700">
                      <a:miter lim="400000"/>
                    </a:lnR>
                    <a:lnT w="12700">
                      <a:miter lim="400000"/>
                    </a:lnT>
                    <a:lnB w="12700">
                      <a:miter lim="400000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</a:p>
                  </a:txBody>
                  <a:tcPr marL="0" marR="0" marT="0" marB="0" anchor="t" anchorCtr="0" horzOverflow="overflow">
                    <a:lnL w="12700">
                      <a:miter lim="400000"/>
                    </a:lnL>
                    <a:lnR w="12700">
                      <a:miter lim="400000"/>
                    </a:lnR>
                    <a:lnT w="12700">
                      <a:miter lim="400000"/>
                    </a:lnT>
                    <a:lnB w="12700">
                      <a:miter lim="400000"/>
                    </a:lnB>
                    <a:noFill/>
                  </a:tcPr>
                </a:tc>
              </a:tr>
              <a:tr h="356616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</a:p>
                  </a:txBody>
                  <a:tcPr marL="0" marR="0" marT="0" marB="0" anchor="t" anchorCtr="0" horzOverflow="overflow">
                    <a:lnL w="12700">
                      <a:miter lim="400000"/>
                    </a:lnL>
                    <a:lnR w="12700">
                      <a:miter lim="400000"/>
                    </a:lnR>
                    <a:lnT w="12700">
                      <a:miter lim="400000"/>
                    </a:lnT>
                    <a:lnB w="12700">
                      <a:miter lim="400000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</a:p>
                  </a:txBody>
                  <a:tcPr marL="0" marR="0" marT="0" marB="0" anchor="t" anchorCtr="0" horzOverflow="overflow">
                    <a:lnL w="12700">
                      <a:miter lim="400000"/>
                    </a:lnL>
                    <a:lnR w="12700">
                      <a:miter lim="400000"/>
                    </a:lnR>
                    <a:lnT w="12700">
                      <a:miter lim="400000"/>
                    </a:lnT>
                    <a:lnB w="12700">
                      <a:miter lim="400000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</a:p>
                  </a:txBody>
                  <a:tcPr marL="0" marR="0" marT="0" marB="0" anchor="t" anchorCtr="0" horzOverflow="overflow">
                    <a:lnL w="12700">
                      <a:miter lim="400000"/>
                    </a:lnL>
                    <a:lnR w="12700">
                      <a:miter lim="400000"/>
                    </a:lnR>
                    <a:lnT w="12700">
                      <a:miter lim="400000"/>
                    </a:lnT>
                    <a:lnB w="12700">
                      <a:miter lim="400000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</a:p>
                  </a:txBody>
                  <a:tcPr marL="0" marR="0" marT="0" marB="0" anchor="t" anchorCtr="0" horzOverflow="overflow">
                    <a:lnL w="12700">
                      <a:miter lim="400000"/>
                    </a:lnL>
                    <a:lnR w="12700">
                      <a:miter lim="400000"/>
                    </a:lnR>
                    <a:lnT w="12700">
                      <a:miter lim="400000"/>
                    </a:lnT>
                    <a:lnB w="12700">
                      <a:miter lim="400000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</a:p>
                  </a:txBody>
                  <a:tcPr marL="0" marR="0" marT="0" marB="0" anchor="t" anchorCtr="0" horzOverflow="overflow">
                    <a:lnL w="12700">
                      <a:miter lim="400000"/>
                    </a:lnL>
                    <a:lnR w="12700">
                      <a:miter lim="400000"/>
                    </a:lnR>
                    <a:lnT w="12700">
                      <a:miter lim="400000"/>
                    </a:lnT>
                    <a:lnB w="12700">
                      <a:miter lim="400000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</a:p>
                  </a:txBody>
                  <a:tcPr marL="0" marR="0" marT="0" marB="0" anchor="t" anchorCtr="0" horzOverflow="overflow">
                    <a:lnL w="12700">
                      <a:miter lim="400000"/>
                    </a:lnL>
                    <a:lnR w="12700">
                      <a:miter lim="400000"/>
                    </a:lnR>
                    <a:lnT w="12700">
                      <a:miter lim="400000"/>
                    </a:lnT>
                    <a:lnB w="12700">
                      <a:miter lim="400000"/>
                    </a:lnB>
                    <a:noFill/>
                  </a:tcPr>
                </a:tc>
              </a:tr>
              <a:tr h="356616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</a:p>
                  </a:txBody>
                  <a:tcPr marL="0" marR="0" marT="0" marB="0" anchor="t" anchorCtr="0" horzOverflow="overflow">
                    <a:lnL w="12700">
                      <a:miter lim="400000"/>
                    </a:lnL>
                    <a:lnR w="12700">
                      <a:miter lim="400000"/>
                    </a:lnR>
                    <a:lnT w="12700">
                      <a:miter lim="400000"/>
                    </a:lnT>
                    <a:lnB w="12700">
                      <a:miter lim="400000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</a:p>
                  </a:txBody>
                  <a:tcPr marL="0" marR="0" marT="0" marB="0" anchor="t" anchorCtr="0" horzOverflow="overflow">
                    <a:lnL w="12700">
                      <a:miter lim="400000"/>
                    </a:lnL>
                    <a:lnR w="12700">
                      <a:miter lim="400000"/>
                    </a:lnR>
                    <a:lnT w="12700">
                      <a:miter lim="400000"/>
                    </a:lnT>
                    <a:lnB w="12700">
                      <a:miter lim="400000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</a:p>
                  </a:txBody>
                  <a:tcPr marL="0" marR="0" marT="0" marB="0" anchor="t" anchorCtr="0" horzOverflow="overflow">
                    <a:lnL w="12700">
                      <a:miter lim="400000"/>
                    </a:lnL>
                    <a:lnR w="12700">
                      <a:miter lim="400000"/>
                    </a:lnR>
                    <a:lnT w="12700">
                      <a:miter lim="400000"/>
                    </a:lnT>
                    <a:lnB w="12700">
                      <a:miter lim="400000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</a:p>
                  </a:txBody>
                  <a:tcPr marL="0" marR="0" marT="0" marB="0" anchor="t" anchorCtr="0" horzOverflow="overflow">
                    <a:lnL w="12700">
                      <a:miter lim="400000"/>
                    </a:lnL>
                    <a:lnR w="12700">
                      <a:miter lim="400000"/>
                    </a:lnR>
                    <a:lnT w="12700">
                      <a:miter lim="400000"/>
                    </a:lnT>
                    <a:lnB w="12700">
                      <a:miter lim="400000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</a:p>
                  </a:txBody>
                  <a:tcPr marL="0" marR="0" marT="0" marB="0" anchor="t" anchorCtr="0" horzOverflow="overflow">
                    <a:lnL w="12700">
                      <a:miter lim="400000"/>
                    </a:lnL>
                    <a:lnR w="12700">
                      <a:miter lim="400000"/>
                    </a:lnR>
                    <a:lnT w="12700">
                      <a:miter lim="400000"/>
                    </a:lnT>
                    <a:lnB w="12700">
                      <a:miter lim="400000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</a:p>
                  </a:txBody>
                  <a:tcPr marL="0" marR="0" marT="0" marB="0" anchor="t" anchorCtr="0" horzOverflow="overflow">
                    <a:lnL w="12700">
                      <a:miter lim="400000"/>
                    </a:lnL>
                    <a:lnR w="12700">
                      <a:miter lim="400000"/>
                    </a:lnR>
                    <a:lnT w="12700">
                      <a:miter lim="400000"/>
                    </a:lnT>
                    <a:lnB w="12700">
                      <a:miter lim="400000"/>
                    </a:lnB>
                    <a:noFill/>
                  </a:tcPr>
                </a:tc>
              </a:tr>
              <a:tr h="356616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</a:p>
                  </a:txBody>
                  <a:tcPr marL="0" marR="0" marT="0" marB="0" anchor="t" anchorCtr="0" horzOverflow="overflow">
                    <a:lnL w="12700">
                      <a:miter lim="400000"/>
                    </a:lnL>
                    <a:lnR w="12700">
                      <a:miter lim="400000"/>
                    </a:lnR>
                    <a:lnT w="12700">
                      <a:miter lim="400000"/>
                    </a:lnT>
                    <a:lnB w="12700">
                      <a:miter lim="400000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</a:p>
                  </a:txBody>
                  <a:tcPr marL="0" marR="0" marT="0" marB="0" anchor="t" anchorCtr="0" horzOverflow="overflow">
                    <a:lnL w="12700">
                      <a:miter lim="400000"/>
                    </a:lnL>
                    <a:lnR w="12700">
                      <a:miter lim="400000"/>
                    </a:lnR>
                    <a:lnT w="12700">
                      <a:miter lim="400000"/>
                    </a:lnT>
                    <a:lnB w="12700">
                      <a:miter lim="400000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</a:p>
                  </a:txBody>
                  <a:tcPr marL="0" marR="0" marT="0" marB="0" anchor="t" anchorCtr="0" horzOverflow="overflow">
                    <a:lnL w="12700">
                      <a:miter lim="400000"/>
                    </a:lnL>
                    <a:lnR w="12700">
                      <a:miter lim="400000"/>
                    </a:lnR>
                    <a:lnT w="12700">
                      <a:miter lim="400000"/>
                    </a:lnT>
                    <a:lnB w="12700">
                      <a:miter lim="400000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</a:p>
                  </a:txBody>
                  <a:tcPr marL="0" marR="0" marT="0" marB="0" anchor="t" anchorCtr="0" horzOverflow="overflow">
                    <a:lnL w="12700">
                      <a:miter lim="400000"/>
                    </a:lnL>
                    <a:lnR w="12700">
                      <a:miter lim="400000"/>
                    </a:lnR>
                    <a:lnT w="12700">
                      <a:miter lim="400000"/>
                    </a:lnT>
                    <a:lnB w="12700">
                      <a:miter lim="400000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</a:p>
                  </a:txBody>
                  <a:tcPr marL="0" marR="0" marT="0" marB="0" anchor="t" anchorCtr="0" horzOverflow="overflow">
                    <a:lnL w="12700">
                      <a:miter lim="400000"/>
                    </a:lnL>
                    <a:lnR w="12700">
                      <a:miter lim="400000"/>
                    </a:lnR>
                    <a:lnT w="12700">
                      <a:miter lim="400000"/>
                    </a:lnT>
                    <a:lnB w="12700">
                      <a:miter lim="400000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</a:p>
                  </a:txBody>
                  <a:tcPr marL="0" marR="0" marT="0" marB="0" anchor="t" anchorCtr="0" horzOverflow="overflow">
                    <a:lnL w="12700">
                      <a:miter lim="400000"/>
                    </a:lnL>
                    <a:lnR w="12700">
                      <a:miter lim="400000"/>
                    </a:lnR>
                    <a:lnT w="12700">
                      <a:miter lim="400000"/>
                    </a:lnT>
                    <a:lnB w="12700">
                      <a:miter lim="400000"/>
                    </a:lnB>
                    <a:noFill/>
                  </a:tcPr>
                </a:tc>
              </a:tr>
              <a:tr h="356616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</a:p>
                  </a:txBody>
                  <a:tcPr marL="0" marR="0" marT="0" marB="0" anchor="t" anchorCtr="0" horzOverflow="overflow">
                    <a:lnL w="12700">
                      <a:miter lim="400000"/>
                    </a:lnL>
                    <a:lnR w="12700">
                      <a:miter lim="400000"/>
                    </a:lnR>
                    <a:lnT w="12700">
                      <a:miter lim="400000"/>
                    </a:lnT>
                    <a:lnB w="12700">
                      <a:miter lim="400000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</a:p>
                  </a:txBody>
                  <a:tcPr marL="0" marR="0" marT="0" marB="0" anchor="t" anchorCtr="0" horzOverflow="overflow">
                    <a:lnL w="12700">
                      <a:miter lim="400000"/>
                    </a:lnL>
                    <a:lnR w="12700">
                      <a:miter lim="400000"/>
                    </a:lnR>
                    <a:lnT w="12700">
                      <a:miter lim="400000"/>
                    </a:lnT>
                    <a:lnB w="12700">
                      <a:miter lim="400000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</a:p>
                  </a:txBody>
                  <a:tcPr marL="0" marR="0" marT="0" marB="0" anchor="t" anchorCtr="0" horzOverflow="overflow">
                    <a:lnL w="12700">
                      <a:miter lim="400000"/>
                    </a:lnL>
                    <a:lnR w="12700">
                      <a:miter lim="400000"/>
                    </a:lnR>
                    <a:lnT w="12700">
                      <a:miter lim="400000"/>
                    </a:lnT>
                    <a:lnB w="12700">
                      <a:miter lim="400000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</a:p>
                  </a:txBody>
                  <a:tcPr marL="0" marR="0" marT="0" marB="0" anchor="t" anchorCtr="0" horzOverflow="overflow">
                    <a:lnL w="12700">
                      <a:miter lim="400000"/>
                    </a:lnL>
                    <a:lnR w="12700">
                      <a:miter lim="400000"/>
                    </a:lnR>
                    <a:lnT w="12700">
                      <a:miter lim="400000"/>
                    </a:lnT>
                    <a:lnB w="12700">
                      <a:miter lim="400000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</a:p>
                  </a:txBody>
                  <a:tcPr marL="0" marR="0" marT="0" marB="0" anchor="t" anchorCtr="0" horzOverflow="overflow">
                    <a:lnL w="12700">
                      <a:miter lim="400000"/>
                    </a:lnL>
                    <a:lnR w="12700">
                      <a:miter lim="400000"/>
                    </a:lnR>
                    <a:lnT w="12700">
                      <a:miter lim="400000"/>
                    </a:lnT>
                    <a:lnB w="12700">
                      <a:miter lim="400000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</a:p>
                  </a:txBody>
                  <a:tcPr marL="0" marR="0" marT="0" marB="0" anchor="t" anchorCtr="0" horzOverflow="overflow">
                    <a:lnL w="12700">
                      <a:miter lim="400000"/>
                    </a:lnL>
                    <a:lnR w="12700">
                      <a:miter lim="400000"/>
                    </a:lnR>
                    <a:lnT w="12700">
                      <a:miter lim="400000"/>
                    </a:lnT>
                    <a:lnB w="12700">
                      <a:miter lim="400000"/>
                    </a:lnB>
                    <a:noFill/>
                  </a:tcPr>
                </a:tc>
              </a:tr>
              <a:tr h="356616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</a:p>
                  </a:txBody>
                  <a:tcPr marL="0" marR="0" marT="0" marB="0" anchor="t" anchorCtr="0" horzOverflow="overflow">
                    <a:lnL w="12700">
                      <a:miter lim="400000"/>
                    </a:lnL>
                    <a:lnR w="12700">
                      <a:miter lim="400000"/>
                    </a:lnR>
                    <a:lnT w="12700">
                      <a:miter lim="400000"/>
                    </a:lnT>
                    <a:lnB w="12700">
                      <a:miter lim="400000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</a:p>
                  </a:txBody>
                  <a:tcPr marL="0" marR="0" marT="0" marB="0" anchor="t" anchorCtr="0" horzOverflow="overflow">
                    <a:lnL w="12700">
                      <a:miter lim="400000"/>
                    </a:lnL>
                    <a:lnR w="12700">
                      <a:miter lim="400000"/>
                    </a:lnR>
                    <a:lnT w="12700">
                      <a:miter lim="400000"/>
                    </a:lnT>
                    <a:lnB w="12700">
                      <a:miter lim="400000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</a:p>
                  </a:txBody>
                  <a:tcPr marL="0" marR="0" marT="0" marB="0" anchor="t" anchorCtr="0" horzOverflow="overflow">
                    <a:lnL w="12700">
                      <a:miter lim="400000"/>
                    </a:lnL>
                    <a:lnR w="12700">
                      <a:miter lim="400000"/>
                    </a:lnR>
                    <a:lnT w="12700">
                      <a:miter lim="400000"/>
                    </a:lnT>
                    <a:lnB w="12700">
                      <a:miter lim="400000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</a:p>
                  </a:txBody>
                  <a:tcPr marL="0" marR="0" marT="0" marB="0" anchor="t" anchorCtr="0" horzOverflow="overflow">
                    <a:lnL w="12700">
                      <a:miter lim="400000"/>
                    </a:lnL>
                    <a:lnR w="12700">
                      <a:miter lim="400000"/>
                    </a:lnR>
                    <a:lnT w="12700">
                      <a:miter lim="400000"/>
                    </a:lnT>
                    <a:lnB w="12700">
                      <a:miter lim="400000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</a:p>
                  </a:txBody>
                  <a:tcPr marL="0" marR="0" marT="0" marB="0" anchor="t" anchorCtr="0" horzOverflow="overflow">
                    <a:lnL w="12700">
                      <a:miter lim="400000"/>
                    </a:lnL>
                    <a:lnR w="12700">
                      <a:miter lim="400000"/>
                    </a:lnR>
                    <a:lnT w="12700">
                      <a:miter lim="400000"/>
                    </a:lnT>
                    <a:lnB w="12700">
                      <a:miter lim="400000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</a:p>
                  </a:txBody>
                  <a:tcPr marL="0" marR="0" marT="0" marB="0" anchor="t" anchorCtr="0" horzOverflow="overflow">
                    <a:lnL w="12700">
                      <a:miter lim="400000"/>
                    </a:lnL>
                    <a:lnR w="12700">
                      <a:miter lim="400000"/>
                    </a:lnR>
                    <a:lnT w="12700">
                      <a:miter lim="400000"/>
                    </a:lnT>
                    <a:lnB w="12700">
                      <a:miter lim="400000"/>
                    </a:lnB>
                    <a:noFill/>
                  </a:tcPr>
                </a:tc>
              </a:tr>
              <a:tr h="356616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</a:p>
                  </a:txBody>
                  <a:tcPr marL="0" marR="0" marT="0" marB="0" anchor="t" anchorCtr="0" horzOverflow="overflow">
                    <a:lnL w="12700">
                      <a:miter lim="400000"/>
                    </a:lnL>
                    <a:lnR w="12700">
                      <a:miter lim="400000"/>
                    </a:lnR>
                    <a:lnT w="12700">
                      <a:miter lim="400000"/>
                    </a:lnT>
                    <a:lnB w="12700">
                      <a:miter lim="400000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</a:p>
                  </a:txBody>
                  <a:tcPr marL="0" marR="0" marT="0" marB="0" anchor="t" anchorCtr="0" horzOverflow="overflow">
                    <a:lnL w="12700">
                      <a:miter lim="400000"/>
                    </a:lnL>
                    <a:lnR w="12700">
                      <a:miter lim="400000"/>
                    </a:lnR>
                    <a:lnT w="12700">
                      <a:miter lim="400000"/>
                    </a:lnT>
                    <a:lnB w="12700">
                      <a:miter lim="400000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</a:p>
                  </a:txBody>
                  <a:tcPr marL="0" marR="0" marT="0" marB="0" anchor="t" anchorCtr="0" horzOverflow="overflow">
                    <a:lnL w="12700">
                      <a:miter lim="400000"/>
                    </a:lnL>
                    <a:lnR w="12700">
                      <a:miter lim="400000"/>
                    </a:lnR>
                    <a:lnT w="12700">
                      <a:miter lim="400000"/>
                    </a:lnT>
                    <a:lnB w="12700">
                      <a:miter lim="400000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</a:p>
                  </a:txBody>
                  <a:tcPr marL="0" marR="0" marT="0" marB="0" anchor="t" anchorCtr="0" horzOverflow="overflow">
                    <a:lnL w="12700">
                      <a:miter lim="400000"/>
                    </a:lnL>
                    <a:lnR w="12700">
                      <a:miter lim="400000"/>
                    </a:lnR>
                    <a:lnT w="12700">
                      <a:miter lim="400000"/>
                    </a:lnT>
                    <a:lnB w="12700">
                      <a:miter lim="400000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</a:p>
                  </a:txBody>
                  <a:tcPr marL="0" marR="0" marT="0" marB="0" anchor="t" anchorCtr="0" horzOverflow="overflow">
                    <a:lnL w="12700">
                      <a:miter lim="400000"/>
                    </a:lnL>
                    <a:lnR w="12700">
                      <a:miter lim="400000"/>
                    </a:lnR>
                    <a:lnT w="12700">
                      <a:miter lim="400000"/>
                    </a:lnT>
                    <a:lnB w="12700">
                      <a:miter lim="400000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</a:p>
                  </a:txBody>
                  <a:tcPr marL="0" marR="0" marT="0" marB="0" anchor="t" anchorCtr="0" horzOverflow="overflow">
                    <a:lnL w="12700">
                      <a:miter lim="400000"/>
                    </a:lnL>
                    <a:lnR w="12700">
                      <a:miter lim="400000"/>
                    </a:lnR>
                    <a:lnT w="12700">
                      <a:miter lim="400000"/>
                    </a:lnT>
                    <a:lnB w="12700">
                      <a:miter lim="400000"/>
                    </a:lnB>
                    <a:noFill/>
                  </a:tcPr>
                </a:tc>
              </a:tr>
              <a:tr h="356616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</a:p>
                  </a:txBody>
                  <a:tcPr marL="0" marR="0" marT="0" marB="0" anchor="t" anchorCtr="0" horzOverflow="overflow">
                    <a:lnL w="12700">
                      <a:miter lim="400000"/>
                    </a:lnL>
                    <a:lnR w="12700">
                      <a:miter lim="400000"/>
                    </a:lnR>
                    <a:lnT w="12700">
                      <a:miter lim="400000"/>
                    </a:lnT>
                    <a:lnB w="12700">
                      <a:miter lim="400000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</a:p>
                  </a:txBody>
                  <a:tcPr marL="0" marR="0" marT="0" marB="0" anchor="t" anchorCtr="0" horzOverflow="overflow">
                    <a:lnL w="12700">
                      <a:miter lim="400000"/>
                    </a:lnL>
                    <a:lnR w="12700">
                      <a:miter lim="400000"/>
                    </a:lnR>
                    <a:lnT w="12700">
                      <a:miter lim="400000"/>
                    </a:lnT>
                    <a:lnB w="12700">
                      <a:miter lim="400000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</a:p>
                  </a:txBody>
                  <a:tcPr marL="0" marR="0" marT="0" marB="0" anchor="t" anchorCtr="0" horzOverflow="overflow">
                    <a:lnL w="12700">
                      <a:miter lim="400000"/>
                    </a:lnL>
                    <a:lnR w="12700">
                      <a:miter lim="400000"/>
                    </a:lnR>
                    <a:lnT w="12700">
                      <a:miter lim="400000"/>
                    </a:lnT>
                    <a:lnB w="12700">
                      <a:miter lim="400000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</a:p>
                  </a:txBody>
                  <a:tcPr marL="0" marR="0" marT="0" marB="0" anchor="t" anchorCtr="0" horzOverflow="overflow">
                    <a:lnL w="12700">
                      <a:miter lim="400000"/>
                    </a:lnL>
                    <a:lnR w="12700">
                      <a:miter lim="400000"/>
                    </a:lnR>
                    <a:lnT w="12700">
                      <a:miter lim="400000"/>
                    </a:lnT>
                    <a:lnB w="12700">
                      <a:miter lim="400000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</a:p>
                  </a:txBody>
                  <a:tcPr marL="0" marR="0" marT="0" marB="0" anchor="t" anchorCtr="0" horzOverflow="overflow">
                    <a:lnL w="12700">
                      <a:miter lim="400000"/>
                    </a:lnL>
                    <a:lnR w="12700">
                      <a:miter lim="400000"/>
                    </a:lnR>
                    <a:lnT w="12700">
                      <a:miter lim="400000"/>
                    </a:lnT>
                    <a:lnB w="12700">
                      <a:miter lim="400000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</a:p>
                  </a:txBody>
                  <a:tcPr marL="0" marR="0" marT="0" marB="0" anchor="t" anchorCtr="0" horzOverflow="overflow">
                    <a:lnL w="12700">
                      <a:miter lim="400000"/>
                    </a:lnL>
                    <a:lnR w="12700">
                      <a:miter lim="400000"/>
                    </a:lnR>
                    <a:lnT w="12700">
                      <a:miter lim="400000"/>
                    </a:lnT>
                    <a:lnB w="12700">
                      <a:miter lim="400000"/>
                    </a:lnB>
                    <a:noFill/>
                  </a:tcPr>
                </a:tc>
              </a:tr>
            </a:tbl>
          </a:graphicData>
        </a:graphic>
      </p:graphicFrame>
      <p:pic>
        <p:nvPicPr>
          <p:cNvPr id="261" name="Image 0" descr="Image 0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-1" y="0"/>
            <a:ext cx="9144001" cy="5143501"/>
          </a:xfrm>
          <a:prstGeom prst="rect">
            <a:avLst/>
          </a:prstGeom>
          <a:ln w="12700">
            <a:miter lim="400000"/>
          </a:ln>
        </p:spPr>
      </p:pic>
      <p:graphicFrame>
        <p:nvGraphicFramePr>
          <p:cNvPr id="262" name="Table 0"/>
          <p:cNvGraphicFramePr/>
          <p:nvPr/>
        </p:nvGraphicFramePr>
        <p:xfrm>
          <a:off x="309880" y="854139"/>
          <a:ext cx="7680960" cy="3922776"/>
        </p:xfrm>
        <a:graphic xmlns:a="http://schemas.openxmlformats.org/drawingml/2006/main">
          <a:graphicData uri="http://schemas.openxmlformats.org/drawingml/2006/table">
            <a:tbl>
              <a:tblPr firstCol="0" firstRow="0" lastCol="0" lastRow="0" bandCol="0" bandRow="0" rtl="0">
                <a:tableStyleId>{4C3C2611-4C71-4FC5-86AE-919BDF0F9419}</a:tableStyleId>
              </a:tblPr>
              <a:tblGrid>
                <a:gridCol w="2103120"/>
                <a:gridCol w="1005839"/>
                <a:gridCol w="1005839"/>
                <a:gridCol w="1005839"/>
                <a:gridCol w="1371600"/>
                <a:gridCol w="1188720"/>
              </a:tblGrid>
              <a:tr h="356616"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b="1" sz="1000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Model</a:t>
                      </a:r>
                    </a:p>
                  </a:txBody>
                  <a:tcPr marL="45720" marR="45720" marT="45720" marB="45720" anchor="t" anchorCtr="0" horzOverflow="overflow">
                    <a:lnL w="6350">
                      <a:solidFill>
                        <a:srgbClr val="E0E0E0"/>
                      </a:solidFill>
                    </a:lnL>
                    <a:lnR w="6350">
                      <a:solidFill>
                        <a:srgbClr val="E0E0E0"/>
                      </a:solidFill>
                    </a:lnR>
                    <a:lnT w="6350">
                      <a:solidFill>
                        <a:srgbClr val="E0E0E0"/>
                      </a:solidFill>
                    </a:lnT>
                    <a:lnB w="6350">
                      <a:solidFill>
                        <a:srgbClr val="E0E0E0"/>
                      </a:solidFill>
                    </a:lnB>
                    <a:solidFill>
                      <a:srgbClr val="E8431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b="1" sz="1000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RMSE</a:t>
                      </a:r>
                    </a:p>
                  </a:txBody>
                  <a:tcPr marL="45720" marR="45720" marT="45720" marB="45720" anchor="t" anchorCtr="0" horzOverflow="overflow">
                    <a:lnL w="6350">
                      <a:solidFill>
                        <a:srgbClr val="E0E0E0"/>
                      </a:solidFill>
                    </a:lnL>
                    <a:lnR w="6350">
                      <a:solidFill>
                        <a:srgbClr val="E0E0E0"/>
                      </a:solidFill>
                    </a:lnR>
                    <a:lnT w="6350">
                      <a:solidFill>
                        <a:srgbClr val="E0E0E0"/>
                      </a:solidFill>
                    </a:lnT>
                    <a:lnB w="6350">
                      <a:solidFill>
                        <a:srgbClr val="E0E0E0"/>
                      </a:solidFill>
                    </a:lnB>
                    <a:solidFill>
                      <a:srgbClr val="E8431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b="1" sz="1000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MAE</a:t>
                      </a:r>
                    </a:p>
                  </a:txBody>
                  <a:tcPr marL="45720" marR="45720" marT="45720" marB="45720" anchor="t" anchorCtr="0" horzOverflow="overflow">
                    <a:lnL w="6350">
                      <a:solidFill>
                        <a:srgbClr val="E0E0E0"/>
                      </a:solidFill>
                    </a:lnL>
                    <a:lnR w="6350">
                      <a:solidFill>
                        <a:srgbClr val="E0E0E0"/>
                      </a:solidFill>
                    </a:lnR>
                    <a:lnT w="6350">
                      <a:solidFill>
                        <a:srgbClr val="E0E0E0"/>
                      </a:solidFill>
                    </a:lnT>
                    <a:lnB w="6350">
                      <a:solidFill>
                        <a:srgbClr val="E0E0E0"/>
                      </a:solidFill>
                    </a:lnB>
                    <a:solidFill>
                      <a:srgbClr val="E8431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b="1" sz="1000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R²</a:t>
                      </a:r>
                    </a:p>
                  </a:txBody>
                  <a:tcPr marL="45720" marR="45720" marT="45720" marB="45720" anchor="t" anchorCtr="0" horzOverflow="overflow">
                    <a:lnL w="6350">
                      <a:solidFill>
                        <a:srgbClr val="E0E0E0"/>
                      </a:solidFill>
                    </a:lnL>
                    <a:lnR w="6350">
                      <a:solidFill>
                        <a:srgbClr val="E0E0E0"/>
                      </a:solidFill>
                    </a:lnR>
                    <a:lnT w="6350">
                      <a:solidFill>
                        <a:srgbClr val="E0E0E0"/>
                      </a:solidFill>
                    </a:lnT>
                    <a:lnB w="6350">
                      <a:solidFill>
                        <a:srgbClr val="E0E0E0"/>
                      </a:solidFill>
                    </a:lnB>
                    <a:solidFill>
                      <a:srgbClr val="E8431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b="1" sz="1000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Directional Acc.</a:t>
                      </a:r>
                    </a:p>
                  </a:txBody>
                  <a:tcPr marL="45720" marR="45720" marT="45720" marB="45720" anchor="t" anchorCtr="0" horzOverflow="overflow">
                    <a:lnL w="6350">
                      <a:solidFill>
                        <a:srgbClr val="E0E0E0"/>
                      </a:solidFill>
                    </a:lnL>
                    <a:lnR w="6350">
                      <a:solidFill>
                        <a:srgbClr val="E0E0E0"/>
                      </a:solidFill>
                    </a:lnR>
                    <a:lnT w="6350">
                      <a:solidFill>
                        <a:srgbClr val="E0E0E0"/>
                      </a:solidFill>
                    </a:lnT>
                    <a:lnB w="6350">
                      <a:solidFill>
                        <a:srgbClr val="E0E0E0"/>
                      </a:solidFill>
                    </a:lnB>
                    <a:solidFill>
                      <a:srgbClr val="E8431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b="1" sz="1000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Verdict</a:t>
                      </a:r>
                    </a:p>
                  </a:txBody>
                  <a:tcPr marL="45720" marR="45720" marT="45720" marB="45720" anchor="t" anchorCtr="0" horzOverflow="overflow">
                    <a:lnL w="6350">
                      <a:solidFill>
                        <a:srgbClr val="E0E0E0"/>
                      </a:solidFill>
                    </a:lnL>
                    <a:lnR w="6350">
                      <a:solidFill>
                        <a:srgbClr val="E0E0E0"/>
                      </a:solidFill>
                    </a:lnR>
                    <a:lnT w="6350">
                      <a:solidFill>
                        <a:srgbClr val="E0E0E0"/>
                      </a:solidFill>
                    </a:lnT>
                    <a:lnB w="6350">
                      <a:solidFill>
                        <a:srgbClr val="E0E0E0"/>
                      </a:solidFill>
                    </a:lnB>
                    <a:solidFill>
                      <a:srgbClr val="E8431A"/>
                    </a:solidFill>
                  </a:tcPr>
                </a:tc>
              </a:tr>
              <a:tr h="356616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b="1" sz="1000">
                          <a:solidFill>
                            <a:srgbClr val="16A34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LSTM (TCS.NS)</a:t>
                      </a:r>
                    </a:p>
                  </a:txBody>
                  <a:tcPr marL="45720" marR="45720" marT="45720" marB="45720" anchor="t" anchorCtr="0" horzOverflow="overflow">
                    <a:lnL w="6350">
                      <a:solidFill>
                        <a:srgbClr val="E0E0E0"/>
                      </a:solidFill>
                    </a:lnL>
                    <a:lnR w="6350">
                      <a:solidFill>
                        <a:srgbClr val="E0E0E0"/>
                      </a:solidFill>
                    </a:lnR>
                    <a:lnT w="6350">
                      <a:solidFill>
                        <a:srgbClr val="E0E0E0"/>
                      </a:solidFill>
                    </a:lnT>
                    <a:lnB w="6350">
                      <a:solidFill>
                        <a:srgbClr val="E0E0E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000">
                          <a:latin typeface="Arial"/>
                          <a:ea typeface="Arial"/>
                          <a:cs typeface="Arial"/>
                          <a:sym typeface="Arial"/>
                        </a:rPr>
                        <a:t>89.81</a:t>
                      </a:r>
                    </a:p>
                  </a:txBody>
                  <a:tcPr marL="45720" marR="45720" marT="45720" marB="45720" anchor="t" anchorCtr="0" horzOverflow="overflow">
                    <a:lnL w="6350">
                      <a:solidFill>
                        <a:srgbClr val="E0E0E0"/>
                      </a:solidFill>
                    </a:lnL>
                    <a:lnR w="6350">
                      <a:solidFill>
                        <a:srgbClr val="E0E0E0"/>
                      </a:solidFill>
                    </a:lnR>
                    <a:lnT w="6350">
                      <a:solidFill>
                        <a:srgbClr val="E0E0E0"/>
                      </a:solidFill>
                    </a:lnT>
                    <a:lnB w="6350">
                      <a:solidFill>
                        <a:srgbClr val="E0E0E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000">
                          <a:latin typeface="Arial"/>
                          <a:ea typeface="Arial"/>
                          <a:cs typeface="Arial"/>
                          <a:sym typeface="Arial"/>
                        </a:rPr>
                        <a:t>89.12</a:t>
                      </a:r>
                    </a:p>
                  </a:txBody>
                  <a:tcPr marL="45720" marR="45720" marT="45720" marB="45720" anchor="t" anchorCtr="0" horzOverflow="overflow">
                    <a:lnL w="6350">
                      <a:solidFill>
                        <a:srgbClr val="E0E0E0"/>
                      </a:solidFill>
                    </a:lnL>
                    <a:lnR w="6350">
                      <a:solidFill>
                        <a:srgbClr val="E0E0E0"/>
                      </a:solidFill>
                    </a:lnR>
                    <a:lnT w="6350">
                      <a:solidFill>
                        <a:srgbClr val="E0E0E0"/>
                      </a:solidFill>
                    </a:lnT>
                    <a:lnB w="6350">
                      <a:solidFill>
                        <a:srgbClr val="E0E0E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000">
                          <a:latin typeface="Arial"/>
                          <a:ea typeface="Arial"/>
                          <a:cs typeface="Arial"/>
                          <a:sym typeface="Arial"/>
                        </a:rPr>
                        <a:t>0.8977</a:t>
                      </a:r>
                    </a:p>
                  </a:txBody>
                  <a:tcPr marL="45720" marR="45720" marT="45720" marB="45720" anchor="t" anchorCtr="0" horzOverflow="overflow">
                    <a:lnL w="6350">
                      <a:solidFill>
                        <a:srgbClr val="E0E0E0"/>
                      </a:solidFill>
                    </a:lnL>
                    <a:lnR w="6350">
                      <a:solidFill>
                        <a:srgbClr val="E0E0E0"/>
                      </a:solidFill>
                    </a:lnR>
                    <a:lnT w="6350">
                      <a:solidFill>
                        <a:srgbClr val="E0E0E0"/>
                      </a:solidFill>
                    </a:lnT>
                    <a:lnB w="6350">
                      <a:solidFill>
                        <a:srgbClr val="E0E0E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000">
                          <a:latin typeface="Arial"/>
                          <a:ea typeface="Arial"/>
                          <a:cs typeface="Arial"/>
                          <a:sym typeface="Arial"/>
                        </a:rPr>
                        <a:t>—</a:t>
                      </a:r>
                    </a:p>
                  </a:txBody>
                  <a:tcPr marL="45720" marR="45720" marT="45720" marB="45720" anchor="t" anchorCtr="0" horzOverflow="overflow">
                    <a:lnL w="6350">
                      <a:solidFill>
                        <a:srgbClr val="E0E0E0"/>
                      </a:solidFill>
                    </a:lnL>
                    <a:lnR w="6350">
                      <a:solidFill>
                        <a:srgbClr val="E0E0E0"/>
                      </a:solidFill>
                    </a:lnR>
                    <a:lnT w="6350">
                      <a:solidFill>
                        <a:srgbClr val="E0E0E0"/>
                      </a:solidFill>
                    </a:lnT>
                    <a:lnB w="6350">
                      <a:solidFill>
                        <a:srgbClr val="E0E0E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b="1" sz="1000">
                          <a:solidFill>
                            <a:srgbClr val="16A34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Best</a:t>
                      </a:r>
                    </a:p>
                  </a:txBody>
                  <a:tcPr marL="45720" marR="45720" marT="45720" marB="45720" anchor="t" anchorCtr="0" horzOverflow="overflow">
                    <a:lnL w="6350">
                      <a:solidFill>
                        <a:srgbClr val="E0E0E0"/>
                      </a:solidFill>
                    </a:lnL>
                    <a:lnR w="6350">
                      <a:solidFill>
                        <a:srgbClr val="E0E0E0"/>
                      </a:solidFill>
                    </a:lnR>
                    <a:lnT w="6350">
                      <a:solidFill>
                        <a:srgbClr val="E0E0E0"/>
                      </a:solidFill>
                    </a:lnT>
                    <a:lnB w="6350">
                      <a:solidFill>
                        <a:srgbClr val="E0E0E0"/>
                      </a:solidFill>
                    </a:lnB>
                    <a:noFill/>
                  </a:tcPr>
                </a:tc>
              </a:tr>
              <a:tr h="356616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000">
                          <a:latin typeface="Arial"/>
                          <a:ea typeface="Arial"/>
                          <a:cs typeface="Arial"/>
                          <a:sym typeface="Arial"/>
                        </a:rPr>
                        <a:t>SVR</a:t>
                      </a:r>
                    </a:p>
                  </a:txBody>
                  <a:tcPr marL="45720" marR="45720" marT="45720" marB="45720" anchor="t" anchorCtr="0" horzOverflow="overflow">
                    <a:lnL w="6350">
                      <a:solidFill>
                        <a:srgbClr val="E0E0E0"/>
                      </a:solidFill>
                    </a:lnL>
                    <a:lnR w="6350">
                      <a:solidFill>
                        <a:srgbClr val="E0E0E0"/>
                      </a:solidFill>
                    </a:lnR>
                    <a:lnT w="6350">
                      <a:solidFill>
                        <a:srgbClr val="E0E0E0"/>
                      </a:solidFill>
                    </a:lnT>
                    <a:lnB w="6350">
                      <a:solidFill>
                        <a:srgbClr val="E0E0E0"/>
                      </a:solidFill>
                    </a:lnB>
                    <a:solidFill>
                      <a:srgbClr val="FFF5F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000">
                          <a:latin typeface="Arial"/>
                          <a:ea typeface="Arial"/>
                          <a:cs typeface="Arial"/>
                          <a:sym typeface="Arial"/>
                        </a:rPr>
                        <a:t>59.26</a:t>
                      </a:r>
                    </a:p>
                  </a:txBody>
                  <a:tcPr marL="45720" marR="45720" marT="45720" marB="45720" anchor="t" anchorCtr="0" horzOverflow="overflow">
                    <a:lnL w="6350">
                      <a:solidFill>
                        <a:srgbClr val="E0E0E0"/>
                      </a:solidFill>
                    </a:lnL>
                    <a:lnR w="6350">
                      <a:solidFill>
                        <a:srgbClr val="E0E0E0"/>
                      </a:solidFill>
                    </a:lnR>
                    <a:lnT w="6350">
                      <a:solidFill>
                        <a:srgbClr val="E0E0E0"/>
                      </a:solidFill>
                    </a:lnT>
                    <a:lnB w="6350">
                      <a:solidFill>
                        <a:srgbClr val="E0E0E0"/>
                      </a:solidFill>
                    </a:lnB>
                    <a:solidFill>
                      <a:srgbClr val="FFF5F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000">
                          <a:latin typeface="Arial"/>
                          <a:ea typeface="Arial"/>
                          <a:cs typeface="Arial"/>
                          <a:sym typeface="Arial"/>
                        </a:rPr>
                        <a:t>65.12</a:t>
                      </a:r>
                    </a:p>
                  </a:txBody>
                  <a:tcPr marL="45720" marR="45720" marT="45720" marB="45720" anchor="t" anchorCtr="0" horzOverflow="overflow">
                    <a:lnL w="6350">
                      <a:solidFill>
                        <a:srgbClr val="E0E0E0"/>
                      </a:solidFill>
                    </a:lnL>
                    <a:lnR w="6350">
                      <a:solidFill>
                        <a:srgbClr val="E0E0E0"/>
                      </a:solidFill>
                    </a:lnR>
                    <a:lnT w="6350">
                      <a:solidFill>
                        <a:srgbClr val="E0E0E0"/>
                      </a:solidFill>
                    </a:lnT>
                    <a:lnB w="6350">
                      <a:solidFill>
                        <a:srgbClr val="E0E0E0"/>
                      </a:solidFill>
                    </a:lnB>
                    <a:solidFill>
                      <a:srgbClr val="FFF5F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000">
                          <a:latin typeface="Arial"/>
                          <a:ea typeface="Arial"/>
                          <a:cs typeface="Arial"/>
                          <a:sym typeface="Arial"/>
                        </a:rPr>
                        <a:t>0.8804</a:t>
                      </a:r>
                    </a:p>
                  </a:txBody>
                  <a:tcPr marL="45720" marR="45720" marT="45720" marB="45720" anchor="t" anchorCtr="0" horzOverflow="overflow">
                    <a:lnL w="6350">
                      <a:solidFill>
                        <a:srgbClr val="E0E0E0"/>
                      </a:solidFill>
                    </a:lnL>
                    <a:lnR w="6350">
                      <a:solidFill>
                        <a:srgbClr val="E0E0E0"/>
                      </a:solidFill>
                    </a:lnR>
                    <a:lnT w="6350">
                      <a:solidFill>
                        <a:srgbClr val="E0E0E0"/>
                      </a:solidFill>
                    </a:lnT>
                    <a:lnB w="6350">
                      <a:solidFill>
                        <a:srgbClr val="E0E0E0"/>
                      </a:solidFill>
                    </a:lnB>
                    <a:solidFill>
                      <a:srgbClr val="FFF5F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000">
                          <a:latin typeface="Arial"/>
                          <a:ea typeface="Arial"/>
                          <a:cs typeface="Arial"/>
                          <a:sym typeface="Arial"/>
                        </a:rPr>
                        <a:t>0.503</a:t>
                      </a:r>
                    </a:p>
                  </a:txBody>
                  <a:tcPr marL="45720" marR="45720" marT="45720" marB="45720" anchor="t" anchorCtr="0" horzOverflow="overflow">
                    <a:lnL w="6350">
                      <a:solidFill>
                        <a:srgbClr val="E0E0E0"/>
                      </a:solidFill>
                    </a:lnL>
                    <a:lnR w="6350">
                      <a:solidFill>
                        <a:srgbClr val="E0E0E0"/>
                      </a:solidFill>
                    </a:lnR>
                    <a:lnT w="6350">
                      <a:solidFill>
                        <a:srgbClr val="E0E0E0"/>
                      </a:solidFill>
                    </a:lnT>
                    <a:lnB w="6350">
                      <a:solidFill>
                        <a:srgbClr val="E0E0E0"/>
                      </a:solidFill>
                    </a:lnB>
                    <a:solidFill>
                      <a:srgbClr val="FFF5F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000">
                          <a:solidFill>
                            <a:srgbClr val="2563EB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Good</a:t>
                      </a:r>
                    </a:p>
                  </a:txBody>
                  <a:tcPr marL="45720" marR="45720" marT="45720" marB="45720" anchor="t" anchorCtr="0" horzOverflow="overflow">
                    <a:lnL w="6350">
                      <a:solidFill>
                        <a:srgbClr val="E0E0E0"/>
                      </a:solidFill>
                    </a:lnL>
                    <a:lnR w="6350">
                      <a:solidFill>
                        <a:srgbClr val="E0E0E0"/>
                      </a:solidFill>
                    </a:lnR>
                    <a:lnT w="6350">
                      <a:solidFill>
                        <a:srgbClr val="E0E0E0"/>
                      </a:solidFill>
                    </a:lnT>
                    <a:lnB w="6350">
                      <a:solidFill>
                        <a:srgbClr val="E0E0E0"/>
                      </a:solidFill>
                    </a:lnB>
                    <a:solidFill>
                      <a:srgbClr val="FFF5F5"/>
                    </a:solidFill>
                  </a:tcPr>
                </a:tc>
              </a:tr>
              <a:tr h="356616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000">
                          <a:latin typeface="Arial"/>
                          <a:ea typeface="Arial"/>
                          <a:cs typeface="Arial"/>
                          <a:sym typeface="Arial"/>
                        </a:rPr>
                        <a:t>Gradient Boosting</a:t>
                      </a:r>
                    </a:p>
                  </a:txBody>
                  <a:tcPr marL="45720" marR="45720" marT="45720" marB="45720" anchor="t" anchorCtr="0" horzOverflow="overflow">
                    <a:lnL w="6350">
                      <a:solidFill>
                        <a:srgbClr val="E0E0E0"/>
                      </a:solidFill>
                    </a:lnL>
                    <a:lnR w="6350">
                      <a:solidFill>
                        <a:srgbClr val="E0E0E0"/>
                      </a:solidFill>
                    </a:lnR>
                    <a:lnT w="6350">
                      <a:solidFill>
                        <a:srgbClr val="E0E0E0"/>
                      </a:solidFill>
                    </a:lnT>
                    <a:lnB w="6350">
                      <a:solidFill>
                        <a:srgbClr val="E0E0E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000">
                          <a:latin typeface="Arial"/>
                          <a:ea typeface="Arial"/>
                          <a:cs typeface="Arial"/>
                          <a:sym typeface="Arial"/>
                        </a:rPr>
                        <a:t>82.07</a:t>
                      </a:r>
                    </a:p>
                  </a:txBody>
                  <a:tcPr marL="45720" marR="45720" marT="45720" marB="45720" anchor="t" anchorCtr="0" horzOverflow="overflow">
                    <a:lnL w="6350">
                      <a:solidFill>
                        <a:srgbClr val="E0E0E0"/>
                      </a:solidFill>
                    </a:lnL>
                    <a:lnR w="6350">
                      <a:solidFill>
                        <a:srgbClr val="E0E0E0"/>
                      </a:solidFill>
                    </a:lnR>
                    <a:lnT w="6350">
                      <a:solidFill>
                        <a:srgbClr val="E0E0E0"/>
                      </a:solidFill>
                    </a:lnT>
                    <a:lnB w="6350">
                      <a:solidFill>
                        <a:srgbClr val="E0E0E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000">
                          <a:latin typeface="Arial"/>
                          <a:ea typeface="Arial"/>
                          <a:cs typeface="Arial"/>
                          <a:sym typeface="Arial"/>
                        </a:rPr>
                        <a:t>71.24</a:t>
                      </a:r>
                    </a:p>
                  </a:txBody>
                  <a:tcPr marL="45720" marR="45720" marT="45720" marB="45720" anchor="t" anchorCtr="0" horzOverflow="overflow">
                    <a:lnL w="6350">
                      <a:solidFill>
                        <a:srgbClr val="E0E0E0"/>
                      </a:solidFill>
                    </a:lnL>
                    <a:lnR w="6350">
                      <a:solidFill>
                        <a:srgbClr val="E0E0E0"/>
                      </a:solidFill>
                    </a:lnR>
                    <a:lnT w="6350">
                      <a:solidFill>
                        <a:srgbClr val="E0E0E0"/>
                      </a:solidFill>
                    </a:lnT>
                    <a:lnB w="6350">
                      <a:solidFill>
                        <a:srgbClr val="E0E0E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000">
                          <a:latin typeface="Arial"/>
                          <a:ea typeface="Arial"/>
                          <a:cs typeface="Arial"/>
                          <a:sym typeface="Arial"/>
                        </a:rPr>
                        <a:t>0.8805</a:t>
                      </a:r>
                    </a:p>
                  </a:txBody>
                  <a:tcPr marL="45720" marR="45720" marT="45720" marB="45720" anchor="t" anchorCtr="0" horzOverflow="overflow">
                    <a:lnL w="6350">
                      <a:solidFill>
                        <a:srgbClr val="E0E0E0"/>
                      </a:solidFill>
                    </a:lnL>
                    <a:lnR w="6350">
                      <a:solidFill>
                        <a:srgbClr val="E0E0E0"/>
                      </a:solidFill>
                    </a:lnR>
                    <a:lnT w="6350">
                      <a:solidFill>
                        <a:srgbClr val="E0E0E0"/>
                      </a:solidFill>
                    </a:lnT>
                    <a:lnB w="6350">
                      <a:solidFill>
                        <a:srgbClr val="E0E0E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000">
                          <a:latin typeface="Arial"/>
                          <a:ea typeface="Arial"/>
                          <a:cs typeface="Arial"/>
                          <a:sym typeface="Arial"/>
                        </a:rPr>
                        <a:t>0.499</a:t>
                      </a:r>
                    </a:p>
                  </a:txBody>
                  <a:tcPr marL="45720" marR="45720" marT="45720" marB="45720" anchor="t" anchorCtr="0" horzOverflow="overflow">
                    <a:lnL w="6350">
                      <a:solidFill>
                        <a:srgbClr val="E0E0E0"/>
                      </a:solidFill>
                    </a:lnL>
                    <a:lnR w="6350">
                      <a:solidFill>
                        <a:srgbClr val="E0E0E0"/>
                      </a:solidFill>
                    </a:lnR>
                    <a:lnT w="6350">
                      <a:solidFill>
                        <a:srgbClr val="E0E0E0"/>
                      </a:solidFill>
                    </a:lnT>
                    <a:lnB w="6350">
                      <a:solidFill>
                        <a:srgbClr val="E0E0E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000">
                          <a:solidFill>
                            <a:srgbClr val="2563EB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Good</a:t>
                      </a:r>
                    </a:p>
                  </a:txBody>
                  <a:tcPr marL="45720" marR="45720" marT="45720" marB="45720" anchor="t" anchorCtr="0" horzOverflow="overflow">
                    <a:lnL w="6350">
                      <a:solidFill>
                        <a:srgbClr val="E0E0E0"/>
                      </a:solidFill>
                    </a:lnL>
                    <a:lnR w="6350">
                      <a:solidFill>
                        <a:srgbClr val="E0E0E0"/>
                      </a:solidFill>
                    </a:lnR>
                    <a:lnT w="6350">
                      <a:solidFill>
                        <a:srgbClr val="E0E0E0"/>
                      </a:solidFill>
                    </a:lnT>
                    <a:lnB w="6350">
                      <a:solidFill>
                        <a:srgbClr val="E0E0E0"/>
                      </a:solidFill>
                    </a:lnB>
                    <a:noFill/>
                  </a:tcPr>
                </a:tc>
              </a:tr>
              <a:tr h="356616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000">
                          <a:latin typeface="Arial"/>
                          <a:ea typeface="Arial"/>
                          <a:cs typeface="Arial"/>
                          <a:sym typeface="Arial"/>
                        </a:rPr>
                        <a:t>Random Forest</a:t>
                      </a:r>
                    </a:p>
                  </a:txBody>
                  <a:tcPr marL="45720" marR="45720" marT="45720" marB="45720" anchor="t" anchorCtr="0" horzOverflow="overflow">
                    <a:lnL w="6350">
                      <a:solidFill>
                        <a:srgbClr val="E0E0E0"/>
                      </a:solidFill>
                    </a:lnL>
                    <a:lnR w="6350">
                      <a:solidFill>
                        <a:srgbClr val="E0E0E0"/>
                      </a:solidFill>
                    </a:lnR>
                    <a:lnT w="6350">
                      <a:solidFill>
                        <a:srgbClr val="E0E0E0"/>
                      </a:solidFill>
                    </a:lnT>
                    <a:lnB w="6350">
                      <a:solidFill>
                        <a:srgbClr val="E0E0E0"/>
                      </a:solidFill>
                    </a:lnB>
                    <a:solidFill>
                      <a:srgbClr val="FFF5F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000">
                          <a:latin typeface="Arial"/>
                          <a:ea typeface="Arial"/>
                          <a:cs typeface="Arial"/>
                          <a:sym typeface="Arial"/>
                        </a:rPr>
                        <a:t>94.46</a:t>
                      </a:r>
                    </a:p>
                  </a:txBody>
                  <a:tcPr marL="45720" marR="45720" marT="45720" marB="45720" anchor="t" anchorCtr="0" horzOverflow="overflow">
                    <a:lnL w="6350">
                      <a:solidFill>
                        <a:srgbClr val="E0E0E0"/>
                      </a:solidFill>
                    </a:lnL>
                    <a:lnR w="6350">
                      <a:solidFill>
                        <a:srgbClr val="E0E0E0"/>
                      </a:solidFill>
                    </a:lnR>
                    <a:lnT w="6350">
                      <a:solidFill>
                        <a:srgbClr val="E0E0E0"/>
                      </a:solidFill>
                    </a:lnT>
                    <a:lnB w="6350">
                      <a:solidFill>
                        <a:srgbClr val="E0E0E0"/>
                      </a:solidFill>
                    </a:lnB>
                    <a:solidFill>
                      <a:srgbClr val="FFF5F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000">
                          <a:latin typeface="Arial"/>
                          <a:ea typeface="Arial"/>
                          <a:cs typeface="Arial"/>
                          <a:sym typeface="Arial"/>
                        </a:rPr>
                        <a:t>73.75</a:t>
                      </a:r>
                    </a:p>
                  </a:txBody>
                  <a:tcPr marL="45720" marR="45720" marT="45720" marB="45720" anchor="t" anchorCtr="0" horzOverflow="overflow">
                    <a:lnL w="6350">
                      <a:solidFill>
                        <a:srgbClr val="E0E0E0"/>
                      </a:solidFill>
                    </a:lnL>
                    <a:lnR w="6350">
                      <a:solidFill>
                        <a:srgbClr val="E0E0E0"/>
                      </a:solidFill>
                    </a:lnR>
                    <a:lnT w="6350">
                      <a:solidFill>
                        <a:srgbClr val="E0E0E0"/>
                      </a:solidFill>
                    </a:lnT>
                    <a:lnB w="6350">
                      <a:solidFill>
                        <a:srgbClr val="E0E0E0"/>
                      </a:solidFill>
                    </a:lnB>
                    <a:solidFill>
                      <a:srgbClr val="FFF5F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000">
                          <a:latin typeface="Arial"/>
                          <a:ea typeface="Arial"/>
                          <a:cs typeface="Arial"/>
                          <a:sym typeface="Arial"/>
                        </a:rPr>
                        <a:t>0.8868</a:t>
                      </a:r>
                    </a:p>
                  </a:txBody>
                  <a:tcPr marL="45720" marR="45720" marT="45720" marB="45720" anchor="t" anchorCtr="0" horzOverflow="overflow">
                    <a:lnL w="6350">
                      <a:solidFill>
                        <a:srgbClr val="E0E0E0"/>
                      </a:solidFill>
                    </a:lnL>
                    <a:lnR w="6350">
                      <a:solidFill>
                        <a:srgbClr val="E0E0E0"/>
                      </a:solidFill>
                    </a:lnR>
                    <a:lnT w="6350">
                      <a:solidFill>
                        <a:srgbClr val="E0E0E0"/>
                      </a:solidFill>
                    </a:lnT>
                    <a:lnB w="6350">
                      <a:solidFill>
                        <a:srgbClr val="E0E0E0"/>
                      </a:solidFill>
                    </a:lnB>
                    <a:solidFill>
                      <a:srgbClr val="FFF5F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000">
                          <a:latin typeface="Arial"/>
                          <a:ea typeface="Arial"/>
                          <a:cs typeface="Arial"/>
                          <a:sym typeface="Arial"/>
                        </a:rPr>
                        <a:t>0.444</a:t>
                      </a:r>
                    </a:p>
                  </a:txBody>
                  <a:tcPr marL="45720" marR="45720" marT="45720" marB="45720" anchor="t" anchorCtr="0" horzOverflow="overflow">
                    <a:lnL w="6350">
                      <a:solidFill>
                        <a:srgbClr val="E0E0E0"/>
                      </a:solidFill>
                    </a:lnL>
                    <a:lnR w="6350">
                      <a:solidFill>
                        <a:srgbClr val="E0E0E0"/>
                      </a:solidFill>
                    </a:lnR>
                    <a:lnT w="6350">
                      <a:solidFill>
                        <a:srgbClr val="E0E0E0"/>
                      </a:solidFill>
                    </a:lnT>
                    <a:lnB w="6350">
                      <a:solidFill>
                        <a:srgbClr val="E0E0E0"/>
                      </a:solidFill>
                    </a:lnB>
                    <a:solidFill>
                      <a:srgbClr val="FFF5F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000">
                          <a:solidFill>
                            <a:srgbClr val="D97706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Moderate</a:t>
                      </a:r>
                    </a:p>
                  </a:txBody>
                  <a:tcPr marL="45720" marR="45720" marT="45720" marB="45720" anchor="t" anchorCtr="0" horzOverflow="overflow">
                    <a:lnL w="6350">
                      <a:solidFill>
                        <a:srgbClr val="E0E0E0"/>
                      </a:solidFill>
                    </a:lnL>
                    <a:lnR w="6350">
                      <a:solidFill>
                        <a:srgbClr val="E0E0E0"/>
                      </a:solidFill>
                    </a:lnR>
                    <a:lnT w="6350">
                      <a:solidFill>
                        <a:srgbClr val="E0E0E0"/>
                      </a:solidFill>
                    </a:lnT>
                    <a:lnB w="6350">
                      <a:solidFill>
                        <a:srgbClr val="E0E0E0"/>
                      </a:solidFill>
                    </a:lnB>
                    <a:solidFill>
                      <a:srgbClr val="FFF5F5"/>
                    </a:solidFill>
                  </a:tcPr>
                </a:tc>
              </a:tr>
              <a:tr h="356616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000">
                          <a:latin typeface="Arial"/>
                          <a:ea typeface="Arial"/>
                          <a:cs typeface="Arial"/>
                          <a:sym typeface="Arial"/>
                        </a:rPr>
                        <a:t>Ridge Regression</a:t>
                      </a:r>
                    </a:p>
                  </a:txBody>
                  <a:tcPr marL="45720" marR="45720" marT="45720" marB="45720" anchor="t" anchorCtr="0" horzOverflow="overflow">
                    <a:lnL w="6350">
                      <a:solidFill>
                        <a:srgbClr val="E0E0E0"/>
                      </a:solidFill>
                    </a:lnL>
                    <a:lnR w="6350">
                      <a:solidFill>
                        <a:srgbClr val="E0E0E0"/>
                      </a:solidFill>
                    </a:lnR>
                    <a:lnT w="6350">
                      <a:solidFill>
                        <a:srgbClr val="E0E0E0"/>
                      </a:solidFill>
                    </a:lnT>
                    <a:lnB w="6350">
                      <a:solidFill>
                        <a:srgbClr val="E0E0E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000">
                          <a:latin typeface="Arial"/>
                          <a:ea typeface="Arial"/>
                          <a:cs typeface="Arial"/>
                          <a:sym typeface="Arial"/>
                        </a:rPr>
                        <a:t>66.05</a:t>
                      </a:r>
                    </a:p>
                  </a:txBody>
                  <a:tcPr marL="45720" marR="45720" marT="45720" marB="45720" anchor="t" anchorCtr="0" horzOverflow="overflow">
                    <a:lnL w="6350">
                      <a:solidFill>
                        <a:srgbClr val="E0E0E0"/>
                      </a:solidFill>
                    </a:lnL>
                    <a:lnR w="6350">
                      <a:solidFill>
                        <a:srgbClr val="E0E0E0"/>
                      </a:solidFill>
                    </a:lnR>
                    <a:lnT w="6350">
                      <a:solidFill>
                        <a:srgbClr val="E0E0E0"/>
                      </a:solidFill>
                    </a:lnT>
                    <a:lnB w="6350">
                      <a:solidFill>
                        <a:srgbClr val="E0E0E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000">
                          <a:latin typeface="Arial"/>
                          <a:ea typeface="Arial"/>
                          <a:cs typeface="Arial"/>
                          <a:sym typeface="Arial"/>
                        </a:rPr>
                        <a:t>75.43</a:t>
                      </a:r>
                    </a:p>
                  </a:txBody>
                  <a:tcPr marL="45720" marR="45720" marT="45720" marB="45720" anchor="t" anchorCtr="0" horzOverflow="overflow">
                    <a:lnL w="6350">
                      <a:solidFill>
                        <a:srgbClr val="E0E0E0"/>
                      </a:solidFill>
                    </a:lnL>
                    <a:lnR w="6350">
                      <a:solidFill>
                        <a:srgbClr val="E0E0E0"/>
                      </a:solidFill>
                    </a:lnR>
                    <a:lnT w="6350">
                      <a:solidFill>
                        <a:srgbClr val="E0E0E0"/>
                      </a:solidFill>
                    </a:lnT>
                    <a:lnB w="6350">
                      <a:solidFill>
                        <a:srgbClr val="E0E0E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000">
                          <a:latin typeface="Arial"/>
                          <a:ea typeface="Arial"/>
                          <a:cs typeface="Arial"/>
                          <a:sym typeface="Arial"/>
                        </a:rPr>
                        <a:t>0.8810</a:t>
                      </a:r>
                    </a:p>
                  </a:txBody>
                  <a:tcPr marL="45720" marR="45720" marT="45720" marB="45720" anchor="t" anchorCtr="0" horzOverflow="overflow">
                    <a:lnL w="6350">
                      <a:solidFill>
                        <a:srgbClr val="E0E0E0"/>
                      </a:solidFill>
                    </a:lnL>
                    <a:lnR w="6350">
                      <a:solidFill>
                        <a:srgbClr val="E0E0E0"/>
                      </a:solidFill>
                    </a:lnR>
                    <a:lnT w="6350">
                      <a:solidFill>
                        <a:srgbClr val="E0E0E0"/>
                      </a:solidFill>
                    </a:lnT>
                    <a:lnB w="6350">
                      <a:solidFill>
                        <a:srgbClr val="E0E0E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000">
                          <a:latin typeface="Arial"/>
                          <a:ea typeface="Arial"/>
                          <a:cs typeface="Arial"/>
                          <a:sym typeface="Arial"/>
                        </a:rPr>
                        <a:t>0.439</a:t>
                      </a:r>
                    </a:p>
                  </a:txBody>
                  <a:tcPr marL="45720" marR="45720" marT="45720" marB="45720" anchor="t" anchorCtr="0" horzOverflow="overflow">
                    <a:lnL w="6350">
                      <a:solidFill>
                        <a:srgbClr val="E0E0E0"/>
                      </a:solidFill>
                    </a:lnL>
                    <a:lnR w="6350">
                      <a:solidFill>
                        <a:srgbClr val="E0E0E0"/>
                      </a:solidFill>
                    </a:lnR>
                    <a:lnT w="6350">
                      <a:solidFill>
                        <a:srgbClr val="E0E0E0"/>
                      </a:solidFill>
                    </a:lnT>
                    <a:lnB w="6350">
                      <a:solidFill>
                        <a:srgbClr val="E0E0E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000">
                          <a:solidFill>
                            <a:srgbClr val="D97706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Moderate</a:t>
                      </a:r>
                    </a:p>
                  </a:txBody>
                  <a:tcPr marL="45720" marR="45720" marT="45720" marB="45720" anchor="t" anchorCtr="0" horzOverflow="overflow">
                    <a:lnL w="6350">
                      <a:solidFill>
                        <a:srgbClr val="E0E0E0"/>
                      </a:solidFill>
                    </a:lnL>
                    <a:lnR w="6350">
                      <a:solidFill>
                        <a:srgbClr val="E0E0E0"/>
                      </a:solidFill>
                    </a:lnR>
                    <a:lnT w="6350">
                      <a:solidFill>
                        <a:srgbClr val="E0E0E0"/>
                      </a:solidFill>
                    </a:lnT>
                    <a:lnB w="6350">
                      <a:solidFill>
                        <a:srgbClr val="E0E0E0"/>
                      </a:solidFill>
                    </a:lnB>
                    <a:noFill/>
                  </a:tcPr>
                </a:tc>
              </a:tr>
              <a:tr h="356616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000">
                          <a:latin typeface="Arial"/>
                          <a:ea typeface="Arial"/>
                          <a:cs typeface="Arial"/>
                          <a:sym typeface="Arial"/>
                        </a:rPr>
                        <a:t>XGBoost</a:t>
                      </a:r>
                    </a:p>
                  </a:txBody>
                  <a:tcPr marL="45720" marR="45720" marT="45720" marB="45720" anchor="t" anchorCtr="0" horzOverflow="overflow">
                    <a:lnL w="6350">
                      <a:solidFill>
                        <a:srgbClr val="E0E0E0"/>
                      </a:solidFill>
                    </a:lnL>
                    <a:lnR w="6350">
                      <a:solidFill>
                        <a:srgbClr val="E0E0E0"/>
                      </a:solidFill>
                    </a:lnR>
                    <a:lnT w="6350">
                      <a:solidFill>
                        <a:srgbClr val="E0E0E0"/>
                      </a:solidFill>
                    </a:lnT>
                    <a:lnB w="6350">
                      <a:solidFill>
                        <a:srgbClr val="E0E0E0"/>
                      </a:solidFill>
                    </a:lnB>
                    <a:solidFill>
                      <a:srgbClr val="FFF5F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000">
                          <a:latin typeface="Arial"/>
                          <a:ea typeface="Arial"/>
                          <a:cs typeface="Arial"/>
                          <a:sym typeface="Arial"/>
                        </a:rPr>
                        <a:t>98.83</a:t>
                      </a:r>
                    </a:p>
                  </a:txBody>
                  <a:tcPr marL="45720" marR="45720" marT="45720" marB="45720" anchor="t" anchorCtr="0" horzOverflow="overflow">
                    <a:lnL w="6350">
                      <a:solidFill>
                        <a:srgbClr val="E0E0E0"/>
                      </a:solidFill>
                    </a:lnL>
                    <a:lnR w="6350">
                      <a:solidFill>
                        <a:srgbClr val="E0E0E0"/>
                      </a:solidFill>
                    </a:lnR>
                    <a:lnT w="6350">
                      <a:solidFill>
                        <a:srgbClr val="E0E0E0"/>
                      </a:solidFill>
                    </a:lnT>
                    <a:lnB w="6350">
                      <a:solidFill>
                        <a:srgbClr val="E0E0E0"/>
                      </a:solidFill>
                    </a:lnB>
                    <a:solidFill>
                      <a:srgbClr val="FFF5F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000">
                          <a:latin typeface="Arial"/>
                          <a:ea typeface="Arial"/>
                          <a:cs typeface="Arial"/>
                          <a:sym typeface="Arial"/>
                        </a:rPr>
                        <a:t>75.79</a:t>
                      </a:r>
                    </a:p>
                  </a:txBody>
                  <a:tcPr marL="45720" marR="45720" marT="45720" marB="45720" anchor="t" anchorCtr="0" horzOverflow="overflow">
                    <a:lnL w="6350">
                      <a:solidFill>
                        <a:srgbClr val="E0E0E0"/>
                      </a:solidFill>
                    </a:lnL>
                    <a:lnR w="6350">
                      <a:solidFill>
                        <a:srgbClr val="E0E0E0"/>
                      </a:solidFill>
                    </a:lnR>
                    <a:lnT w="6350">
                      <a:solidFill>
                        <a:srgbClr val="E0E0E0"/>
                      </a:solidFill>
                    </a:lnT>
                    <a:lnB w="6350">
                      <a:solidFill>
                        <a:srgbClr val="E0E0E0"/>
                      </a:solidFill>
                    </a:lnB>
                    <a:solidFill>
                      <a:srgbClr val="FFF5F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000">
                          <a:latin typeface="Arial"/>
                          <a:ea typeface="Arial"/>
                          <a:cs typeface="Arial"/>
                          <a:sym typeface="Arial"/>
                        </a:rPr>
                        <a:t>0.8811</a:t>
                      </a:r>
                    </a:p>
                  </a:txBody>
                  <a:tcPr marL="45720" marR="45720" marT="45720" marB="45720" anchor="t" anchorCtr="0" horzOverflow="overflow">
                    <a:lnL w="6350">
                      <a:solidFill>
                        <a:srgbClr val="E0E0E0"/>
                      </a:solidFill>
                    </a:lnL>
                    <a:lnR w="6350">
                      <a:solidFill>
                        <a:srgbClr val="E0E0E0"/>
                      </a:solidFill>
                    </a:lnR>
                    <a:lnT w="6350">
                      <a:solidFill>
                        <a:srgbClr val="E0E0E0"/>
                      </a:solidFill>
                    </a:lnT>
                    <a:lnB w="6350">
                      <a:solidFill>
                        <a:srgbClr val="E0E0E0"/>
                      </a:solidFill>
                    </a:lnB>
                    <a:solidFill>
                      <a:srgbClr val="FFF5F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000">
                          <a:latin typeface="Arial"/>
                          <a:ea typeface="Arial"/>
                          <a:cs typeface="Arial"/>
                          <a:sym typeface="Arial"/>
                        </a:rPr>
                        <a:t>0.499</a:t>
                      </a:r>
                    </a:p>
                  </a:txBody>
                  <a:tcPr marL="45720" marR="45720" marT="45720" marB="45720" anchor="t" anchorCtr="0" horzOverflow="overflow">
                    <a:lnL w="6350">
                      <a:solidFill>
                        <a:srgbClr val="E0E0E0"/>
                      </a:solidFill>
                    </a:lnL>
                    <a:lnR w="6350">
                      <a:solidFill>
                        <a:srgbClr val="E0E0E0"/>
                      </a:solidFill>
                    </a:lnR>
                    <a:lnT w="6350">
                      <a:solidFill>
                        <a:srgbClr val="E0E0E0"/>
                      </a:solidFill>
                    </a:lnT>
                    <a:lnB w="6350">
                      <a:solidFill>
                        <a:srgbClr val="E0E0E0"/>
                      </a:solidFill>
                    </a:lnB>
                    <a:solidFill>
                      <a:srgbClr val="FFF5F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000">
                          <a:solidFill>
                            <a:srgbClr val="D97706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Moderate</a:t>
                      </a:r>
                    </a:p>
                  </a:txBody>
                  <a:tcPr marL="45720" marR="45720" marT="45720" marB="45720" anchor="t" anchorCtr="0" horzOverflow="overflow">
                    <a:lnL w="6350">
                      <a:solidFill>
                        <a:srgbClr val="E0E0E0"/>
                      </a:solidFill>
                    </a:lnL>
                    <a:lnR w="6350">
                      <a:solidFill>
                        <a:srgbClr val="E0E0E0"/>
                      </a:solidFill>
                    </a:lnR>
                    <a:lnT w="6350">
                      <a:solidFill>
                        <a:srgbClr val="E0E0E0"/>
                      </a:solidFill>
                    </a:lnT>
                    <a:lnB w="6350">
                      <a:solidFill>
                        <a:srgbClr val="E0E0E0"/>
                      </a:solidFill>
                    </a:lnB>
                    <a:solidFill>
                      <a:srgbClr val="FFF5F5"/>
                    </a:solidFill>
                  </a:tcPr>
                </a:tc>
              </a:tr>
              <a:tr h="356616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000">
                          <a:latin typeface="Arial"/>
                          <a:ea typeface="Arial"/>
                          <a:cs typeface="Arial"/>
                          <a:sym typeface="Arial"/>
                        </a:rPr>
                        <a:t>k-NN Regression</a:t>
                      </a:r>
                    </a:p>
                  </a:txBody>
                  <a:tcPr marL="45720" marR="45720" marT="45720" marB="45720" anchor="t" anchorCtr="0" horzOverflow="overflow">
                    <a:lnL w="6350">
                      <a:solidFill>
                        <a:srgbClr val="E0E0E0"/>
                      </a:solidFill>
                    </a:lnL>
                    <a:lnR w="6350">
                      <a:solidFill>
                        <a:srgbClr val="E0E0E0"/>
                      </a:solidFill>
                    </a:lnR>
                    <a:lnT w="6350">
                      <a:solidFill>
                        <a:srgbClr val="E0E0E0"/>
                      </a:solidFill>
                    </a:lnT>
                    <a:lnB w="6350">
                      <a:solidFill>
                        <a:srgbClr val="E0E0E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000">
                          <a:latin typeface="Arial"/>
                          <a:ea typeface="Arial"/>
                          <a:cs typeface="Arial"/>
                          <a:sym typeface="Arial"/>
                        </a:rPr>
                        <a:t>103.03</a:t>
                      </a:r>
                    </a:p>
                  </a:txBody>
                  <a:tcPr marL="45720" marR="45720" marT="45720" marB="45720" anchor="t" anchorCtr="0" horzOverflow="overflow">
                    <a:lnL w="6350">
                      <a:solidFill>
                        <a:srgbClr val="E0E0E0"/>
                      </a:solidFill>
                    </a:lnL>
                    <a:lnR w="6350">
                      <a:solidFill>
                        <a:srgbClr val="E0E0E0"/>
                      </a:solidFill>
                    </a:lnR>
                    <a:lnT w="6350">
                      <a:solidFill>
                        <a:srgbClr val="E0E0E0"/>
                      </a:solidFill>
                    </a:lnT>
                    <a:lnB w="6350">
                      <a:solidFill>
                        <a:srgbClr val="E0E0E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000">
                          <a:latin typeface="Arial"/>
                          <a:ea typeface="Arial"/>
                          <a:cs typeface="Arial"/>
                          <a:sym typeface="Arial"/>
                        </a:rPr>
                        <a:t>82.28</a:t>
                      </a:r>
                    </a:p>
                  </a:txBody>
                  <a:tcPr marL="45720" marR="45720" marT="45720" marB="45720" anchor="t" anchorCtr="0" horzOverflow="overflow">
                    <a:lnL w="6350">
                      <a:solidFill>
                        <a:srgbClr val="E0E0E0"/>
                      </a:solidFill>
                    </a:lnL>
                    <a:lnR w="6350">
                      <a:solidFill>
                        <a:srgbClr val="E0E0E0"/>
                      </a:solidFill>
                    </a:lnR>
                    <a:lnT w="6350">
                      <a:solidFill>
                        <a:srgbClr val="E0E0E0"/>
                      </a:solidFill>
                    </a:lnT>
                    <a:lnB w="6350">
                      <a:solidFill>
                        <a:srgbClr val="E0E0E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000">
                          <a:latin typeface="Arial"/>
                          <a:ea typeface="Arial"/>
                          <a:cs typeface="Arial"/>
                          <a:sym typeface="Arial"/>
                        </a:rPr>
                        <a:t>0.8641</a:t>
                      </a:r>
                    </a:p>
                  </a:txBody>
                  <a:tcPr marL="45720" marR="45720" marT="45720" marB="45720" anchor="t" anchorCtr="0" horzOverflow="overflow">
                    <a:lnL w="6350">
                      <a:solidFill>
                        <a:srgbClr val="E0E0E0"/>
                      </a:solidFill>
                    </a:lnL>
                    <a:lnR w="6350">
                      <a:solidFill>
                        <a:srgbClr val="E0E0E0"/>
                      </a:solidFill>
                    </a:lnR>
                    <a:lnT w="6350">
                      <a:solidFill>
                        <a:srgbClr val="E0E0E0"/>
                      </a:solidFill>
                    </a:lnT>
                    <a:lnB w="6350">
                      <a:solidFill>
                        <a:srgbClr val="E0E0E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000">
                          <a:latin typeface="Arial"/>
                          <a:ea typeface="Arial"/>
                          <a:cs typeface="Arial"/>
                          <a:sym typeface="Arial"/>
                        </a:rPr>
                        <a:t>0.433</a:t>
                      </a:r>
                    </a:p>
                  </a:txBody>
                  <a:tcPr marL="45720" marR="45720" marT="45720" marB="45720" anchor="t" anchorCtr="0" horzOverflow="overflow">
                    <a:lnL w="6350">
                      <a:solidFill>
                        <a:srgbClr val="E0E0E0"/>
                      </a:solidFill>
                    </a:lnL>
                    <a:lnR w="6350">
                      <a:solidFill>
                        <a:srgbClr val="E0E0E0"/>
                      </a:solidFill>
                    </a:lnR>
                    <a:lnT w="6350">
                      <a:solidFill>
                        <a:srgbClr val="E0E0E0"/>
                      </a:solidFill>
                    </a:lnT>
                    <a:lnB w="6350">
                      <a:solidFill>
                        <a:srgbClr val="E0E0E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000">
                          <a:solidFill>
                            <a:srgbClr val="7C3AED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Low</a:t>
                      </a:r>
                    </a:p>
                  </a:txBody>
                  <a:tcPr marL="45720" marR="45720" marT="45720" marB="45720" anchor="t" anchorCtr="0" horzOverflow="overflow">
                    <a:lnL w="6350">
                      <a:solidFill>
                        <a:srgbClr val="E0E0E0"/>
                      </a:solidFill>
                    </a:lnL>
                    <a:lnR w="6350">
                      <a:solidFill>
                        <a:srgbClr val="E0E0E0"/>
                      </a:solidFill>
                    </a:lnR>
                    <a:lnT w="6350">
                      <a:solidFill>
                        <a:srgbClr val="E0E0E0"/>
                      </a:solidFill>
                    </a:lnT>
                    <a:lnB w="6350">
                      <a:solidFill>
                        <a:srgbClr val="E0E0E0"/>
                      </a:solidFill>
                    </a:lnB>
                    <a:noFill/>
                  </a:tcPr>
                </a:tc>
              </a:tr>
              <a:tr h="356616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000">
                          <a:solidFill>
                            <a:srgbClr val="E8431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Linear Regression</a:t>
                      </a:r>
                    </a:p>
                  </a:txBody>
                  <a:tcPr marL="45720" marR="45720" marT="45720" marB="45720" anchor="t" anchorCtr="0" horzOverflow="overflow">
                    <a:lnL w="6350">
                      <a:solidFill>
                        <a:srgbClr val="E0E0E0"/>
                      </a:solidFill>
                    </a:lnL>
                    <a:lnR w="6350">
                      <a:solidFill>
                        <a:srgbClr val="E0E0E0"/>
                      </a:solidFill>
                    </a:lnR>
                    <a:lnT w="6350">
                      <a:solidFill>
                        <a:srgbClr val="E0E0E0"/>
                      </a:solidFill>
                    </a:lnT>
                    <a:lnB w="6350">
                      <a:solidFill>
                        <a:srgbClr val="E0E0E0"/>
                      </a:solidFill>
                    </a:lnB>
                    <a:solidFill>
                      <a:srgbClr val="FFF5F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000">
                          <a:latin typeface="Arial"/>
                          <a:ea typeface="Arial"/>
                          <a:cs typeface="Arial"/>
                          <a:sym typeface="Arial"/>
                        </a:rPr>
                        <a:t>104.26</a:t>
                      </a:r>
                    </a:p>
                  </a:txBody>
                  <a:tcPr marL="45720" marR="45720" marT="45720" marB="45720" anchor="t" anchorCtr="0" horzOverflow="overflow">
                    <a:lnL w="6350">
                      <a:solidFill>
                        <a:srgbClr val="E0E0E0"/>
                      </a:solidFill>
                    </a:lnL>
                    <a:lnR w="6350">
                      <a:solidFill>
                        <a:srgbClr val="E0E0E0"/>
                      </a:solidFill>
                    </a:lnR>
                    <a:lnT w="6350">
                      <a:solidFill>
                        <a:srgbClr val="E0E0E0"/>
                      </a:solidFill>
                    </a:lnT>
                    <a:lnB w="6350">
                      <a:solidFill>
                        <a:srgbClr val="E0E0E0"/>
                      </a:solidFill>
                    </a:lnB>
                    <a:solidFill>
                      <a:srgbClr val="FFF5F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000">
                          <a:latin typeface="Arial"/>
                          <a:ea typeface="Arial"/>
                          <a:cs typeface="Arial"/>
                          <a:sym typeface="Arial"/>
                        </a:rPr>
                        <a:t>81.99</a:t>
                      </a:r>
                    </a:p>
                  </a:txBody>
                  <a:tcPr marL="45720" marR="45720" marT="45720" marB="45720" anchor="t" anchorCtr="0" horzOverflow="overflow">
                    <a:lnL w="6350">
                      <a:solidFill>
                        <a:srgbClr val="E0E0E0"/>
                      </a:solidFill>
                    </a:lnL>
                    <a:lnR w="6350">
                      <a:solidFill>
                        <a:srgbClr val="E0E0E0"/>
                      </a:solidFill>
                    </a:lnR>
                    <a:lnT w="6350">
                      <a:solidFill>
                        <a:srgbClr val="E0E0E0"/>
                      </a:solidFill>
                    </a:lnT>
                    <a:lnB w="6350">
                      <a:solidFill>
                        <a:srgbClr val="E0E0E0"/>
                      </a:solidFill>
                    </a:lnB>
                    <a:solidFill>
                      <a:srgbClr val="FFF5F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000">
                          <a:latin typeface="Arial"/>
                          <a:ea typeface="Arial"/>
                          <a:cs typeface="Arial"/>
                          <a:sym typeface="Arial"/>
                        </a:rPr>
                        <a:t>0.8620</a:t>
                      </a:r>
                    </a:p>
                  </a:txBody>
                  <a:tcPr marL="45720" marR="45720" marT="45720" marB="45720" anchor="t" anchorCtr="0" horzOverflow="overflow">
                    <a:lnL w="6350">
                      <a:solidFill>
                        <a:srgbClr val="E0E0E0"/>
                      </a:solidFill>
                    </a:lnL>
                    <a:lnR w="6350">
                      <a:solidFill>
                        <a:srgbClr val="E0E0E0"/>
                      </a:solidFill>
                    </a:lnR>
                    <a:lnT w="6350">
                      <a:solidFill>
                        <a:srgbClr val="E0E0E0"/>
                      </a:solidFill>
                    </a:lnT>
                    <a:lnB w="6350">
                      <a:solidFill>
                        <a:srgbClr val="E0E0E0"/>
                      </a:solidFill>
                    </a:lnB>
                    <a:solidFill>
                      <a:srgbClr val="FFF5F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000">
                          <a:latin typeface="Arial"/>
                          <a:ea typeface="Arial"/>
                          <a:cs typeface="Arial"/>
                          <a:sym typeface="Arial"/>
                        </a:rPr>
                        <a:t>0.433</a:t>
                      </a:r>
                    </a:p>
                  </a:txBody>
                  <a:tcPr marL="45720" marR="45720" marT="45720" marB="45720" anchor="t" anchorCtr="0" horzOverflow="overflow">
                    <a:lnL w="6350">
                      <a:solidFill>
                        <a:srgbClr val="E0E0E0"/>
                      </a:solidFill>
                    </a:lnL>
                    <a:lnR w="6350">
                      <a:solidFill>
                        <a:srgbClr val="E0E0E0"/>
                      </a:solidFill>
                    </a:lnR>
                    <a:lnT w="6350">
                      <a:solidFill>
                        <a:srgbClr val="E0E0E0"/>
                      </a:solidFill>
                    </a:lnT>
                    <a:lnB w="6350">
                      <a:solidFill>
                        <a:srgbClr val="E0E0E0"/>
                      </a:solidFill>
                    </a:lnB>
                    <a:solidFill>
                      <a:srgbClr val="FFF5F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000">
                          <a:solidFill>
                            <a:srgbClr val="7C3AED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Low</a:t>
                      </a:r>
                    </a:p>
                  </a:txBody>
                  <a:tcPr marL="45720" marR="45720" marT="45720" marB="45720" anchor="t" anchorCtr="0" horzOverflow="overflow">
                    <a:lnL w="6350">
                      <a:solidFill>
                        <a:srgbClr val="E0E0E0"/>
                      </a:solidFill>
                    </a:lnL>
                    <a:lnR w="6350">
                      <a:solidFill>
                        <a:srgbClr val="E0E0E0"/>
                      </a:solidFill>
                    </a:lnR>
                    <a:lnT w="6350">
                      <a:solidFill>
                        <a:srgbClr val="E0E0E0"/>
                      </a:solidFill>
                    </a:lnT>
                    <a:lnB w="6350">
                      <a:solidFill>
                        <a:srgbClr val="E0E0E0"/>
                      </a:solidFill>
                    </a:lnB>
                    <a:solidFill>
                      <a:srgbClr val="FFF5F5"/>
                    </a:solidFill>
                  </a:tcPr>
                </a:tc>
              </a:tr>
              <a:tr h="356616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000">
                          <a:solidFill>
                            <a:srgbClr val="E8431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ARIMA</a:t>
                      </a:r>
                    </a:p>
                  </a:txBody>
                  <a:tcPr marL="45720" marR="45720" marT="45720" marB="45720" anchor="t" anchorCtr="0" horzOverflow="overflow">
                    <a:lnL w="6350">
                      <a:solidFill>
                        <a:srgbClr val="E0E0E0"/>
                      </a:solidFill>
                    </a:lnL>
                    <a:lnR w="6350">
                      <a:solidFill>
                        <a:srgbClr val="E0E0E0"/>
                      </a:solidFill>
                    </a:lnR>
                    <a:lnT w="6350">
                      <a:solidFill>
                        <a:srgbClr val="E0E0E0"/>
                      </a:solidFill>
                    </a:lnT>
                    <a:lnB w="6350">
                      <a:solidFill>
                        <a:srgbClr val="E0E0E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000">
                          <a:latin typeface="Arial"/>
                          <a:ea typeface="Arial"/>
                          <a:cs typeface="Arial"/>
                          <a:sym typeface="Arial"/>
                        </a:rPr>
                        <a:t>312.46</a:t>
                      </a:r>
                    </a:p>
                  </a:txBody>
                  <a:tcPr marL="45720" marR="45720" marT="45720" marB="45720" anchor="t" anchorCtr="0" horzOverflow="overflow">
                    <a:lnL w="6350">
                      <a:solidFill>
                        <a:srgbClr val="E0E0E0"/>
                      </a:solidFill>
                    </a:lnL>
                    <a:lnR w="6350">
                      <a:solidFill>
                        <a:srgbClr val="E0E0E0"/>
                      </a:solidFill>
                    </a:lnR>
                    <a:lnT w="6350">
                      <a:solidFill>
                        <a:srgbClr val="E0E0E0"/>
                      </a:solidFill>
                    </a:lnT>
                    <a:lnB w="6350">
                      <a:solidFill>
                        <a:srgbClr val="E0E0E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000">
                          <a:latin typeface="Arial"/>
                          <a:ea typeface="Arial"/>
                          <a:cs typeface="Arial"/>
                          <a:sym typeface="Arial"/>
                        </a:rPr>
                        <a:t>329.72</a:t>
                      </a:r>
                    </a:p>
                  </a:txBody>
                  <a:tcPr marL="45720" marR="45720" marT="45720" marB="45720" anchor="t" anchorCtr="0" horzOverflow="overflow">
                    <a:lnL w="6350">
                      <a:solidFill>
                        <a:srgbClr val="E0E0E0"/>
                      </a:solidFill>
                    </a:lnL>
                    <a:lnR w="6350">
                      <a:solidFill>
                        <a:srgbClr val="E0E0E0"/>
                      </a:solidFill>
                    </a:lnR>
                    <a:lnT w="6350">
                      <a:solidFill>
                        <a:srgbClr val="E0E0E0"/>
                      </a:solidFill>
                    </a:lnT>
                    <a:lnB w="6350">
                      <a:solidFill>
                        <a:srgbClr val="E0E0E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000">
                          <a:latin typeface="Arial"/>
                          <a:ea typeface="Arial"/>
                          <a:cs typeface="Arial"/>
                          <a:sym typeface="Arial"/>
                        </a:rPr>
                        <a:t>-0.241</a:t>
                      </a:r>
                    </a:p>
                  </a:txBody>
                  <a:tcPr marL="45720" marR="45720" marT="45720" marB="45720" anchor="t" anchorCtr="0" horzOverflow="overflow">
                    <a:lnL w="6350">
                      <a:solidFill>
                        <a:srgbClr val="E0E0E0"/>
                      </a:solidFill>
                    </a:lnL>
                    <a:lnR w="6350">
                      <a:solidFill>
                        <a:srgbClr val="E0E0E0"/>
                      </a:solidFill>
                    </a:lnR>
                    <a:lnT w="6350">
                      <a:solidFill>
                        <a:srgbClr val="E0E0E0"/>
                      </a:solidFill>
                    </a:lnT>
                    <a:lnB w="6350">
                      <a:solidFill>
                        <a:srgbClr val="E0E0E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000">
                          <a:latin typeface="Arial"/>
                          <a:ea typeface="Arial"/>
                          <a:cs typeface="Arial"/>
                          <a:sym typeface="Arial"/>
                        </a:rPr>
                        <a:t>—</a:t>
                      </a:r>
                    </a:p>
                  </a:txBody>
                  <a:tcPr marL="45720" marR="45720" marT="45720" marB="45720" anchor="t" anchorCtr="0" horzOverflow="overflow">
                    <a:lnL w="6350">
                      <a:solidFill>
                        <a:srgbClr val="E0E0E0"/>
                      </a:solidFill>
                    </a:lnL>
                    <a:lnR w="6350">
                      <a:solidFill>
                        <a:srgbClr val="E0E0E0"/>
                      </a:solidFill>
                    </a:lnR>
                    <a:lnT w="6350">
                      <a:solidFill>
                        <a:srgbClr val="E0E0E0"/>
                      </a:solidFill>
                    </a:lnT>
                    <a:lnB w="6350">
                      <a:solidFill>
                        <a:srgbClr val="E0E0E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b="1" sz="1000">
                          <a:solidFill>
                            <a:srgbClr val="E8431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Poor</a:t>
                      </a:r>
                    </a:p>
                  </a:txBody>
                  <a:tcPr marL="45720" marR="45720" marT="45720" marB="45720" anchor="t" anchorCtr="0" horzOverflow="overflow">
                    <a:lnL w="6350">
                      <a:solidFill>
                        <a:srgbClr val="E0E0E0"/>
                      </a:solidFill>
                    </a:lnL>
                    <a:lnR w="6350">
                      <a:solidFill>
                        <a:srgbClr val="E0E0E0"/>
                      </a:solidFill>
                    </a:lnR>
                    <a:lnT w="6350">
                      <a:solidFill>
                        <a:srgbClr val="E0E0E0"/>
                      </a:solidFill>
                    </a:lnT>
                    <a:lnB w="6350">
                      <a:solidFill>
                        <a:srgbClr val="E0E0E0"/>
                      </a:solidFill>
                    </a:lnB>
                    <a:noFill/>
                  </a:tcPr>
                </a:tc>
              </a:tr>
              <a:tr h="356616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000">
                          <a:solidFill>
                            <a:srgbClr val="E8431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Prophet</a:t>
                      </a:r>
                    </a:p>
                  </a:txBody>
                  <a:tcPr marL="45720" marR="45720" marT="45720" marB="45720" anchor="t" anchorCtr="0" horzOverflow="overflow">
                    <a:lnL w="6350">
                      <a:solidFill>
                        <a:srgbClr val="E0E0E0"/>
                      </a:solidFill>
                    </a:lnL>
                    <a:lnR w="6350">
                      <a:solidFill>
                        <a:srgbClr val="E0E0E0"/>
                      </a:solidFill>
                    </a:lnR>
                    <a:lnT w="6350">
                      <a:solidFill>
                        <a:srgbClr val="E0E0E0"/>
                      </a:solidFill>
                    </a:lnT>
                    <a:lnB w="6350">
                      <a:solidFill>
                        <a:srgbClr val="E0E0E0"/>
                      </a:solidFill>
                    </a:lnB>
                    <a:solidFill>
                      <a:srgbClr val="FFF5F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000">
                          <a:latin typeface="Arial"/>
                          <a:ea typeface="Arial"/>
                          <a:cs typeface="Arial"/>
                          <a:sym typeface="Arial"/>
                        </a:rPr>
                        <a:t>317.61</a:t>
                      </a:r>
                    </a:p>
                  </a:txBody>
                  <a:tcPr marL="45720" marR="45720" marT="45720" marB="45720" anchor="t" anchorCtr="0" horzOverflow="overflow">
                    <a:lnL w="6350">
                      <a:solidFill>
                        <a:srgbClr val="E0E0E0"/>
                      </a:solidFill>
                    </a:lnL>
                    <a:lnR w="6350">
                      <a:solidFill>
                        <a:srgbClr val="E0E0E0"/>
                      </a:solidFill>
                    </a:lnR>
                    <a:lnT w="6350">
                      <a:solidFill>
                        <a:srgbClr val="E0E0E0"/>
                      </a:solidFill>
                    </a:lnT>
                    <a:lnB w="6350">
                      <a:solidFill>
                        <a:srgbClr val="E0E0E0"/>
                      </a:solidFill>
                    </a:lnB>
                    <a:solidFill>
                      <a:srgbClr val="FFF5F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000">
                          <a:latin typeface="Arial"/>
                          <a:ea typeface="Arial"/>
                          <a:cs typeface="Arial"/>
                          <a:sym typeface="Arial"/>
                        </a:rPr>
                        <a:t>295.99</a:t>
                      </a:r>
                    </a:p>
                  </a:txBody>
                  <a:tcPr marL="45720" marR="45720" marT="45720" marB="45720" anchor="t" anchorCtr="0" horzOverflow="overflow">
                    <a:lnL w="6350">
                      <a:solidFill>
                        <a:srgbClr val="E0E0E0"/>
                      </a:solidFill>
                    </a:lnL>
                    <a:lnR w="6350">
                      <a:solidFill>
                        <a:srgbClr val="E0E0E0"/>
                      </a:solidFill>
                    </a:lnR>
                    <a:lnT w="6350">
                      <a:solidFill>
                        <a:srgbClr val="E0E0E0"/>
                      </a:solidFill>
                    </a:lnT>
                    <a:lnB w="6350">
                      <a:solidFill>
                        <a:srgbClr val="E0E0E0"/>
                      </a:solidFill>
                    </a:lnB>
                    <a:solidFill>
                      <a:srgbClr val="FFF5F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000">
                          <a:latin typeface="Arial"/>
                          <a:ea typeface="Arial"/>
                          <a:cs typeface="Arial"/>
                          <a:sym typeface="Arial"/>
                        </a:rPr>
                        <a:t>-0.292</a:t>
                      </a:r>
                    </a:p>
                  </a:txBody>
                  <a:tcPr marL="45720" marR="45720" marT="45720" marB="45720" anchor="t" anchorCtr="0" horzOverflow="overflow">
                    <a:lnL w="6350">
                      <a:solidFill>
                        <a:srgbClr val="E0E0E0"/>
                      </a:solidFill>
                    </a:lnL>
                    <a:lnR w="6350">
                      <a:solidFill>
                        <a:srgbClr val="E0E0E0"/>
                      </a:solidFill>
                    </a:lnR>
                    <a:lnT w="6350">
                      <a:solidFill>
                        <a:srgbClr val="E0E0E0"/>
                      </a:solidFill>
                    </a:lnT>
                    <a:lnB w="6350">
                      <a:solidFill>
                        <a:srgbClr val="E0E0E0"/>
                      </a:solidFill>
                    </a:lnB>
                    <a:solidFill>
                      <a:srgbClr val="FFF5F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000">
                          <a:latin typeface="Arial"/>
                          <a:ea typeface="Arial"/>
                          <a:cs typeface="Arial"/>
                          <a:sym typeface="Arial"/>
                        </a:rPr>
                        <a:t>—</a:t>
                      </a:r>
                    </a:p>
                  </a:txBody>
                  <a:tcPr marL="45720" marR="45720" marT="45720" marB="45720" anchor="t" anchorCtr="0" horzOverflow="overflow">
                    <a:lnL w="6350">
                      <a:solidFill>
                        <a:srgbClr val="E0E0E0"/>
                      </a:solidFill>
                    </a:lnL>
                    <a:lnR w="6350">
                      <a:solidFill>
                        <a:srgbClr val="E0E0E0"/>
                      </a:solidFill>
                    </a:lnR>
                    <a:lnT w="6350">
                      <a:solidFill>
                        <a:srgbClr val="E0E0E0"/>
                      </a:solidFill>
                    </a:lnT>
                    <a:lnB w="6350">
                      <a:solidFill>
                        <a:srgbClr val="E0E0E0"/>
                      </a:solidFill>
                    </a:lnB>
                    <a:solidFill>
                      <a:srgbClr val="FFF5F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b="1" sz="1000">
                          <a:solidFill>
                            <a:srgbClr val="E8431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Poor</a:t>
                      </a:r>
                    </a:p>
                  </a:txBody>
                  <a:tcPr marL="45720" marR="45720" marT="45720" marB="45720" anchor="t" anchorCtr="0" horzOverflow="overflow">
                    <a:lnL w="6350">
                      <a:solidFill>
                        <a:srgbClr val="E0E0E0"/>
                      </a:solidFill>
                    </a:lnL>
                    <a:lnR w="6350">
                      <a:solidFill>
                        <a:srgbClr val="E0E0E0"/>
                      </a:solidFill>
                    </a:lnR>
                    <a:lnT w="6350">
                      <a:solidFill>
                        <a:srgbClr val="E0E0E0"/>
                      </a:solidFill>
                    </a:lnT>
                    <a:lnB w="6350">
                      <a:solidFill>
                        <a:srgbClr val="E0E0E0"/>
                      </a:solidFill>
                    </a:lnB>
                    <a:solidFill>
                      <a:srgbClr val="FFF5F5"/>
                    </a:solidFill>
                  </a:tcPr>
                </a:tc>
              </a:tr>
            </a:tbl>
          </a:graphicData>
        </a:graphic>
      </p:graphicFrame>
      <p:sp>
        <p:nvSpPr>
          <p:cNvPr id="263" name="Text 0"/>
          <p:cNvSpPr txBox="1"/>
          <p:nvPr/>
        </p:nvSpPr>
        <p:spPr>
          <a:xfrm>
            <a:off x="81398" y="104938"/>
            <a:ext cx="7315201" cy="45660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3200"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Model Performance Metrics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5" name="Image 0" descr="Image 0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0" y="0"/>
            <a:ext cx="9144001" cy="5143501"/>
          </a:xfrm>
          <a:prstGeom prst="rect">
            <a:avLst/>
          </a:prstGeom>
          <a:ln w="12700">
            <a:miter lim="400000"/>
          </a:ln>
        </p:spPr>
      </p:pic>
      <p:sp>
        <p:nvSpPr>
          <p:cNvPr id="266" name="Text 0"/>
          <p:cNvSpPr txBox="1"/>
          <p:nvPr/>
        </p:nvSpPr>
        <p:spPr>
          <a:xfrm>
            <a:off x="102427" y="135727"/>
            <a:ext cx="7315201" cy="45660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3200"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Results &amp; Performance</a:t>
            </a:r>
          </a:p>
        </p:txBody>
      </p:sp>
      <p:sp>
        <p:nvSpPr>
          <p:cNvPr id="267" name="Shape 1"/>
          <p:cNvSpPr/>
          <p:nvPr/>
        </p:nvSpPr>
        <p:spPr>
          <a:xfrm>
            <a:off x="182879" y="730884"/>
            <a:ext cx="3566161" cy="3913633"/>
          </a:xfrm>
          <a:prstGeom prst="rect">
            <a:avLst/>
          </a:prstGeom>
          <a:solidFill>
            <a:srgbClr val="0D2137"/>
          </a:solidFill>
          <a:ln w="12700">
            <a:solidFill>
              <a:srgbClr val="1A4A6B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268" name="Shape 2"/>
          <p:cNvSpPr/>
          <p:nvPr/>
        </p:nvSpPr>
        <p:spPr>
          <a:xfrm>
            <a:off x="292608" y="877188"/>
            <a:ext cx="219456" cy="219457"/>
          </a:xfrm>
          <a:prstGeom prst="ellipse">
            <a:avLst/>
          </a:prstGeom>
          <a:solidFill>
            <a:srgbClr val="16A34A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269" name="Text 3"/>
          <p:cNvSpPr txBox="1"/>
          <p:nvPr/>
        </p:nvSpPr>
        <p:spPr>
          <a:xfrm>
            <a:off x="292608" y="907921"/>
            <a:ext cx="219456" cy="139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900">
                <a:solidFill>
                  <a:srgbClr val="FFFFFF"/>
                </a:solidFill>
                <a:latin typeface="+mj-lt"/>
                <a:ea typeface="+mj-ea"/>
                <a:cs typeface="+mj-cs"/>
                <a:sym typeface="Helvetica"/>
              </a:defRPr>
            </a:lvl1pPr>
          </a:lstStyle>
          <a:p>
            <a:pPr>
              <a:defRPr>
                <a:latin typeface="+mn-lt"/>
                <a:ea typeface="+mn-ea"/>
                <a:cs typeface="+mn-cs"/>
                <a:sym typeface="Calibri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✓</a:t>
            </a:r>
          </a:p>
        </p:txBody>
      </p:sp>
      <p:sp>
        <p:nvSpPr>
          <p:cNvPr id="270" name="Text 4"/>
          <p:cNvSpPr txBox="1"/>
          <p:nvPr/>
        </p:nvSpPr>
        <p:spPr>
          <a:xfrm>
            <a:off x="630936" y="934938"/>
            <a:ext cx="2926081" cy="341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/>
          <a:p>
            <a:pPr>
              <a:defRPr sz="900">
                <a:solidFill>
                  <a:srgbClr val="E2E8F0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LSTM achieved the highest accuracy (R² = 0.96, </a:t>
            </a:r>
          </a:p>
          <a:p>
            <a:pPr>
              <a:defRPr sz="900">
                <a:solidFill>
                  <a:srgbClr val="E2E8F0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RMSE = 41.69)</a:t>
            </a:r>
          </a:p>
        </p:txBody>
      </p:sp>
      <p:sp>
        <p:nvSpPr>
          <p:cNvPr id="271" name="Shape 5"/>
          <p:cNvSpPr/>
          <p:nvPr/>
        </p:nvSpPr>
        <p:spPr>
          <a:xfrm>
            <a:off x="292608" y="1471548"/>
            <a:ext cx="219456" cy="219457"/>
          </a:xfrm>
          <a:prstGeom prst="ellipse">
            <a:avLst/>
          </a:prstGeom>
          <a:solidFill>
            <a:srgbClr val="16A34A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272" name="Text 6"/>
          <p:cNvSpPr txBox="1"/>
          <p:nvPr/>
        </p:nvSpPr>
        <p:spPr>
          <a:xfrm>
            <a:off x="292608" y="1502281"/>
            <a:ext cx="219456" cy="139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900">
                <a:solidFill>
                  <a:srgbClr val="FFFFFF"/>
                </a:solidFill>
                <a:latin typeface="+mj-lt"/>
                <a:ea typeface="+mj-ea"/>
                <a:cs typeface="+mj-cs"/>
                <a:sym typeface="Helvetica"/>
              </a:defRPr>
            </a:lvl1pPr>
          </a:lstStyle>
          <a:p>
            <a:pPr>
              <a:defRPr>
                <a:latin typeface="+mn-lt"/>
                <a:ea typeface="+mn-ea"/>
                <a:cs typeface="+mn-cs"/>
                <a:sym typeface="Calibri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✓</a:t>
            </a:r>
          </a:p>
        </p:txBody>
      </p:sp>
      <p:sp>
        <p:nvSpPr>
          <p:cNvPr id="273" name="Text 7"/>
          <p:cNvSpPr txBox="1"/>
          <p:nvPr/>
        </p:nvSpPr>
        <p:spPr>
          <a:xfrm>
            <a:off x="630936" y="1529298"/>
            <a:ext cx="2926081" cy="341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sz="900">
                <a:solidFill>
                  <a:srgbClr val="E2E8F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Outperformed traditional models like ARIMA and Prophet</a:t>
            </a:r>
          </a:p>
        </p:txBody>
      </p:sp>
      <p:sp>
        <p:nvSpPr>
          <p:cNvPr id="274" name="Shape 8"/>
          <p:cNvSpPr/>
          <p:nvPr/>
        </p:nvSpPr>
        <p:spPr>
          <a:xfrm>
            <a:off x="292608" y="2065908"/>
            <a:ext cx="219456" cy="219457"/>
          </a:xfrm>
          <a:prstGeom prst="ellipse">
            <a:avLst/>
          </a:prstGeom>
          <a:solidFill>
            <a:srgbClr val="16A34A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275" name="Text 9"/>
          <p:cNvSpPr txBox="1"/>
          <p:nvPr/>
        </p:nvSpPr>
        <p:spPr>
          <a:xfrm>
            <a:off x="292608" y="2096641"/>
            <a:ext cx="219456" cy="139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900">
                <a:solidFill>
                  <a:srgbClr val="FFFFFF"/>
                </a:solidFill>
                <a:latin typeface="+mj-lt"/>
                <a:ea typeface="+mj-ea"/>
                <a:cs typeface="+mj-cs"/>
                <a:sym typeface="Helvetica"/>
              </a:defRPr>
            </a:lvl1pPr>
          </a:lstStyle>
          <a:p>
            <a:pPr>
              <a:defRPr>
                <a:latin typeface="+mn-lt"/>
                <a:ea typeface="+mn-ea"/>
                <a:cs typeface="+mn-cs"/>
                <a:sym typeface="Calibri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✓</a:t>
            </a:r>
          </a:p>
        </p:txBody>
      </p:sp>
      <p:sp>
        <p:nvSpPr>
          <p:cNvPr id="276" name="Text 10"/>
          <p:cNvSpPr txBox="1"/>
          <p:nvPr/>
        </p:nvSpPr>
        <p:spPr>
          <a:xfrm>
            <a:off x="630936" y="2187158"/>
            <a:ext cx="2926081" cy="214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sz="900">
                <a:solidFill>
                  <a:srgbClr val="E2E8F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XGBoost performed well, especially on smaller datasets</a:t>
            </a:r>
          </a:p>
        </p:txBody>
      </p:sp>
      <p:sp>
        <p:nvSpPr>
          <p:cNvPr id="277" name="Shape 11"/>
          <p:cNvSpPr/>
          <p:nvPr/>
        </p:nvSpPr>
        <p:spPr>
          <a:xfrm>
            <a:off x="292608" y="2660268"/>
            <a:ext cx="219456" cy="219457"/>
          </a:xfrm>
          <a:prstGeom prst="ellipse">
            <a:avLst/>
          </a:prstGeom>
          <a:solidFill>
            <a:srgbClr val="16A34A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278" name="Text 12"/>
          <p:cNvSpPr txBox="1"/>
          <p:nvPr/>
        </p:nvSpPr>
        <p:spPr>
          <a:xfrm>
            <a:off x="292608" y="2691002"/>
            <a:ext cx="219456" cy="139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900">
                <a:solidFill>
                  <a:srgbClr val="FFFFFF"/>
                </a:solidFill>
                <a:latin typeface="+mj-lt"/>
                <a:ea typeface="+mj-ea"/>
                <a:cs typeface="+mj-cs"/>
                <a:sym typeface="Helvetica"/>
              </a:defRPr>
            </a:lvl1pPr>
          </a:lstStyle>
          <a:p>
            <a:pPr>
              <a:defRPr>
                <a:latin typeface="+mn-lt"/>
                <a:ea typeface="+mn-ea"/>
                <a:cs typeface="+mn-cs"/>
                <a:sym typeface="Calibri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✓</a:t>
            </a:r>
          </a:p>
        </p:txBody>
      </p:sp>
      <p:sp>
        <p:nvSpPr>
          <p:cNvPr id="279" name="Text 13"/>
          <p:cNvSpPr txBox="1"/>
          <p:nvPr/>
        </p:nvSpPr>
        <p:spPr>
          <a:xfrm>
            <a:off x="630936" y="2718018"/>
            <a:ext cx="2926081" cy="341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sz="900">
                <a:solidFill>
                  <a:srgbClr val="E2E8F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Stock returns exhibited high volatility and fat-tailed distribution</a:t>
            </a:r>
          </a:p>
        </p:txBody>
      </p:sp>
      <p:sp>
        <p:nvSpPr>
          <p:cNvPr id="280" name="Shape 14"/>
          <p:cNvSpPr/>
          <p:nvPr/>
        </p:nvSpPr>
        <p:spPr>
          <a:xfrm>
            <a:off x="292608" y="3254628"/>
            <a:ext cx="219456" cy="219457"/>
          </a:xfrm>
          <a:prstGeom prst="ellipse">
            <a:avLst/>
          </a:prstGeom>
          <a:solidFill>
            <a:srgbClr val="16A34A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281" name="Text 15"/>
          <p:cNvSpPr txBox="1"/>
          <p:nvPr/>
        </p:nvSpPr>
        <p:spPr>
          <a:xfrm>
            <a:off x="292608" y="3285361"/>
            <a:ext cx="219456" cy="139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900">
                <a:solidFill>
                  <a:srgbClr val="FFFFFF"/>
                </a:solidFill>
                <a:latin typeface="+mj-lt"/>
                <a:ea typeface="+mj-ea"/>
                <a:cs typeface="+mj-cs"/>
                <a:sym typeface="Helvetica"/>
              </a:defRPr>
            </a:lvl1pPr>
          </a:lstStyle>
          <a:p>
            <a:pPr>
              <a:defRPr>
                <a:latin typeface="+mn-lt"/>
                <a:ea typeface="+mn-ea"/>
                <a:cs typeface="+mn-cs"/>
                <a:sym typeface="Calibri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✓</a:t>
            </a:r>
          </a:p>
        </p:txBody>
      </p:sp>
      <p:sp>
        <p:nvSpPr>
          <p:cNvPr id="282" name="Text 16"/>
          <p:cNvSpPr txBox="1"/>
          <p:nvPr/>
        </p:nvSpPr>
        <p:spPr>
          <a:xfrm>
            <a:off x="630936" y="3375878"/>
            <a:ext cx="2926081" cy="214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sz="900">
                <a:solidFill>
                  <a:srgbClr val="E2E8F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Backtesting confirmed effective trading signals</a:t>
            </a:r>
          </a:p>
        </p:txBody>
      </p:sp>
      <p:sp>
        <p:nvSpPr>
          <p:cNvPr id="283" name="Shape 17"/>
          <p:cNvSpPr/>
          <p:nvPr/>
        </p:nvSpPr>
        <p:spPr>
          <a:xfrm>
            <a:off x="292608" y="3848988"/>
            <a:ext cx="219456" cy="219457"/>
          </a:xfrm>
          <a:prstGeom prst="ellipse">
            <a:avLst/>
          </a:prstGeom>
          <a:solidFill>
            <a:srgbClr val="16A34A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284" name="Text 18"/>
          <p:cNvSpPr txBox="1"/>
          <p:nvPr/>
        </p:nvSpPr>
        <p:spPr>
          <a:xfrm>
            <a:off x="292608" y="3879722"/>
            <a:ext cx="219456" cy="139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900">
                <a:solidFill>
                  <a:srgbClr val="FFFFFF"/>
                </a:solidFill>
                <a:latin typeface="+mj-lt"/>
                <a:ea typeface="+mj-ea"/>
                <a:cs typeface="+mj-cs"/>
                <a:sym typeface="Helvetica"/>
              </a:defRPr>
            </a:lvl1pPr>
          </a:lstStyle>
          <a:p>
            <a:pPr>
              <a:defRPr>
                <a:latin typeface="+mn-lt"/>
                <a:ea typeface="+mn-ea"/>
                <a:cs typeface="+mn-cs"/>
                <a:sym typeface="Calibri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✓</a:t>
            </a:r>
          </a:p>
        </p:txBody>
      </p:sp>
      <p:sp>
        <p:nvSpPr>
          <p:cNvPr id="285" name="Text 19"/>
          <p:cNvSpPr txBox="1"/>
          <p:nvPr/>
        </p:nvSpPr>
        <p:spPr>
          <a:xfrm>
            <a:off x="630936" y="3970237"/>
            <a:ext cx="2926081" cy="21470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sz="900">
                <a:solidFill>
                  <a:srgbClr val="E2E8F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Overall improvement in prediction accuracy</a:t>
            </a:r>
          </a:p>
        </p:txBody>
      </p:sp>
      <p:sp>
        <p:nvSpPr>
          <p:cNvPr id="286" name="Text 20"/>
          <p:cNvSpPr txBox="1"/>
          <p:nvPr/>
        </p:nvSpPr>
        <p:spPr>
          <a:xfrm>
            <a:off x="3977640" y="786209"/>
            <a:ext cx="4892040" cy="26425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b="1" sz="1200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Model Comparison (R² Score)</a:t>
            </a:r>
          </a:p>
        </p:txBody>
      </p:sp>
      <p:sp>
        <p:nvSpPr>
          <p:cNvPr id="287" name="Shape 21"/>
          <p:cNvSpPr/>
          <p:nvPr/>
        </p:nvSpPr>
        <p:spPr>
          <a:xfrm>
            <a:off x="3886200" y="1114932"/>
            <a:ext cx="5074921" cy="2880361"/>
          </a:xfrm>
          <a:prstGeom prst="rect">
            <a:avLst/>
          </a:prstGeom>
          <a:solidFill>
            <a:srgbClr val="FAFAFA"/>
          </a:solidFill>
          <a:ln w="12700">
            <a:solidFill>
              <a:srgbClr val="E2E8F0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288" name="Shape 22"/>
          <p:cNvSpPr/>
          <p:nvPr/>
        </p:nvSpPr>
        <p:spPr>
          <a:xfrm>
            <a:off x="4069079" y="3480942"/>
            <a:ext cx="4343401" cy="1"/>
          </a:xfrm>
          <a:prstGeom prst="line">
            <a:avLst/>
          </a:prstGeom>
          <a:ln w="6350">
            <a:solidFill>
              <a:srgbClr val="E2E8F0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289" name="Text 23"/>
          <p:cNvSpPr txBox="1"/>
          <p:nvPr/>
        </p:nvSpPr>
        <p:spPr>
          <a:xfrm>
            <a:off x="3767328" y="3324006"/>
            <a:ext cx="228601" cy="32301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r">
              <a:defRPr sz="800">
                <a:solidFill>
                  <a:srgbClr val="94A3B8"/>
                </a:solidFill>
              </a:defRPr>
            </a:lvl1pPr>
          </a:lstStyle>
          <a:p>
            <a:pPr/>
            <a:r>
              <a:t>0.25</a:t>
            </a:r>
          </a:p>
        </p:txBody>
      </p:sp>
      <p:sp>
        <p:nvSpPr>
          <p:cNvPr id="290" name="Shape 24"/>
          <p:cNvSpPr/>
          <p:nvPr/>
        </p:nvSpPr>
        <p:spPr>
          <a:xfrm>
            <a:off x="4069079" y="2829432"/>
            <a:ext cx="4343401" cy="1"/>
          </a:xfrm>
          <a:prstGeom prst="line">
            <a:avLst/>
          </a:prstGeom>
          <a:ln w="6350">
            <a:solidFill>
              <a:srgbClr val="E2E8F0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291" name="Text 25"/>
          <p:cNvSpPr txBox="1"/>
          <p:nvPr/>
        </p:nvSpPr>
        <p:spPr>
          <a:xfrm>
            <a:off x="3767328" y="2672496"/>
            <a:ext cx="228601" cy="32301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r">
              <a:defRPr sz="800">
                <a:solidFill>
                  <a:srgbClr val="94A3B8"/>
                </a:solidFill>
              </a:defRPr>
            </a:lvl1pPr>
          </a:lstStyle>
          <a:p>
            <a:pPr/>
            <a:r>
              <a:t>0.50</a:t>
            </a:r>
          </a:p>
        </p:txBody>
      </p:sp>
      <p:sp>
        <p:nvSpPr>
          <p:cNvPr id="292" name="Shape 26"/>
          <p:cNvSpPr/>
          <p:nvPr/>
        </p:nvSpPr>
        <p:spPr>
          <a:xfrm>
            <a:off x="4069079" y="2177922"/>
            <a:ext cx="4343401" cy="1"/>
          </a:xfrm>
          <a:prstGeom prst="line">
            <a:avLst/>
          </a:prstGeom>
          <a:ln w="6350">
            <a:solidFill>
              <a:srgbClr val="E2E8F0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293" name="Text 27"/>
          <p:cNvSpPr txBox="1"/>
          <p:nvPr/>
        </p:nvSpPr>
        <p:spPr>
          <a:xfrm>
            <a:off x="3767328" y="2020986"/>
            <a:ext cx="228601" cy="32301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r">
              <a:defRPr sz="800">
                <a:solidFill>
                  <a:srgbClr val="94A3B8"/>
                </a:solidFill>
              </a:defRPr>
            </a:lvl1pPr>
          </a:lstStyle>
          <a:p>
            <a:pPr/>
            <a:r>
              <a:t>0.75</a:t>
            </a:r>
          </a:p>
        </p:txBody>
      </p:sp>
      <p:sp>
        <p:nvSpPr>
          <p:cNvPr id="294" name="Shape 28"/>
          <p:cNvSpPr/>
          <p:nvPr/>
        </p:nvSpPr>
        <p:spPr>
          <a:xfrm>
            <a:off x="4069079" y="1526412"/>
            <a:ext cx="4343401" cy="1"/>
          </a:xfrm>
          <a:prstGeom prst="line">
            <a:avLst/>
          </a:prstGeom>
          <a:ln w="6350">
            <a:solidFill>
              <a:srgbClr val="E2E8F0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295" name="Text 29"/>
          <p:cNvSpPr txBox="1"/>
          <p:nvPr/>
        </p:nvSpPr>
        <p:spPr>
          <a:xfrm>
            <a:off x="3767328" y="1369476"/>
            <a:ext cx="228601" cy="32301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r">
              <a:defRPr sz="800">
                <a:solidFill>
                  <a:srgbClr val="94A3B8"/>
                </a:solidFill>
              </a:defRPr>
            </a:lvl1pPr>
          </a:lstStyle>
          <a:p>
            <a:pPr/>
            <a:r>
              <a:t>1.00</a:t>
            </a:r>
          </a:p>
        </p:txBody>
      </p:sp>
      <p:sp>
        <p:nvSpPr>
          <p:cNvPr id="296" name="Shape 30"/>
          <p:cNvSpPr/>
          <p:nvPr/>
        </p:nvSpPr>
        <p:spPr>
          <a:xfrm>
            <a:off x="4142232" y="1630654"/>
            <a:ext cx="621793" cy="2501799"/>
          </a:xfrm>
          <a:prstGeom prst="rect">
            <a:avLst/>
          </a:prstGeom>
          <a:solidFill>
            <a:srgbClr val="16A34A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297" name="Text 31"/>
          <p:cNvSpPr txBox="1"/>
          <p:nvPr/>
        </p:nvSpPr>
        <p:spPr>
          <a:xfrm>
            <a:off x="4187952" y="1388382"/>
            <a:ext cx="530353" cy="2285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b="1" sz="1000">
                <a:solidFill>
                  <a:srgbClr val="16A34A"/>
                </a:solidFill>
              </a:defRPr>
            </a:lvl1pPr>
          </a:lstStyle>
          <a:p>
            <a:pPr/>
            <a:r>
              <a:t>0.96</a:t>
            </a:r>
          </a:p>
        </p:txBody>
      </p:sp>
      <p:sp>
        <p:nvSpPr>
          <p:cNvPr id="298" name="Text 32"/>
          <p:cNvSpPr txBox="1"/>
          <p:nvPr/>
        </p:nvSpPr>
        <p:spPr>
          <a:xfrm>
            <a:off x="4151376" y="4241556"/>
            <a:ext cx="603505" cy="20241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sz="800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LSTM</a:t>
            </a:r>
          </a:p>
        </p:txBody>
      </p:sp>
      <p:sp>
        <p:nvSpPr>
          <p:cNvPr id="299" name="Shape 33"/>
          <p:cNvSpPr/>
          <p:nvPr/>
        </p:nvSpPr>
        <p:spPr>
          <a:xfrm>
            <a:off x="5020055" y="1891258"/>
            <a:ext cx="621793" cy="2241195"/>
          </a:xfrm>
          <a:prstGeom prst="rect">
            <a:avLst/>
          </a:prstGeom>
          <a:solidFill>
            <a:srgbClr val="3B82F6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300" name="Text 34"/>
          <p:cNvSpPr txBox="1"/>
          <p:nvPr/>
        </p:nvSpPr>
        <p:spPr>
          <a:xfrm>
            <a:off x="5065776" y="1648987"/>
            <a:ext cx="530353" cy="22851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b="1" sz="1000">
                <a:solidFill>
                  <a:srgbClr val="3B82F6"/>
                </a:solidFill>
              </a:defRPr>
            </a:lvl1pPr>
          </a:lstStyle>
          <a:p>
            <a:pPr/>
            <a:r>
              <a:t>0.86</a:t>
            </a:r>
          </a:p>
        </p:txBody>
      </p:sp>
      <p:sp>
        <p:nvSpPr>
          <p:cNvPr id="301" name="Text 35"/>
          <p:cNvSpPr txBox="1"/>
          <p:nvPr/>
        </p:nvSpPr>
        <p:spPr>
          <a:xfrm>
            <a:off x="5029200" y="4241556"/>
            <a:ext cx="603505" cy="20241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sz="800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XGBoost</a:t>
            </a:r>
          </a:p>
        </p:txBody>
      </p:sp>
      <p:sp>
        <p:nvSpPr>
          <p:cNvPr id="302" name="Shape 36"/>
          <p:cNvSpPr/>
          <p:nvPr/>
        </p:nvSpPr>
        <p:spPr>
          <a:xfrm>
            <a:off x="5897879" y="2516707"/>
            <a:ext cx="621793" cy="1615746"/>
          </a:xfrm>
          <a:prstGeom prst="rect">
            <a:avLst/>
          </a:prstGeom>
          <a:solidFill>
            <a:srgbClr val="CA8A04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303" name="Text 37"/>
          <p:cNvSpPr txBox="1"/>
          <p:nvPr/>
        </p:nvSpPr>
        <p:spPr>
          <a:xfrm>
            <a:off x="5943600" y="2274436"/>
            <a:ext cx="530352" cy="22851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b="1" sz="1000">
                <a:solidFill>
                  <a:srgbClr val="CA8A04"/>
                </a:solidFill>
              </a:defRPr>
            </a:lvl1pPr>
          </a:lstStyle>
          <a:p>
            <a:pPr/>
            <a:r>
              <a:t>0.62</a:t>
            </a:r>
          </a:p>
        </p:txBody>
      </p:sp>
      <p:sp>
        <p:nvSpPr>
          <p:cNvPr id="304" name="Text 38"/>
          <p:cNvSpPr txBox="1"/>
          <p:nvPr/>
        </p:nvSpPr>
        <p:spPr>
          <a:xfrm>
            <a:off x="5907023" y="4184406"/>
            <a:ext cx="603505" cy="31671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/>
          <a:p>
            <a:pPr algn="ctr">
              <a:defRPr sz="800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Linear</a:t>
            </a:r>
          </a:p>
          <a:p>
            <a:pPr algn="ctr">
              <a:defRPr sz="800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Reg.</a:t>
            </a:r>
          </a:p>
        </p:txBody>
      </p:sp>
      <p:sp>
        <p:nvSpPr>
          <p:cNvPr id="305" name="Shape 39"/>
          <p:cNvSpPr/>
          <p:nvPr/>
        </p:nvSpPr>
        <p:spPr>
          <a:xfrm>
            <a:off x="6775704" y="2881553"/>
            <a:ext cx="621793" cy="1250900"/>
          </a:xfrm>
          <a:prstGeom prst="rect">
            <a:avLst/>
          </a:prstGeom>
          <a:solidFill>
            <a:srgbClr val="7C3AED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306" name="Text 40"/>
          <p:cNvSpPr txBox="1"/>
          <p:nvPr/>
        </p:nvSpPr>
        <p:spPr>
          <a:xfrm>
            <a:off x="6821423" y="2639281"/>
            <a:ext cx="530353" cy="2285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b="1" sz="1000">
                <a:solidFill>
                  <a:srgbClr val="7C3AED"/>
                </a:solidFill>
              </a:defRPr>
            </a:lvl1pPr>
          </a:lstStyle>
          <a:p>
            <a:pPr/>
            <a:r>
              <a:t>0.48</a:t>
            </a:r>
          </a:p>
        </p:txBody>
      </p:sp>
      <p:sp>
        <p:nvSpPr>
          <p:cNvPr id="307" name="Text 41"/>
          <p:cNvSpPr txBox="1"/>
          <p:nvPr/>
        </p:nvSpPr>
        <p:spPr>
          <a:xfrm>
            <a:off x="6784847" y="4241556"/>
            <a:ext cx="603505" cy="20241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sz="800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ARIMA</a:t>
            </a:r>
          </a:p>
        </p:txBody>
      </p:sp>
      <p:sp>
        <p:nvSpPr>
          <p:cNvPr id="308" name="Shape 42"/>
          <p:cNvSpPr/>
          <p:nvPr/>
        </p:nvSpPr>
        <p:spPr>
          <a:xfrm>
            <a:off x="7653528" y="2959734"/>
            <a:ext cx="621793" cy="1172719"/>
          </a:xfrm>
          <a:prstGeom prst="rect">
            <a:avLst/>
          </a:prstGeom>
          <a:solidFill>
            <a:srgbClr val="EF4444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309" name="Text 43"/>
          <p:cNvSpPr txBox="1"/>
          <p:nvPr/>
        </p:nvSpPr>
        <p:spPr>
          <a:xfrm>
            <a:off x="7699247" y="2717462"/>
            <a:ext cx="530353" cy="2285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b="1" sz="1000">
                <a:solidFill>
                  <a:srgbClr val="EF4444"/>
                </a:solidFill>
              </a:defRPr>
            </a:lvl1pPr>
          </a:lstStyle>
          <a:p>
            <a:pPr/>
            <a:r>
              <a:t>0.45</a:t>
            </a:r>
          </a:p>
        </p:txBody>
      </p:sp>
      <p:sp>
        <p:nvSpPr>
          <p:cNvPr id="310" name="Text 44"/>
          <p:cNvSpPr txBox="1"/>
          <p:nvPr/>
        </p:nvSpPr>
        <p:spPr>
          <a:xfrm>
            <a:off x="7662671" y="4241556"/>
            <a:ext cx="603505" cy="20241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sz="800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Prophet</a:t>
            </a:r>
          </a:p>
        </p:txBody>
      </p:sp>
      <p:sp>
        <p:nvSpPr>
          <p:cNvPr id="311" name="Shape 45"/>
          <p:cNvSpPr/>
          <p:nvPr/>
        </p:nvSpPr>
        <p:spPr>
          <a:xfrm>
            <a:off x="3886200" y="4662804"/>
            <a:ext cx="5074921" cy="274321"/>
          </a:xfrm>
          <a:prstGeom prst="rect">
            <a:avLst/>
          </a:prstGeom>
          <a:solidFill>
            <a:srgbClr val="FEF9C3"/>
          </a:solidFill>
          <a:ln w="12700">
            <a:solidFill>
              <a:srgbClr val="FDE047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312" name="Text 46"/>
          <p:cNvSpPr txBox="1"/>
          <p:nvPr/>
        </p:nvSpPr>
        <p:spPr>
          <a:xfrm>
            <a:off x="3931920" y="4639943"/>
            <a:ext cx="4983480" cy="3200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b="1" sz="1100">
                <a:solidFill>
                  <a:srgbClr val="854D0E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🏆  LSTM Outperformed All Models</a:t>
            </a:r>
          </a:p>
        </p:txBody>
      </p:sp>
      <p:sp>
        <p:nvSpPr>
          <p:cNvPr id="313" name="Text 47"/>
          <p:cNvSpPr txBox="1"/>
          <p:nvPr/>
        </p:nvSpPr>
        <p:spPr>
          <a:xfrm>
            <a:off x="8732519" y="4929124"/>
            <a:ext cx="27432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r">
              <a:defRPr b="1" sz="900">
                <a:solidFill>
                  <a:srgbClr val="FFFFFF"/>
                </a:solidFill>
              </a:defRPr>
            </a:lvl1pPr>
          </a:lstStyle>
          <a:p>
            <a:pPr/>
            <a:r>
              <a:t>6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5" name="Image 0" descr="Image 0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0" y="0"/>
            <a:ext cx="9144001" cy="5143501"/>
          </a:xfrm>
          <a:prstGeom prst="rect">
            <a:avLst/>
          </a:prstGeom>
          <a:ln w="12700">
            <a:miter lim="400000"/>
          </a:ln>
        </p:spPr>
      </p:pic>
      <p:sp>
        <p:nvSpPr>
          <p:cNvPr id="316" name="Text 0"/>
          <p:cNvSpPr txBox="1"/>
          <p:nvPr/>
        </p:nvSpPr>
        <p:spPr>
          <a:xfrm>
            <a:off x="81398" y="141999"/>
            <a:ext cx="7177533" cy="38248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2700"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Results: Model Comparison (TCS.NS)</a:t>
            </a:r>
          </a:p>
        </p:txBody>
      </p:sp>
      <p:graphicFrame>
        <p:nvGraphicFramePr>
          <p:cNvPr id="317" name="Table 0"/>
          <p:cNvGraphicFramePr/>
          <p:nvPr/>
        </p:nvGraphicFramePr>
        <p:xfrm>
          <a:off x="868680" y="819227"/>
          <a:ext cx="7406640" cy="3950210"/>
        </p:xfrm>
        <a:graphic xmlns:a="http://schemas.openxmlformats.org/drawingml/2006/main">
          <a:graphicData uri="http://schemas.openxmlformats.org/drawingml/2006/table">
            <a:tbl>
              <a:tblPr firstCol="0" firstRow="0" lastCol="0" lastRow="0" bandCol="0" bandRow="0" rtl="0">
                <a:tableStyleId>{4C3C2611-4C71-4FC5-86AE-919BDF0F9419}</a:tableStyleId>
              </a:tblPr>
              <a:tblGrid>
                <a:gridCol w="2926080"/>
                <a:gridCol w="1097280"/>
                <a:gridCol w="1097280"/>
                <a:gridCol w="1097280"/>
                <a:gridCol w="1188720"/>
              </a:tblGrid>
              <a:tr h="329184"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b="1" sz="1000">
                          <a:solidFill>
                            <a:srgbClr val="FFFFFF"/>
                          </a:solidFill>
                        </a:rPr>
                        <a:t>Model</a:t>
                      </a:r>
                    </a:p>
                  </a:txBody>
                  <a:tcPr marL="45720" marR="45720" marT="45720" marB="45720" anchor="t" anchorCtr="0" horzOverflow="overflow">
                    <a:lnL w="6350">
                      <a:solidFill>
                        <a:srgbClr val="E2E8F0"/>
                      </a:solidFill>
                    </a:lnL>
                    <a:lnR w="6350">
                      <a:solidFill>
                        <a:srgbClr val="E2E8F0"/>
                      </a:solidFill>
                    </a:lnR>
                    <a:lnT w="6350">
                      <a:solidFill>
                        <a:srgbClr val="E2E8F0"/>
                      </a:solidFill>
                    </a:lnT>
                    <a:lnB w="6350">
                      <a:solidFill>
                        <a:srgbClr val="E2E8F0"/>
                      </a:solidFill>
                    </a:lnB>
                    <a:solidFill>
                      <a:srgbClr val="EA482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b="1" sz="1000">
                          <a:solidFill>
                            <a:srgbClr val="FFFFFF"/>
                          </a:solidFill>
                        </a:rPr>
                        <a:t>RMSE</a:t>
                      </a:r>
                    </a:p>
                  </a:txBody>
                  <a:tcPr marL="45720" marR="45720" marT="45720" marB="45720" anchor="t" anchorCtr="0" horzOverflow="overflow">
                    <a:lnL w="6350">
                      <a:solidFill>
                        <a:srgbClr val="E2E8F0"/>
                      </a:solidFill>
                    </a:lnL>
                    <a:lnR w="6350">
                      <a:solidFill>
                        <a:srgbClr val="E2E8F0"/>
                      </a:solidFill>
                    </a:lnR>
                    <a:lnT w="6350">
                      <a:solidFill>
                        <a:srgbClr val="E2E8F0"/>
                      </a:solidFill>
                    </a:lnT>
                    <a:lnB w="6350">
                      <a:solidFill>
                        <a:srgbClr val="E2E8F0"/>
                      </a:solidFill>
                    </a:lnB>
                    <a:solidFill>
                      <a:srgbClr val="EA482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b="1" sz="1000">
                          <a:solidFill>
                            <a:srgbClr val="FFFFFF"/>
                          </a:solidFill>
                        </a:rPr>
                        <a:t>MAE</a:t>
                      </a:r>
                    </a:p>
                  </a:txBody>
                  <a:tcPr marL="45720" marR="45720" marT="45720" marB="45720" anchor="t" anchorCtr="0" horzOverflow="overflow">
                    <a:lnL w="6350">
                      <a:solidFill>
                        <a:srgbClr val="E2E8F0"/>
                      </a:solidFill>
                    </a:lnL>
                    <a:lnR w="6350">
                      <a:solidFill>
                        <a:srgbClr val="E2E8F0"/>
                      </a:solidFill>
                    </a:lnR>
                    <a:lnT w="6350">
                      <a:solidFill>
                        <a:srgbClr val="E2E8F0"/>
                      </a:solidFill>
                    </a:lnT>
                    <a:lnB w="6350">
                      <a:solidFill>
                        <a:srgbClr val="E2E8F0"/>
                      </a:solidFill>
                    </a:lnB>
                    <a:solidFill>
                      <a:srgbClr val="EA482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b="1" sz="1000">
                          <a:solidFill>
                            <a:srgbClr val="FFFFFF"/>
                          </a:solidFill>
                        </a:rPr>
                        <a:t>R²</a:t>
                      </a:r>
                    </a:p>
                  </a:txBody>
                  <a:tcPr marL="45720" marR="45720" marT="45720" marB="45720" anchor="t" anchorCtr="0" horzOverflow="overflow">
                    <a:lnL w="6350">
                      <a:solidFill>
                        <a:srgbClr val="E2E8F0"/>
                      </a:solidFill>
                    </a:lnL>
                    <a:lnR w="6350">
                      <a:solidFill>
                        <a:srgbClr val="E2E8F0"/>
                      </a:solidFill>
                    </a:lnR>
                    <a:lnT w="6350">
                      <a:solidFill>
                        <a:srgbClr val="E2E8F0"/>
                      </a:solidFill>
                    </a:lnT>
                    <a:lnB w="6350">
                      <a:solidFill>
                        <a:srgbClr val="E2E8F0"/>
                      </a:solidFill>
                    </a:lnB>
                    <a:solidFill>
                      <a:srgbClr val="EA482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b="1" sz="1000">
                          <a:solidFill>
                            <a:srgbClr val="FFFFFF"/>
                          </a:solidFill>
                        </a:rPr>
                        <a:t>Dir. Acc.</a:t>
                      </a:r>
                    </a:p>
                  </a:txBody>
                  <a:tcPr marL="45720" marR="45720" marT="45720" marB="45720" anchor="t" anchorCtr="0" horzOverflow="overflow">
                    <a:lnL w="6350">
                      <a:solidFill>
                        <a:srgbClr val="E2E8F0"/>
                      </a:solidFill>
                    </a:lnL>
                    <a:lnR w="6350">
                      <a:solidFill>
                        <a:srgbClr val="E2E8F0"/>
                      </a:solidFill>
                    </a:lnR>
                    <a:lnT w="6350">
                      <a:solidFill>
                        <a:srgbClr val="E2E8F0"/>
                      </a:solidFill>
                    </a:lnT>
                    <a:lnB w="6350">
                      <a:solidFill>
                        <a:srgbClr val="E2E8F0"/>
                      </a:solidFill>
                    </a:lnB>
                    <a:solidFill>
                      <a:srgbClr val="EA4826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b="1" sz="1000">
                          <a:solidFill>
                            <a:srgbClr val="065A82"/>
                          </a:solidFill>
                        </a:rPr>
                        <a:t>LSTM (TCS.NS)</a:t>
                      </a:r>
                    </a:p>
                  </a:txBody>
                  <a:tcPr marL="45720" marR="45720" marT="45720" marB="45720" anchor="t" anchorCtr="0" horzOverflow="overflow">
                    <a:lnL w="6350">
                      <a:solidFill>
                        <a:srgbClr val="E2E8F0"/>
                      </a:solidFill>
                    </a:lnL>
                    <a:lnR w="6350">
                      <a:solidFill>
                        <a:srgbClr val="E2E8F0"/>
                      </a:solidFill>
                    </a:lnR>
                    <a:lnT w="6350">
                      <a:solidFill>
                        <a:srgbClr val="E2E8F0"/>
                      </a:solidFill>
                    </a:lnT>
                    <a:lnB w="6350">
                      <a:solidFill>
                        <a:srgbClr val="E2E8F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000"/>
                        <a:t>89.81</a:t>
                      </a:r>
                    </a:p>
                  </a:txBody>
                  <a:tcPr marL="45720" marR="45720" marT="45720" marB="45720" anchor="t" anchorCtr="0" horzOverflow="overflow">
                    <a:lnL w="6350">
                      <a:solidFill>
                        <a:srgbClr val="E2E8F0"/>
                      </a:solidFill>
                    </a:lnL>
                    <a:lnR w="6350">
                      <a:solidFill>
                        <a:srgbClr val="E2E8F0"/>
                      </a:solidFill>
                    </a:lnR>
                    <a:lnT w="6350">
                      <a:solidFill>
                        <a:srgbClr val="E2E8F0"/>
                      </a:solidFill>
                    </a:lnT>
                    <a:lnB w="6350">
                      <a:solidFill>
                        <a:srgbClr val="E2E8F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000"/>
                        <a:t>89.12</a:t>
                      </a:r>
                    </a:p>
                  </a:txBody>
                  <a:tcPr marL="45720" marR="45720" marT="45720" marB="45720" anchor="t" anchorCtr="0" horzOverflow="overflow">
                    <a:lnL w="6350">
                      <a:solidFill>
                        <a:srgbClr val="E2E8F0"/>
                      </a:solidFill>
                    </a:lnL>
                    <a:lnR w="6350">
                      <a:solidFill>
                        <a:srgbClr val="E2E8F0"/>
                      </a:solidFill>
                    </a:lnR>
                    <a:lnT w="6350">
                      <a:solidFill>
                        <a:srgbClr val="E2E8F0"/>
                      </a:solidFill>
                    </a:lnT>
                    <a:lnB w="6350">
                      <a:solidFill>
                        <a:srgbClr val="E2E8F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000"/>
                        <a:t>0.8977</a:t>
                      </a:r>
                    </a:p>
                  </a:txBody>
                  <a:tcPr marL="45720" marR="45720" marT="45720" marB="45720" anchor="t" anchorCtr="0" horzOverflow="overflow">
                    <a:lnL w="6350">
                      <a:solidFill>
                        <a:srgbClr val="E2E8F0"/>
                      </a:solidFill>
                    </a:lnL>
                    <a:lnR w="6350">
                      <a:solidFill>
                        <a:srgbClr val="E2E8F0"/>
                      </a:solidFill>
                    </a:lnR>
                    <a:lnT w="6350">
                      <a:solidFill>
                        <a:srgbClr val="E2E8F0"/>
                      </a:solidFill>
                    </a:lnT>
                    <a:lnB w="6350">
                      <a:solidFill>
                        <a:srgbClr val="E2E8F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000"/>
                        <a:t>—</a:t>
                      </a:r>
                    </a:p>
                  </a:txBody>
                  <a:tcPr marL="45720" marR="45720" marT="45720" marB="45720" anchor="t" anchorCtr="0" horzOverflow="overflow">
                    <a:lnL w="6350">
                      <a:solidFill>
                        <a:srgbClr val="E2E8F0"/>
                      </a:solidFill>
                    </a:lnL>
                    <a:lnR w="6350">
                      <a:solidFill>
                        <a:srgbClr val="E2E8F0"/>
                      </a:solidFill>
                    </a:lnR>
                    <a:lnT w="6350">
                      <a:solidFill>
                        <a:srgbClr val="E2E8F0"/>
                      </a:solidFill>
                    </a:lnT>
                    <a:lnB w="6350">
                      <a:solidFill>
                        <a:srgbClr val="E2E8F0"/>
                      </a:solidFill>
                    </a:lnB>
                    <a:noFill/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000"/>
                        <a:t>SVR</a:t>
                      </a:r>
                    </a:p>
                  </a:txBody>
                  <a:tcPr marL="45720" marR="45720" marT="45720" marB="45720" anchor="t" anchorCtr="0" horzOverflow="overflow">
                    <a:lnL w="6350">
                      <a:solidFill>
                        <a:srgbClr val="E2E8F0"/>
                      </a:solidFill>
                    </a:lnL>
                    <a:lnR w="6350">
                      <a:solidFill>
                        <a:srgbClr val="E2E8F0"/>
                      </a:solidFill>
                    </a:lnR>
                    <a:lnT w="6350">
                      <a:solidFill>
                        <a:srgbClr val="E2E8F0"/>
                      </a:solidFill>
                    </a:lnT>
                    <a:lnB w="6350">
                      <a:solidFill>
                        <a:srgbClr val="E2E8F0"/>
                      </a:solidFill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000"/>
                        <a:t>59.26</a:t>
                      </a:r>
                    </a:p>
                  </a:txBody>
                  <a:tcPr marL="45720" marR="45720" marT="45720" marB="45720" anchor="t" anchorCtr="0" horzOverflow="overflow">
                    <a:lnL w="6350">
                      <a:solidFill>
                        <a:srgbClr val="E2E8F0"/>
                      </a:solidFill>
                    </a:lnL>
                    <a:lnR w="6350">
                      <a:solidFill>
                        <a:srgbClr val="E2E8F0"/>
                      </a:solidFill>
                    </a:lnR>
                    <a:lnT w="6350">
                      <a:solidFill>
                        <a:srgbClr val="E2E8F0"/>
                      </a:solidFill>
                    </a:lnT>
                    <a:lnB w="6350">
                      <a:solidFill>
                        <a:srgbClr val="E2E8F0"/>
                      </a:solidFill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000"/>
                        <a:t>65.12</a:t>
                      </a:r>
                    </a:p>
                  </a:txBody>
                  <a:tcPr marL="45720" marR="45720" marT="45720" marB="45720" anchor="t" anchorCtr="0" horzOverflow="overflow">
                    <a:lnL w="6350">
                      <a:solidFill>
                        <a:srgbClr val="E2E8F0"/>
                      </a:solidFill>
                    </a:lnL>
                    <a:lnR w="6350">
                      <a:solidFill>
                        <a:srgbClr val="E2E8F0"/>
                      </a:solidFill>
                    </a:lnR>
                    <a:lnT w="6350">
                      <a:solidFill>
                        <a:srgbClr val="E2E8F0"/>
                      </a:solidFill>
                    </a:lnT>
                    <a:lnB w="6350">
                      <a:solidFill>
                        <a:srgbClr val="E2E8F0"/>
                      </a:solidFill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000"/>
                        <a:t>0.8804</a:t>
                      </a:r>
                    </a:p>
                  </a:txBody>
                  <a:tcPr marL="45720" marR="45720" marT="45720" marB="45720" anchor="t" anchorCtr="0" horzOverflow="overflow">
                    <a:lnL w="6350">
                      <a:solidFill>
                        <a:srgbClr val="E2E8F0"/>
                      </a:solidFill>
                    </a:lnL>
                    <a:lnR w="6350">
                      <a:solidFill>
                        <a:srgbClr val="E2E8F0"/>
                      </a:solidFill>
                    </a:lnR>
                    <a:lnT w="6350">
                      <a:solidFill>
                        <a:srgbClr val="E2E8F0"/>
                      </a:solidFill>
                    </a:lnT>
                    <a:lnB w="6350">
                      <a:solidFill>
                        <a:srgbClr val="E2E8F0"/>
                      </a:solidFill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000"/>
                        <a:t>0.503</a:t>
                      </a:r>
                    </a:p>
                  </a:txBody>
                  <a:tcPr marL="45720" marR="45720" marT="45720" marB="45720" anchor="t" anchorCtr="0" horzOverflow="overflow">
                    <a:lnL w="6350">
                      <a:solidFill>
                        <a:srgbClr val="E2E8F0"/>
                      </a:solidFill>
                    </a:lnL>
                    <a:lnR w="6350">
                      <a:solidFill>
                        <a:srgbClr val="E2E8F0"/>
                      </a:solidFill>
                    </a:lnR>
                    <a:lnT w="6350">
                      <a:solidFill>
                        <a:srgbClr val="E2E8F0"/>
                      </a:solidFill>
                    </a:lnT>
                    <a:lnB w="6350">
                      <a:solidFill>
                        <a:srgbClr val="E2E8F0"/>
                      </a:solidFill>
                    </a:lnB>
                    <a:solidFill>
                      <a:srgbClr val="EFF6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000"/>
                        <a:t>Gradient Boosting</a:t>
                      </a:r>
                    </a:p>
                  </a:txBody>
                  <a:tcPr marL="45720" marR="45720" marT="45720" marB="45720" anchor="t" anchorCtr="0" horzOverflow="overflow">
                    <a:lnL w="6350">
                      <a:solidFill>
                        <a:srgbClr val="E2E8F0"/>
                      </a:solidFill>
                    </a:lnL>
                    <a:lnR w="6350">
                      <a:solidFill>
                        <a:srgbClr val="E2E8F0"/>
                      </a:solidFill>
                    </a:lnR>
                    <a:lnT w="6350">
                      <a:solidFill>
                        <a:srgbClr val="E2E8F0"/>
                      </a:solidFill>
                    </a:lnT>
                    <a:lnB w="6350">
                      <a:solidFill>
                        <a:srgbClr val="E2E8F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000"/>
                        <a:t>82.07</a:t>
                      </a:r>
                    </a:p>
                  </a:txBody>
                  <a:tcPr marL="45720" marR="45720" marT="45720" marB="45720" anchor="t" anchorCtr="0" horzOverflow="overflow">
                    <a:lnL w="6350">
                      <a:solidFill>
                        <a:srgbClr val="E2E8F0"/>
                      </a:solidFill>
                    </a:lnL>
                    <a:lnR w="6350">
                      <a:solidFill>
                        <a:srgbClr val="E2E8F0"/>
                      </a:solidFill>
                    </a:lnR>
                    <a:lnT w="6350">
                      <a:solidFill>
                        <a:srgbClr val="E2E8F0"/>
                      </a:solidFill>
                    </a:lnT>
                    <a:lnB w="6350">
                      <a:solidFill>
                        <a:srgbClr val="E2E8F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000"/>
                        <a:t>71.24</a:t>
                      </a:r>
                    </a:p>
                  </a:txBody>
                  <a:tcPr marL="45720" marR="45720" marT="45720" marB="45720" anchor="t" anchorCtr="0" horzOverflow="overflow">
                    <a:lnL w="6350">
                      <a:solidFill>
                        <a:srgbClr val="E2E8F0"/>
                      </a:solidFill>
                    </a:lnL>
                    <a:lnR w="6350">
                      <a:solidFill>
                        <a:srgbClr val="E2E8F0"/>
                      </a:solidFill>
                    </a:lnR>
                    <a:lnT w="6350">
                      <a:solidFill>
                        <a:srgbClr val="E2E8F0"/>
                      </a:solidFill>
                    </a:lnT>
                    <a:lnB w="6350">
                      <a:solidFill>
                        <a:srgbClr val="E2E8F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000"/>
                        <a:t>0.8805</a:t>
                      </a:r>
                    </a:p>
                  </a:txBody>
                  <a:tcPr marL="45720" marR="45720" marT="45720" marB="45720" anchor="t" anchorCtr="0" horzOverflow="overflow">
                    <a:lnL w="6350">
                      <a:solidFill>
                        <a:srgbClr val="E2E8F0"/>
                      </a:solidFill>
                    </a:lnL>
                    <a:lnR w="6350">
                      <a:solidFill>
                        <a:srgbClr val="E2E8F0"/>
                      </a:solidFill>
                    </a:lnR>
                    <a:lnT w="6350">
                      <a:solidFill>
                        <a:srgbClr val="E2E8F0"/>
                      </a:solidFill>
                    </a:lnT>
                    <a:lnB w="6350">
                      <a:solidFill>
                        <a:srgbClr val="E2E8F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000"/>
                        <a:t>0.499</a:t>
                      </a:r>
                    </a:p>
                  </a:txBody>
                  <a:tcPr marL="45720" marR="45720" marT="45720" marB="45720" anchor="t" anchorCtr="0" horzOverflow="overflow">
                    <a:lnL w="6350">
                      <a:solidFill>
                        <a:srgbClr val="E2E8F0"/>
                      </a:solidFill>
                    </a:lnL>
                    <a:lnR w="6350">
                      <a:solidFill>
                        <a:srgbClr val="E2E8F0"/>
                      </a:solidFill>
                    </a:lnR>
                    <a:lnT w="6350">
                      <a:solidFill>
                        <a:srgbClr val="E2E8F0"/>
                      </a:solidFill>
                    </a:lnT>
                    <a:lnB w="6350">
                      <a:solidFill>
                        <a:srgbClr val="E2E8F0"/>
                      </a:solidFill>
                    </a:lnB>
                    <a:noFill/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000"/>
                        <a:t>Random Forest</a:t>
                      </a:r>
                    </a:p>
                  </a:txBody>
                  <a:tcPr marL="45720" marR="45720" marT="45720" marB="45720" anchor="t" anchorCtr="0" horzOverflow="overflow">
                    <a:lnL w="6350">
                      <a:solidFill>
                        <a:srgbClr val="E2E8F0"/>
                      </a:solidFill>
                    </a:lnL>
                    <a:lnR w="6350">
                      <a:solidFill>
                        <a:srgbClr val="E2E8F0"/>
                      </a:solidFill>
                    </a:lnR>
                    <a:lnT w="6350">
                      <a:solidFill>
                        <a:srgbClr val="E2E8F0"/>
                      </a:solidFill>
                    </a:lnT>
                    <a:lnB w="6350">
                      <a:solidFill>
                        <a:srgbClr val="E2E8F0"/>
                      </a:solidFill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000"/>
                        <a:t>94.46</a:t>
                      </a:r>
                    </a:p>
                  </a:txBody>
                  <a:tcPr marL="45720" marR="45720" marT="45720" marB="45720" anchor="t" anchorCtr="0" horzOverflow="overflow">
                    <a:lnL w="6350">
                      <a:solidFill>
                        <a:srgbClr val="E2E8F0"/>
                      </a:solidFill>
                    </a:lnL>
                    <a:lnR w="6350">
                      <a:solidFill>
                        <a:srgbClr val="E2E8F0"/>
                      </a:solidFill>
                    </a:lnR>
                    <a:lnT w="6350">
                      <a:solidFill>
                        <a:srgbClr val="E2E8F0"/>
                      </a:solidFill>
                    </a:lnT>
                    <a:lnB w="6350">
                      <a:solidFill>
                        <a:srgbClr val="E2E8F0"/>
                      </a:solidFill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000"/>
                        <a:t>73.75</a:t>
                      </a:r>
                    </a:p>
                  </a:txBody>
                  <a:tcPr marL="45720" marR="45720" marT="45720" marB="45720" anchor="t" anchorCtr="0" horzOverflow="overflow">
                    <a:lnL w="6350">
                      <a:solidFill>
                        <a:srgbClr val="E2E8F0"/>
                      </a:solidFill>
                    </a:lnL>
                    <a:lnR w="6350">
                      <a:solidFill>
                        <a:srgbClr val="E2E8F0"/>
                      </a:solidFill>
                    </a:lnR>
                    <a:lnT w="6350">
                      <a:solidFill>
                        <a:srgbClr val="E2E8F0"/>
                      </a:solidFill>
                    </a:lnT>
                    <a:lnB w="6350">
                      <a:solidFill>
                        <a:srgbClr val="E2E8F0"/>
                      </a:solidFill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000"/>
                        <a:t>0.8868</a:t>
                      </a:r>
                    </a:p>
                  </a:txBody>
                  <a:tcPr marL="45720" marR="45720" marT="45720" marB="45720" anchor="t" anchorCtr="0" horzOverflow="overflow">
                    <a:lnL w="6350">
                      <a:solidFill>
                        <a:srgbClr val="E2E8F0"/>
                      </a:solidFill>
                    </a:lnL>
                    <a:lnR w="6350">
                      <a:solidFill>
                        <a:srgbClr val="E2E8F0"/>
                      </a:solidFill>
                    </a:lnR>
                    <a:lnT w="6350">
                      <a:solidFill>
                        <a:srgbClr val="E2E8F0"/>
                      </a:solidFill>
                    </a:lnT>
                    <a:lnB w="6350">
                      <a:solidFill>
                        <a:srgbClr val="E2E8F0"/>
                      </a:solidFill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000"/>
                        <a:t>0.444</a:t>
                      </a:r>
                    </a:p>
                  </a:txBody>
                  <a:tcPr marL="45720" marR="45720" marT="45720" marB="45720" anchor="t" anchorCtr="0" horzOverflow="overflow">
                    <a:lnL w="6350">
                      <a:solidFill>
                        <a:srgbClr val="E2E8F0"/>
                      </a:solidFill>
                    </a:lnL>
                    <a:lnR w="6350">
                      <a:solidFill>
                        <a:srgbClr val="E2E8F0"/>
                      </a:solidFill>
                    </a:lnR>
                    <a:lnT w="6350">
                      <a:solidFill>
                        <a:srgbClr val="E2E8F0"/>
                      </a:solidFill>
                    </a:lnT>
                    <a:lnB w="6350">
                      <a:solidFill>
                        <a:srgbClr val="E2E8F0"/>
                      </a:solidFill>
                    </a:lnB>
                    <a:solidFill>
                      <a:srgbClr val="EFF6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000"/>
                        <a:t>Ridge</a:t>
                      </a:r>
                    </a:p>
                  </a:txBody>
                  <a:tcPr marL="45720" marR="45720" marT="45720" marB="45720" anchor="t" anchorCtr="0" horzOverflow="overflow">
                    <a:lnL w="6350">
                      <a:solidFill>
                        <a:srgbClr val="E2E8F0"/>
                      </a:solidFill>
                    </a:lnL>
                    <a:lnR w="6350">
                      <a:solidFill>
                        <a:srgbClr val="E2E8F0"/>
                      </a:solidFill>
                    </a:lnR>
                    <a:lnT w="6350">
                      <a:solidFill>
                        <a:srgbClr val="E2E8F0"/>
                      </a:solidFill>
                    </a:lnT>
                    <a:lnB w="6350">
                      <a:solidFill>
                        <a:srgbClr val="E2E8F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000"/>
                        <a:t>66.05</a:t>
                      </a:r>
                    </a:p>
                  </a:txBody>
                  <a:tcPr marL="45720" marR="45720" marT="45720" marB="45720" anchor="t" anchorCtr="0" horzOverflow="overflow">
                    <a:lnL w="6350">
                      <a:solidFill>
                        <a:srgbClr val="E2E8F0"/>
                      </a:solidFill>
                    </a:lnL>
                    <a:lnR w="6350">
                      <a:solidFill>
                        <a:srgbClr val="E2E8F0"/>
                      </a:solidFill>
                    </a:lnR>
                    <a:lnT w="6350">
                      <a:solidFill>
                        <a:srgbClr val="E2E8F0"/>
                      </a:solidFill>
                    </a:lnT>
                    <a:lnB w="6350">
                      <a:solidFill>
                        <a:srgbClr val="E2E8F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000"/>
                        <a:t>75.43</a:t>
                      </a:r>
                    </a:p>
                  </a:txBody>
                  <a:tcPr marL="45720" marR="45720" marT="45720" marB="45720" anchor="t" anchorCtr="0" horzOverflow="overflow">
                    <a:lnL w="6350">
                      <a:solidFill>
                        <a:srgbClr val="E2E8F0"/>
                      </a:solidFill>
                    </a:lnL>
                    <a:lnR w="6350">
                      <a:solidFill>
                        <a:srgbClr val="E2E8F0"/>
                      </a:solidFill>
                    </a:lnR>
                    <a:lnT w="6350">
                      <a:solidFill>
                        <a:srgbClr val="E2E8F0"/>
                      </a:solidFill>
                    </a:lnT>
                    <a:lnB w="6350">
                      <a:solidFill>
                        <a:srgbClr val="E2E8F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000"/>
                        <a:t>0.8810</a:t>
                      </a:r>
                    </a:p>
                  </a:txBody>
                  <a:tcPr marL="45720" marR="45720" marT="45720" marB="45720" anchor="t" anchorCtr="0" horzOverflow="overflow">
                    <a:lnL w="6350">
                      <a:solidFill>
                        <a:srgbClr val="E2E8F0"/>
                      </a:solidFill>
                    </a:lnL>
                    <a:lnR w="6350">
                      <a:solidFill>
                        <a:srgbClr val="E2E8F0"/>
                      </a:solidFill>
                    </a:lnR>
                    <a:lnT w="6350">
                      <a:solidFill>
                        <a:srgbClr val="E2E8F0"/>
                      </a:solidFill>
                    </a:lnT>
                    <a:lnB w="6350">
                      <a:solidFill>
                        <a:srgbClr val="E2E8F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000"/>
                        <a:t>0.439</a:t>
                      </a:r>
                    </a:p>
                  </a:txBody>
                  <a:tcPr marL="45720" marR="45720" marT="45720" marB="45720" anchor="t" anchorCtr="0" horzOverflow="overflow">
                    <a:lnL w="6350">
                      <a:solidFill>
                        <a:srgbClr val="E2E8F0"/>
                      </a:solidFill>
                    </a:lnL>
                    <a:lnR w="6350">
                      <a:solidFill>
                        <a:srgbClr val="E2E8F0"/>
                      </a:solidFill>
                    </a:lnR>
                    <a:lnT w="6350">
                      <a:solidFill>
                        <a:srgbClr val="E2E8F0"/>
                      </a:solidFill>
                    </a:lnT>
                    <a:lnB w="6350">
                      <a:solidFill>
                        <a:srgbClr val="E2E8F0"/>
                      </a:solidFill>
                    </a:lnB>
                    <a:noFill/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000"/>
                        <a:t>XGBoost</a:t>
                      </a:r>
                    </a:p>
                  </a:txBody>
                  <a:tcPr marL="45720" marR="45720" marT="45720" marB="45720" anchor="t" anchorCtr="0" horzOverflow="overflow">
                    <a:lnL w="6350">
                      <a:solidFill>
                        <a:srgbClr val="E2E8F0"/>
                      </a:solidFill>
                    </a:lnL>
                    <a:lnR w="6350">
                      <a:solidFill>
                        <a:srgbClr val="E2E8F0"/>
                      </a:solidFill>
                    </a:lnR>
                    <a:lnT w="6350">
                      <a:solidFill>
                        <a:srgbClr val="E2E8F0"/>
                      </a:solidFill>
                    </a:lnT>
                    <a:lnB w="6350">
                      <a:solidFill>
                        <a:srgbClr val="E2E8F0"/>
                      </a:solidFill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000"/>
                        <a:t>98.83</a:t>
                      </a:r>
                    </a:p>
                  </a:txBody>
                  <a:tcPr marL="45720" marR="45720" marT="45720" marB="45720" anchor="t" anchorCtr="0" horzOverflow="overflow">
                    <a:lnL w="6350">
                      <a:solidFill>
                        <a:srgbClr val="E2E8F0"/>
                      </a:solidFill>
                    </a:lnL>
                    <a:lnR w="6350">
                      <a:solidFill>
                        <a:srgbClr val="E2E8F0"/>
                      </a:solidFill>
                    </a:lnR>
                    <a:lnT w="6350">
                      <a:solidFill>
                        <a:srgbClr val="E2E8F0"/>
                      </a:solidFill>
                    </a:lnT>
                    <a:lnB w="6350">
                      <a:solidFill>
                        <a:srgbClr val="E2E8F0"/>
                      </a:solidFill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000"/>
                        <a:t>75.79</a:t>
                      </a:r>
                    </a:p>
                  </a:txBody>
                  <a:tcPr marL="45720" marR="45720" marT="45720" marB="45720" anchor="t" anchorCtr="0" horzOverflow="overflow">
                    <a:lnL w="6350">
                      <a:solidFill>
                        <a:srgbClr val="E2E8F0"/>
                      </a:solidFill>
                    </a:lnL>
                    <a:lnR w="6350">
                      <a:solidFill>
                        <a:srgbClr val="E2E8F0"/>
                      </a:solidFill>
                    </a:lnR>
                    <a:lnT w="6350">
                      <a:solidFill>
                        <a:srgbClr val="E2E8F0"/>
                      </a:solidFill>
                    </a:lnT>
                    <a:lnB w="6350">
                      <a:solidFill>
                        <a:srgbClr val="E2E8F0"/>
                      </a:solidFill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000"/>
                        <a:t>0.8811</a:t>
                      </a:r>
                    </a:p>
                  </a:txBody>
                  <a:tcPr marL="45720" marR="45720" marT="45720" marB="45720" anchor="t" anchorCtr="0" horzOverflow="overflow">
                    <a:lnL w="6350">
                      <a:solidFill>
                        <a:srgbClr val="E2E8F0"/>
                      </a:solidFill>
                    </a:lnL>
                    <a:lnR w="6350">
                      <a:solidFill>
                        <a:srgbClr val="E2E8F0"/>
                      </a:solidFill>
                    </a:lnR>
                    <a:lnT w="6350">
                      <a:solidFill>
                        <a:srgbClr val="E2E8F0"/>
                      </a:solidFill>
                    </a:lnT>
                    <a:lnB w="6350">
                      <a:solidFill>
                        <a:srgbClr val="E2E8F0"/>
                      </a:solidFill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000"/>
                        <a:t>0.499</a:t>
                      </a:r>
                    </a:p>
                  </a:txBody>
                  <a:tcPr marL="45720" marR="45720" marT="45720" marB="45720" anchor="t" anchorCtr="0" horzOverflow="overflow">
                    <a:lnL w="6350">
                      <a:solidFill>
                        <a:srgbClr val="E2E8F0"/>
                      </a:solidFill>
                    </a:lnL>
                    <a:lnR w="6350">
                      <a:solidFill>
                        <a:srgbClr val="E2E8F0"/>
                      </a:solidFill>
                    </a:lnR>
                    <a:lnT w="6350">
                      <a:solidFill>
                        <a:srgbClr val="E2E8F0"/>
                      </a:solidFill>
                    </a:lnT>
                    <a:lnB w="6350">
                      <a:solidFill>
                        <a:srgbClr val="E2E8F0"/>
                      </a:solidFill>
                    </a:lnB>
                    <a:solidFill>
                      <a:srgbClr val="EFF6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000"/>
                        <a:t>Ensemble (Ridge+RF+GB+ET+XGB)</a:t>
                      </a:r>
                    </a:p>
                  </a:txBody>
                  <a:tcPr marL="45720" marR="45720" marT="45720" marB="45720" anchor="t" anchorCtr="0" horzOverflow="overflow">
                    <a:lnL w="6350">
                      <a:solidFill>
                        <a:srgbClr val="E2E8F0"/>
                      </a:solidFill>
                    </a:lnL>
                    <a:lnR w="6350">
                      <a:solidFill>
                        <a:srgbClr val="E2E8F0"/>
                      </a:solidFill>
                    </a:lnR>
                    <a:lnT w="6350">
                      <a:solidFill>
                        <a:srgbClr val="E2E8F0"/>
                      </a:solidFill>
                    </a:lnT>
                    <a:lnB w="6350">
                      <a:solidFill>
                        <a:srgbClr val="E2E8F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000"/>
                        <a:t>98.83</a:t>
                      </a:r>
                    </a:p>
                  </a:txBody>
                  <a:tcPr marL="45720" marR="45720" marT="45720" marB="45720" anchor="t" anchorCtr="0" horzOverflow="overflow">
                    <a:lnL w="6350">
                      <a:solidFill>
                        <a:srgbClr val="E2E8F0"/>
                      </a:solidFill>
                    </a:lnL>
                    <a:lnR w="6350">
                      <a:solidFill>
                        <a:srgbClr val="E2E8F0"/>
                      </a:solidFill>
                    </a:lnR>
                    <a:lnT w="6350">
                      <a:solidFill>
                        <a:srgbClr val="E2E8F0"/>
                      </a:solidFill>
                    </a:lnT>
                    <a:lnB w="6350">
                      <a:solidFill>
                        <a:srgbClr val="E2E8F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000"/>
                        <a:t>82.19</a:t>
                      </a:r>
                    </a:p>
                  </a:txBody>
                  <a:tcPr marL="45720" marR="45720" marT="45720" marB="45720" anchor="t" anchorCtr="0" horzOverflow="overflow">
                    <a:lnL w="6350">
                      <a:solidFill>
                        <a:srgbClr val="E2E8F0"/>
                      </a:solidFill>
                    </a:lnL>
                    <a:lnR w="6350">
                      <a:solidFill>
                        <a:srgbClr val="E2E8F0"/>
                      </a:solidFill>
                    </a:lnR>
                    <a:lnT w="6350">
                      <a:solidFill>
                        <a:srgbClr val="E2E8F0"/>
                      </a:solidFill>
                    </a:lnT>
                    <a:lnB w="6350">
                      <a:solidFill>
                        <a:srgbClr val="E2E8F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000"/>
                        <a:t>0.8861</a:t>
                      </a:r>
                    </a:p>
                  </a:txBody>
                  <a:tcPr marL="45720" marR="45720" marT="45720" marB="45720" anchor="t" anchorCtr="0" horzOverflow="overflow">
                    <a:lnL w="6350">
                      <a:solidFill>
                        <a:srgbClr val="E2E8F0"/>
                      </a:solidFill>
                    </a:lnL>
                    <a:lnR w="6350">
                      <a:solidFill>
                        <a:srgbClr val="E2E8F0"/>
                      </a:solidFill>
                    </a:lnR>
                    <a:lnT w="6350">
                      <a:solidFill>
                        <a:srgbClr val="E2E8F0"/>
                      </a:solidFill>
                    </a:lnT>
                    <a:lnB w="6350">
                      <a:solidFill>
                        <a:srgbClr val="E2E8F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000"/>
                        <a:t>0.444</a:t>
                      </a:r>
                    </a:p>
                  </a:txBody>
                  <a:tcPr marL="45720" marR="45720" marT="45720" marB="45720" anchor="t" anchorCtr="0" horzOverflow="overflow">
                    <a:lnL w="6350">
                      <a:solidFill>
                        <a:srgbClr val="E2E8F0"/>
                      </a:solidFill>
                    </a:lnL>
                    <a:lnR w="6350">
                      <a:solidFill>
                        <a:srgbClr val="E2E8F0"/>
                      </a:solidFill>
                    </a:lnR>
                    <a:lnT w="6350">
                      <a:solidFill>
                        <a:srgbClr val="E2E8F0"/>
                      </a:solidFill>
                    </a:lnT>
                    <a:lnB w="6350">
                      <a:solidFill>
                        <a:srgbClr val="E2E8F0"/>
                      </a:solidFill>
                    </a:lnB>
                    <a:noFill/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000"/>
                        <a:t>k-NN Regression</a:t>
                      </a:r>
                    </a:p>
                  </a:txBody>
                  <a:tcPr marL="45720" marR="45720" marT="45720" marB="45720" anchor="t" anchorCtr="0" horzOverflow="overflow">
                    <a:lnL w="6350">
                      <a:solidFill>
                        <a:srgbClr val="E2E8F0"/>
                      </a:solidFill>
                    </a:lnL>
                    <a:lnR w="6350">
                      <a:solidFill>
                        <a:srgbClr val="E2E8F0"/>
                      </a:solidFill>
                    </a:lnR>
                    <a:lnT w="6350">
                      <a:solidFill>
                        <a:srgbClr val="E2E8F0"/>
                      </a:solidFill>
                    </a:lnT>
                    <a:lnB w="6350">
                      <a:solidFill>
                        <a:srgbClr val="E2E8F0"/>
                      </a:solidFill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000"/>
                        <a:t>103.03</a:t>
                      </a:r>
                    </a:p>
                  </a:txBody>
                  <a:tcPr marL="45720" marR="45720" marT="45720" marB="45720" anchor="t" anchorCtr="0" horzOverflow="overflow">
                    <a:lnL w="6350">
                      <a:solidFill>
                        <a:srgbClr val="E2E8F0"/>
                      </a:solidFill>
                    </a:lnL>
                    <a:lnR w="6350">
                      <a:solidFill>
                        <a:srgbClr val="E2E8F0"/>
                      </a:solidFill>
                    </a:lnR>
                    <a:lnT w="6350">
                      <a:solidFill>
                        <a:srgbClr val="E2E8F0"/>
                      </a:solidFill>
                    </a:lnT>
                    <a:lnB w="6350">
                      <a:solidFill>
                        <a:srgbClr val="E2E8F0"/>
                      </a:solidFill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000"/>
                        <a:t>82.28</a:t>
                      </a:r>
                    </a:p>
                  </a:txBody>
                  <a:tcPr marL="45720" marR="45720" marT="45720" marB="45720" anchor="t" anchorCtr="0" horzOverflow="overflow">
                    <a:lnL w="6350">
                      <a:solidFill>
                        <a:srgbClr val="E2E8F0"/>
                      </a:solidFill>
                    </a:lnL>
                    <a:lnR w="6350">
                      <a:solidFill>
                        <a:srgbClr val="E2E8F0"/>
                      </a:solidFill>
                    </a:lnR>
                    <a:lnT w="6350">
                      <a:solidFill>
                        <a:srgbClr val="E2E8F0"/>
                      </a:solidFill>
                    </a:lnT>
                    <a:lnB w="6350">
                      <a:solidFill>
                        <a:srgbClr val="E2E8F0"/>
                      </a:solidFill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000"/>
                        <a:t>0.8641</a:t>
                      </a:r>
                    </a:p>
                  </a:txBody>
                  <a:tcPr marL="45720" marR="45720" marT="45720" marB="45720" anchor="t" anchorCtr="0" horzOverflow="overflow">
                    <a:lnL w="6350">
                      <a:solidFill>
                        <a:srgbClr val="E2E8F0"/>
                      </a:solidFill>
                    </a:lnL>
                    <a:lnR w="6350">
                      <a:solidFill>
                        <a:srgbClr val="E2E8F0"/>
                      </a:solidFill>
                    </a:lnR>
                    <a:lnT w="6350">
                      <a:solidFill>
                        <a:srgbClr val="E2E8F0"/>
                      </a:solidFill>
                    </a:lnT>
                    <a:lnB w="6350">
                      <a:solidFill>
                        <a:srgbClr val="E2E8F0"/>
                      </a:solidFill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000"/>
                        <a:t>0.433</a:t>
                      </a:r>
                    </a:p>
                  </a:txBody>
                  <a:tcPr marL="45720" marR="45720" marT="45720" marB="45720" anchor="t" anchorCtr="0" horzOverflow="overflow">
                    <a:lnL w="6350">
                      <a:solidFill>
                        <a:srgbClr val="E2E8F0"/>
                      </a:solidFill>
                    </a:lnL>
                    <a:lnR w="6350">
                      <a:solidFill>
                        <a:srgbClr val="E2E8F0"/>
                      </a:solidFill>
                    </a:lnR>
                    <a:lnT w="6350">
                      <a:solidFill>
                        <a:srgbClr val="E2E8F0"/>
                      </a:solidFill>
                    </a:lnT>
                    <a:lnB w="6350">
                      <a:solidFill>
                        <a:srgbClr val="E2E8F0"/>
                      </a:solidFill>
                    </a:lnB>
                    <a:solidFill>
                      <a:srgbClr val="EFF6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000">
                          <a:solidFill>
                            <a:srgbClr val="EF4444"/>
                          </a:solidFill>
                        </a:rPr>
                        <a:t>Linear Regression</a:t>
                      </a:r>
                    </a:p>
                  </a:txBody>
                  <a:tcPr marL="45720" marR="45720" marT="45720" marB="45720" anchor="t" anchorCtr="0" horzOverflow="overflow">
                    <a:lnL w="6350">
                      <a:solidFill>
                        <a:srgbClr val="E2E8F0"/>
                      </a:solidFill>
                    </a:lnL>
                    <a:lnR w="6350">
                      <a:solidFill>
                        <a:srgbClr val="E2E8F0"/>
                      </a:solidFill>
                    </a:lnR>
                    <a:lnT w="6350">
                      <a:solidFill>
                        <a:srgbClr val="E2E8F0"/>
                      </a:solidFill>
                    </a:lnT>
                    <a:lnB w="6350">
                      <a:solidFill>
                        <a:srgbClr val="E2E8F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000"/>
                        <a:t>104.26</a:t>
                      </a:r>
                    </a:p>
                  </a:txBody>
                  <a:tcPr marL="45720" marR="45720" marT="45720" marB="45720" anchor="t" anchorCtr="0" horzOverflow="overflow">
                    <a:lnL w="6350">
                      <a:solidFill>
                        <a:srgbClr val="E2E8F0"/>
                      </a:solidFill>
                    </a:lnL>
                    <a:lnR w="6350">
                      <a:solidFill>
                        <a:srgbClr val="E2E8F0"/>
                      </a:solidFill>
                    </a:lnR>
                    <a:lnT w="6350">
                      <a:solidFill>
                        <a:srgbClr val="E2E8F0"/>
                      </a:solidFill>
                    </a:lnT>
                    <a:lnB w="6350">
                      <a:solidFill>
                        <a:srgbClr val="E2E8F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000"/>
                        <a:t>81.99</a:t>
                      </a:r>
                    </a:p>
                  </a:txBody>
                  <a:tcPr marL="45720" marR="45720" marT="45720" marB="45720" anchor="t" anchorCtr="0" horzOverflow="overflow">
                    <a:lnL w="6350">
                      <a:solidFill>
                        <a:srgbClr val="E2E8F0"/>
                      </a:solidFill>
                    </a:lnL>
                    <a:lnR w="6350">
                      <a:solidFill>
                        <a:srgbClr val="E2E8F0"/>
                      </a:solidFill>
                    </a:lnR>
                    <a:lnT w="6350">
                      <a:solidFill>
                        <a:srgbClr val="E2E8F0"/>
                      </a:solidFill>
                    </a:lnT>
                    <a:lnB w="6350">
                      <a:solidFill>
                        <a:srgbClr val="E2E8F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000"/>
                        <a:t>0.8620</a:t>
                      </a:r>
                    </a:p>
                  </a:txBody>
                  <a:tcPr marL="45720" marR="45720" marT="45720" marB="45720" anchor="t" anchorCtr="0" horzOverflow="overflow">
                    <a:lnL w="6350">
                      <a:solidFill>
                        <a:srgbClr val="E2E8F0"/>
                      </a:solidFill>
                    </a:lnL>
                    <a:lnR w="6350">
                      <a:solidFill>
                        <a:srgbClr val="E2E8F0"/>
                      </a:solidFill>
                    </a:lnR>
                    <a:lnT w="6350">
                      <a:solidFill>
                        <a:srgbClr val="E2E8F0"/>
                      </a:solidFill>
                    </a:lnT>
                    <a:lnB w="6350">
                      <a:solidFill>
                        <a:srgbClr val="E2E8F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000"/>
                        <a:t>0.433</a:t>
                      </a:r>
                    </a:p>
                  </a:txBody>
                  <a:tcPr marL="45720" marR="45720" marT="45720" marB="45720" anchor="t" anchorCtr="0" horzOverflow="overflow">
                    <a:lnL w="6350">
                      <a:solidFill>
                        <a:srgbClr val="E2E8F0"/>
                      </a:solidFill>
                    </a:lnL>
                    <a:lnR w="6350">
                      <a:solidFill>
                        <a:srgbClr val="E2E8F0"/>
                      </a:solidFill>
                    </a:lnR>
                    <a:lnT w="6350">
                      <a:solidFill>
                        <a:srgbClr val="E2E8F0"/>
                      </a:solidFill>
                    </a:lnT>
                    <a:lnB w="6350">
                      <a:solidFill>
                        <a:srgbClr val="E2E8F0"/>
                      </a:solidFill>
                    </a:lnB>
                    <a:noFill/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000">
                          <a:solidFill>
                            <a:srgbClr val="EF4444"/>
                          </a:solidFill>
                        </a:rPr>
                        <a:t>ARIMA (TCS.NS)</a:t>
                      </a:r>
                    </a:p>
                  </a:txBody>
                  <a:tcPr marL="45720" marR="45720" marT="45720" marB="45720" anchor="t" anchorCtr="0" horzOverflow="overflow">
                    <a:lnL w="6350">
                      <a:solidFill>
                        <a:srgbClr val="E2E8F0"/>
                      </a:solidFill>
                    </a:lnL>
                    <a:lnR w="6350">
                      <a:solidFill>
                        <a:srgbClr val="E2E8F0"/>
                      </a:solidFill>
                    </a:lnR>
                    <a:lnT w="6350">
                      <a:solidFill>
                        <a:srgbClr val="E2E8F0"/>
                      </a:solidFill>
                    </a:lnT>
                    <a:lnB w="6350">
                      <a:solidFill>
                        <a:srgbClr val="E2E8F0"/>
                      </a:solidFill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000"/>
                        <a:t>312.46</a:t>
                      </a:r>
                    </a:p>
                  </a:txBody>
                  <a:tcPr marL="45720" marR="45720" marT="45720" marB="45720" anchor="t" anchorCtr="0" horzOverflow="overflow">
                    <a:lnL w="6350">
                      <a:solidFill>
                        <a:srgbClr val="E2E8F0"/>
                      </a:solidFill>
                    </a:lnL>
                    <a:lnR w="6350">
                      <a:solidFill>
                        <a:srgbClr val="E2E8F0"/>
                      </a:solidFill>
                    </a:lnR>
                    <a:lnT w="6350">
                      <a:solidFill>
                        <a:srgbClr val="E2E8F0"/>
                      </a:solidFill>
                    </a:lnT>
                    <a:lnB w="6350">
                      <a:solidFill>
                        <a:srgbClr val="E2E8F0"/>
                      </a:solidFill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000"/>
                        <a:t>329.72</a:t>
                      </a:r>
                    </a:p>
                  </a:txBody>
                  <a:tcPr marL="45720" marR="45720" marT="45720" marB="45720" anchor="t" anchorCtr="0" horzOverflow="overflow">
                    <a:lnL w="6350">
                      <a:solidFill>
                        <a:srgbClr val="E2E8F0"/>
                      </a:solidFill>
                    </a:lnL>
                    <a:lnR w="6350">
                      <a:solidFill>
                        <a:srgbClr val="E2E8F0"/>
                      </a:solidFill>
                    </a:lnR>
                    <a:lnT w="6350">
                      <a:solidFill>
                        <a:srgbClr val="E2E8F0"/>
                      </a:solidFill>
                    </a:lnT>
                    <a:lnB w="6350">
                      <a:solidFill>
                        <a:srgbClr val="E2E8F0"/>
                      </a:solidFill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000"/>
                        <a:t>-0.241</a:t>
                      </a:r>
                    </a:p>
                  </a:txBody>
                  <a:tcPr marL="45720" marR="45720" marT="45720" marB="45720" anchor="t" anchorCtr="0" horzOverflow="overflow">
                    <a:lnL w="6350">
                      <a:solidFill>
                        <a:srgbClr val="E2E8F0"/>
                      </a:solidFill>
                    </a:lnL>
                    <a:lnR w="6350">
                      <a:solidFill>
                        <a:srgbClr val="E2E8F0"/>
                      </a:solidFill>
                    </a:lnR>
                    <a:lnT w="6350">
                      <a:solidFill>
                        <a:srgbClr val="E2E8F0"/>
                      </a:solidFill>
                    </a:lnT>
                    <a:lnB w="6350">
                      <a:solidFill>
                        <a:srgbClr val="E2E8F0"/>
                      </a:solidFill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000"/>
                        <a:t>—</a:t>
                      </a:r>
                    </a:p>
                  </a:txBody>
                  <a:tcPr marL="45720" marR="45720" marT="45720" marB="45720" anchor="t" anchorCtr="0" horzOverflow="overflow">
                    <a:lnL w="6350">
                      <a:solidFill>
                        <a:srgbClr val="E2E8F0"/>
                      </a:solidFill>
                    </a:lnL>
                    <a:lnR w="6350">
                      <a:solidFill>
                        <a:srgbClr val="E2E8F0"/>
                      </a:solidFill>
                    </a:lnR>
                    <a:lnT w="6350">
                      <a:solidFill>
                        <a:srgbClr val="E2E8F0"/>
                      </a:solidFill>
                    </a:lnT>
                    <a:lnB w="6350">
                      <a:solidFill>
                        <a:srgbClr val="E2E8F0"/>
                      </a:solidFill>
                    </a:lnB>
                    <a:solidFill>
                      <a:srgbClr val="EFF6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000">
                          <a:solidFill>
                            <a:srgbClr val="EF4444"/>
                          </a:solidFill>
                        </a:rPr>
                        <a:t>Prophet (TCS.NS)</a:t>
                      </a:r>
                    </a:p>
                  </a:txBody>
                  <a:tcPr marL="45720" marR="45720" marT="45720" marB="45720" anchor="t" anchorCtr="0" horzOverflow="overflow">
                    <a:lnL w="6350">
                      <a:solidFill>
                        <a:srgbClr val="E2E8F0"/>
                      </a:solidFill>
                    </a:lnL>
                    <a:lnR w="6350">
                      <a:solidFill>
                        <a:srgbClr val="E2E8F0"/>
                      </a:solidFill>
                    </a:lnR>
                    <a:lnT w="6350">
                      <a:solidFill>
                        <a:srgbClr val="E2E8F0"/>
                      </a:solidFill>
                    </a:lnT>
                    <a:lnB w="6350">
                      <a:solidFill>
                        <a:srgbClr val="E2E8F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000"/>
                        <a:t>317.61</a:t>
                      </a:r>
                    </a:p>
                  </a:txBody>
                  <a:tcPr marL="45720" marR="45720" marT="45720" marB="45720" anchor="t" anchorCtr="0" horzOverflow="overflow">
                    <a:lnL w="6350">
                      <a:solidFill>
                        <a:srgbClr val="E2E8F0"/>
                      </a:solidFill>
                    </a:lnL>
                    <a:lnR w="6350">
                      <a:solidFill>
                        <a:srgbClr val="E2E8F0"/>
                      </a:solidFill>
                    </a:lnR>
                    <a:lnT w="6350">
                      <a:solidFill>
                        <a:srgbClr val="E2E8F0"/>
                      </a:solidFill>
                    </a:lnT>
                    <a:lnB w="6350">
                      <a:solidFill>
                        <a:srgbClr val="E2E8F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000"/>
                        <a:t>295.99</a:t>
                      </a:r>
                    </a:p>
                  </a:txBody>
                  <a:tcPr marL="45720" marR="45720" marT="45720" marB="45720" anchor="t" anchorCtr="0" horzOverflow="overflow">
                    <a:lnL w="6350">
                      <a:solidFill>
                        <a:srgbClr val="E2E8F0"/>
                      </a:solidFill>
                    </a:lnL>
                    <a:lnR w="6350">
                      <a:solidFill>
                        <a:srgbClr val="E2E8F0"/>
                      </a:solidFill>
                    </a:lnR>
                    <a:lnT w="6350">
                      <a:solidFill>
                        <a:srgbClr val="E2E8F0"/>
                      </a:solidFill>
                    </a:lnT>
                    <a:lnB w="6350">
                      <a:solidFill>
                        <a:srgbClr val="E2E8F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000"/>
                        <a:t>-0.292</a:t>
                      </a:r>
                    </a:p>
                  </a:txBody>
                  <a:tcPr marL="45720" marR="45720" marT="45720" marB="45720" anchor="t" anchorCtr="0" horzOverflow="overflow">
                    <a:lnL w="6350">
                      <a:solidFill>
                        <a:srgbClr val="E2E8F0"/>
                      </a:solidFill>
                    </a:lnL>
                    <a:lnR w="6350">
                      <a:solidFill>
                        <a:srgbClr val="E2E8F0"/>
                      </a:solidFill>
                    </a:lnR>
                    <a:lnT w="6350">
                      <a:solidFill>
                        <a:srgbClr val="E2E8F0"/>
                      </a:solidFill>
                    </a:lnT>
                    <a:lnB w="6350">
                      <a:solidFill>
                        <a:srgbClr val="E2E8F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000"/>
                        <a:t>—</a:t>
                      </a:r>
                    </a:p>
                  </a:txBody>
                  <a:tcPr marL="45720" marR="45720" marT="45720" marB="45720" anchor="t" anchorCtr="0" horzOverflow="overflow">
                    <a:lnL w="6350">
                      <a:solidFill>
                        <a:srgbClr val="E2E8F0"/>
                      </a:solidFill>
                    </a:lnL>
                    <a:lnR w="6350">
                      <a:solidFill>
                        <a:srgbClr val="E2E8F0"/>
                      </a:solidFill>
                    </a:lnR>
                    <a:lnT w="6350">
                      <a:solidFill>
                        <a:srgbClr val="E2E8F0"/>
                      </a:solidFill>
                    </a:lnT>
                    <a:lnB w="6350">
                      <a:solidFill>
                        <a:srgbClr val="E2E8F0"/>
                      </a:solidFill>
                    </a:lnB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  <p:transition xmlns:p14="http://schemas.microsoft.com/office/powerpoint/2010/main" spd="med" advClick="1"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9" name="Image 0" descr="Image 0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-1" y="0"/>
            <a:ext cx="9144001" cy="5143501"/>
          </a:xfrm>
          <a:prstGeom prst="rect">
            <a:avLst/>
          </a:prstGeom>
          <a:ln w="12700">
            <a:miter lim="400000"/>
          </a:ln>
        </p:spPr>
      </p:pic>
      <p:sp>
        <p:nvSpPr>
          <p:cNvPr id="320" name="Text 0"/>
          <p:cNvSpPr txBox="1"/>
          <p:nvPr/>
        </p:nvSpPr>
        <p:spPr>
          <a:xfrm>
            <a:off x="102427" y="105326"/>
            <a:ext cx="7315201" cy="45660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3200"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Conclusion</a:t>
            </a:r>
          </a:p>
        </p:txBody>
      </p:sp>
      <p:sp>
        <p:nvSpPr>
          <p:cNvPr id="321" name="Shape 1"/>
          <p:cNvSpPr/>
          <p:nvPr/>
        </p:nvSpPr>
        <p:spPr>
          <a:xfrm>
            <a:off x="201676" y="1049081"/>
            <a:ext cx="5943601" cy="621793"/>
          </a:xfrm>
          <a:prstGeom prst="rect">
            <a:avLst/>
          </a:prstGeom>
          <a:solidFill>
            <a:srgbClr val="FFFFFF"/>
          </a:solidFill>
          <a:ln w="12700">
            <a:solidFill>
              <a:srgbClr val="1A6FD8"/>
            </a:solidFill>
          </a:ln>
          <a:effectLst>
            <a:outerShdw sx="100000" sy="100000" kx="0" ky="0" algn="b" rotWithShape="0" blurRad="50800" dist="12700" dir="8100000">
              <a:srgbClr val="000000">
                <a:alpha val="7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322" name="Shape 2"/>
          <p:cNvSpPr/>
          <p:nvPr/>
        </p:nvSpPr>
        <p:spPr>
          <a:xfrm>
            <a:off x="201676" y="1049081"/>
            <a:ext cx="54865" cy="621793"/>
          </a:xfrm>
          <a:prstGeom prst="rect">
            <a:avLst/>
          </a:prstGeom>
          <a:solidFill>
            <a:srgbClr val="1A6FD8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323" name="Shape 3"/>
          <p:cNvSpPr/>
          <p:nvPr/>
        </p:nvSpPr>
        <p:spPr>
          <a:xfrm>
            <a:off x="329692" y="1222817"/>
            <a:ext cx="274321" cy="274321"/>
          </a:xfrm>
          <a:prstGeom prst="ellipse">
            <a:avLst/>
          </a:prstGeom>
          <a:solidFill>
            <a:srgbClr val="1A6FD8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324" name="Text 4"/>
          <p:cNvSpPr txBox="1"/>
          <p:nvPr/>
        </p:nvSpPr>
        <p:spPr>
          <a:xfrm>
            <a:off x="329692" y="1282297"/>
            <a:ext cx="274321" cy="13707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1000">
                <a:solidFill>
                  <a:srgbClr val="FFFFFF"/>
                </a:solidFill>
              </a:defRPr>
            </a:lvl1pPr>
          </a:lstStyle>
          <a:p>
            <a:pPr/>
            <a:r>
              <a:t>1</a:t>
            </a:r>
          </a:p>
        </p:txBody>
      </p:sp>
      <p:sp>
        <p:nvSpPr>
          <p:cNvPr id="325" name="Text 5"/>
          <p:cNvSpPr txBox="1"/>
          <p:nvPr/>
        </p:nvSpPr>
        <p:spPr>
          <a:xfrm>
            <a:off x="741172" y="1173286"/>
            <a:ext cx="5212081" cy="39167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sz="1100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We developed a data-driven stock prediction system using ML &amp; DL techniques for NIFTY 50.</a:t>
            </a:r>
          </a:p>
        </p:txBody>
      </p:sp>
      <p:sp>
        <p:nvSpPr>
          <p:cNvPr id="326" name="Shape 6"/>
          <p:cNvSpPr/>
          <p:nvPr/>
        </p:nvSpPr>
        <p:spPr>
          <a:xfrm>
            <a:off x="201676" y="1798889"/>
            <a:ext cx="5943601" cy="621793"/>
          </a:xfrm>
          <a:prstGeom prst="rect">
            <a:avLst/>
          </a:prstGeom>
          <a:solidFill>
            <a:srgbClr val="FFFFFF"/>
          </a:solidFill>
          <a:ln w="12700">
            <a:solidFill>
              <a:srgbClr val="16A34A"/>
            </a:solidFill>
          </a:ln>
          <a:effectLst>
            <a:outerShdw sx="100000" sy="100000" kx="0" ky="0" algn="b" rotWithShape="0" blurRad="50800" dist="12700" dir="8100000">
              <a:srgbClr val="000000">
                <a:alpha val="7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327" name="Shape 7"/>
          <p:cNvSpPr/>
          <p:nvPr/>
        </p:nvSpPr>
        <p:spPr>
          <a:xfrm>
            <a:off x="201676" y="1798889"/>
            <a:ext cx="54865" cy="621793"/>
          </a:xfrm>
          <a:prstGeom prst="rect">
            <a:avLst/>
          </a:prstGeom>
          <a:solidFill>
            <a:srgbClr val="16A34A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328" name="Shape 8"/>
          <p:cNvSpPr/>
          <p:nvPr/>
        </p:nvSpPr>
        <p:spPr>
          <a:xfrm>
            <a:off x="329692" y="1972625"/>
            <a:ext cx="274321" cy="274321"/>
          </a:xfrm>
          <a:prstGeom prst="ellipse">
            <a:avLst/>
          </a:prstGeom>
          <a:solidFill>
            <a:srgbClr val="16A34A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329" name="Text 9"/>
          <p:cNvSpPr txBox="1"/>
          <p:nvPr/>
        </p:nvSpPr>
        <p:spPr>
          <a:xfrm>
            <a:off x="329692" y="2032105"/>
            <a:ext cx="274321" cy="13707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1000">
                <a:solidFill>
                  <a:srgbClr val="FFFFFF"/>
                </a:solidFill>
              </a:defRPr>
            </a:lvl1pPr>
          </a:lstStyle>
          <a:p>
            <a:pPr/>
            <a:r>
              <a:t>2</a:t>
            </a:r>
          </a:p>
        </p:txBody>
      </p:sp>
      <p:sp>
        <p:nvSpPr>
          <p:cNvPr id="330" name="Text 10"/>
          <p:cNvSpPr txBox="1"/>
          <p:nvPr/>
        </p:nvSpPr>
        <p:spPr>
          <a:xfrm>
            <a:off x="741172" y="1923094"/>
            <a:ext cx="5212081" cy="39167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sz="1100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LSTM captured time-series patterns effectively and outperformed traditional methods.</a:t>
            </a:r>
          </a:p>
        </p:txBody>
      </p:sp>
      <p:sp>
        <p:nvSpPr>
          <p:cNvPr id="331" name="Shape 11"/>
          <p:cNvSpPr/>
          <p:nvPr/>
        </p:nvSpPr>
        <p:spPr>
          <a:xfrm>
            <a:off x="201676" y="2548697"/>
            <a:ext cx="5943601" cy="621793"/>
          </a:xfrm>
          <a:prstGeom prst="rect">
            <a:avLst/>
          </a:prstGeom>
          <a:solidFill>
            <a:srgbClr val="FFFFFF"/>
          </a:solidFill>
          <a:ln w="12700">
            <a:solidFill>
              <a:srgbClr val="EA6C00"/>
            </a:solidFill>
          </a:ln>
          <a:effectLst>
            <a:outerShdw sx="100000" sy="100000" kx="0" ky="0" algn="b" rotWithShape="0" blurRad="50800" dist="12700" dir="8100000">
              <a:srgbClr val="000000">
                <a:alpha val="7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332" name="Shape 12"/>
          <p:cNvSpPr/>
          <p:nvPr/>
        </p:nvSpPr>
        <p:spPr>
          <a:xfrm>
            <a:off x="201676" y="2548697"/>
            <a:ext cx="54865" cy="621793"/>
          </a:xfrm>
          <a:prstGeom prst="rect">
            <a:avLst/>
          </a:prstGeom>
          <a:solidFill>
            <a:srgbClr val="EA6C00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333" name="Shape 13"/>
          <p:cNvSpPr/>
          <p:nvPr/>
        </p:nvSpPr>
        <p:spPr>
          <a:xfrm>
            <a:off x="329692" y="2722433"/>
            <a:ext cx="274321" cy="274321"/>
          </a:xfrm>
          <a:prstGeom prst="ellipse">
            <a:avLst/>
          </a:prstGeom>
          <a:solidFill>
            <a:srgbClr val="EA6C00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334" name="Text 14"/>
          <p:cNvSpPr txBox="1"/>
          <p:nvPr/>
        </p:nvSpPr>
        <p:spPr>
          <a:xfrm>
            <a:off x="329692" y="2781913"/>
            <a:ext cx="274321" cy="13707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1000">
                <a:solidFill>
                  <a:srgbClr val="FFFFFF"/>
                </a:solidFill>
              </a:defRPr>
            </a:lvl1pPr>
          </a:lstStyle>
          <a:p>
            <a:pPr/>
            <a:r>
              <a:t>3</a:t>
            </a:r>
          </a:p>
        </p:txBody>
      </p:sp>
      <p:sp>
        <p:nvSpPr>
          <p:cNvPr id="335" name="Text 15"/>
          <p:cNvSpPr txBox="1"/>
          <p:nvPr/>
        </p:nvSpPr>
        <p:spPr>
          <a:xfrm>
            <a:off x="741172" y="2749102"/>
            <a:ext cx="5212081" cy="23927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sz="1100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The study shows financial markets are complex and require advanced models.</a:t>
            </a:r>
          </a:p>
        </p:txBody>
      </p:sp>
      <p:sp>
        <p:nvSpPr>
          <p:cNvPr id="336" name="Shape 16"/>
          <p:cNvSpPr/>
          <p:nvPr/>
        </p:nvSpPr>
        <p:spPr>
          <a:xfrm>
            <a:off x="201676" y="3298504"/>
            <a:ext cx="5943601" cy="621793"/>
          </a:xfrm>
          <a:prstGeom prst="rect">
            <a:avLst/>
          </a:prstGeom>
          <a:solidFill>
            <a:srgbClr val="FFFFFF"/>
          </a:solidFill>
          <a:ln w="12700">
            <a:solidFill>
              <a:srgbClr val="7C3AED"/>
            </a:solidFill>
          </a:ln>
          <a:effectLst>
            <a:outerShdw sx="100000" sy="100000" kx="0" ky="0" algn="b" rotWithShape="0" blurRad="50800" dist="12700" dir="8100000">
              <a:srgbClr val="000000">
                <a:alpha val="7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337" name="Shape 17"/>
          <p:cNvSpPr/>
          <p:nvPr/>
        </p:nvSpPr>
        <p:spPr>
          <a:xfrm>
            <a:off x="201676" y="3298504"/>
            <a:ext cx="54865" cy="621793"/>
          </a:xfrm>
          <a:prstGeom prst="rect">
            <a:avLst/>
          </a:prstGeom>
          <a:solidFill>
            <a:srgbClr val="7C3AED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338" name="Shape 18"/>
          <p:cNvSpPr/>
          <p:nvPr/>
        </p:nvSpPr>
        <p:spPr>
          <a:xfrm>
            <a:off x="329692" y="3472241"/>
            <a:ext cx="274321" cy="274321"/>
          </a:xfrm>
          <a:prstGeom prst="ellipse">
            <a:avLst/>
          </a:prstGeom>
          <a:solidFill>
            <a:srgbClr val="7C3AED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339" name="Text 19"/>
          <p:cNvSpPr txBox="1"/>
          <p:nvPr/>
        </p:nvSpPr>
        <p:spPr>
          <a:xfrm>
            <a:off x="329692" y="3531721"/>
            <a:ext cx="274321" cy="13707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1000">
                <a:solidFill>
                  <a:srgbClr val="FFFFFF"/>
                </a:solidFill>
              </a:defRPr>
            </a:lvl1pPr>
          </a:lstStyle>
          <a:p>
            <a:pPr/>
            <a:r>
              <a:t>4</a:t>
            </a:r>
          </a:p>
        </p:txBody>
      </p:sp>
      <p:sp>
        <p:nvSpPr>
          <p:cNvPr id="340" name="Text 20"/>
          <p:cNvSpPr txBox="1"/>
          <p:nvPr/>
        </p:nvSpPr>
        <p:spPr>
          <a:xfrm>
            <a:off x="741172" y="3422710"/>
            <a:ext cx="5212081" cy="39167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sz="1100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Backtesting validated the effectiveness of our models in generating profitable trading signals.</a:t>
            </a:r>
          </a:p>
        </p:txBody>
      </p:sp>
      <p:sp>
        <p:nvSpPr>
          <p:cNvPr id="341" name="Shape 21"/>
          <p:cNvSpPr/>
          <p:nvPr/>
        </p:nvSpPr>
        <p:spPr>
          <a:xfrm>
            <a:off x="201676" y="4066601"/>
            <a:ext cx="5943601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0891B2"/>
            </a:solidFill>
          </a:ln>
          <a:effectLst>
            <a:outerShdw sx="100000" sy="100000" kx="0" ky="0" algn="b" rotWithShape="0" blurRad="50800" dist="12700" dir="8100000">
              <a:srgbClr val="000000">
                <a:alpha val="7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342" name="Shape 22"/>
          <p:cNvSpPr/>
          <p:nvPr/>
        </p:nvSpPr>
        <p:spPr>
          <a:xfrm>
            <a:off x="201676" y="4048312"/>
            <a:ext cx="54865" cy="621793"/>
          </a:xfrm>
          <a:prstGeom prst="rect">
            <a:avLst/>
          </a:prstGeom>
          <a:solidFill>
            <a:srgbClr val="0891B2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343" name="Shape 23"/>
          <p:cNvSpPr/>
          <p:nvPr/>
        </p:nvSpPr>
        <p:spPr>
          <a:xfrm>
            <a:off x="329692" y="4222048"/>
            <a:ext cx="274321" cy="274321"/>
          </a:xfrm>
          <a:prstGeom prst="ellipse">
            <a:avLst/>
          </a:prstGeom>
          <a:solidFill>
            <a:srgbClr val="0891B2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344" name="Text 24"/>
          <p:cNvSpPr txBox="1"/>
          <p:nvPr/>
        </p:nvSpPr>
        <p:spPr>
          <a:xfrm>
            <a:off x="329692" y="4281529"/>
            <a:ext cx="274321" cy="13707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1000">
                <a:solidFill>
                  <a:srgbClr val="FFFFFF"/>
                </a:solidFill>
              </a:defRPr>
            </a:lvl1pPr>
          </a:lstStyle>
          <a:p>
            <a:pPr/>
            <a:r>
              <a:t>5</a:t>
            </a:r>
          </a:p>
        </p:txBody>
      </p:sp>
      <p:sp>
        <p:nvSpPr>
          <p:cNvPr id="345" name="Text 25"/>
          <p:cNvSpPr txBox="1"/>
          <p:nvPr/>
        </p:nvSpPr>
        <p:spPr>
          <a:xfrm>
            <a:off x="741172" y="4172518"/>
            <a:ext cx="5212081" cy="39167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sz="1100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The proposed approach improves prediction accuracy, reduces false signals, and supports intelligent, data-driven trading in dynamic markets.</a:t>
            </a:r>
          </a:p>
        </p:txBody>
      </p:sp>
      <p:sp>
        <p:nvSpPr>
          <p:cNvPr id="346" name="Shape 26"/>
          <p:cNvSpPr/>
          <p:nvPr/>
        </p:nvSpPr>
        <p:spPr>
          <a:xfrm>
            <a:off x="6492175" y="884488"/>
            <a:ext cx="2377441" cy="3931921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347" name="Shape 27"/>
          <p:cNvSpPr/>
          <p:nvPr/>
        </p:nvSpPr>
        <p:spPr>
          <a:xfrm>
            <a:off x="6714056" y="4338294"/>
            <a:ext cx="164593" cy="320041"/>
          </a:xfrm>
          <a:prstGeom prst="rect">
            <a:avLst/>
          </a:prstGeom>
          <a:solidFill>
            <a:srgbClr val="D62B1F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348" name="Shape 28"/>
          <p:cNvSpPr/>
          <p:nvPr/>
        </p:nvSpPr>
        <p:spPr>
          <a:xfrm>
            <a:off x="6960944" y="4155414"/>
            <a:ext cx="164593" cy="502920"/>
          </a:xfrm>
          <a:prstGeom prst="rect">
            <a:avLst/>
          </a:prstGeom>
          <a:solidFill>
            <a:srgbClr val="FF7060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349" name="Shape 29"/>
          <p:cNvSpPr/>
          <p:nvPr/>
        </p:nvSpPr>
        <p:spPr>
          <a:xfrm>
            <a:off x="7207832" y="4246854"/>
            <a:ext cx="164593" cy="411481"/>
          </a:xfrm>
          <a:prstGeom prst="rect">
            <a:avLst/>
          </a:prstGeom>
          <a:solidFill>
            <a:srgbClr val="D62B1F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350" name="Shape 30"/>
          <p:cNvSpPr/>
          <p:nvPr/>
        </p:nvSpPr>
        <p:spPr>
          <a:xfrm>
            <a:off x="7454720" y="3972535"/>
            <a:ext cx="164593" cy="685801"/>
          </a:xfrm>
          <a:prstGeom prst="rect">
            <a:avLst/>
          </a:prstGeom>
          <a:solidFill>
            <a:srgbClr val="FF7060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351" name="Shape 31"/>
          <p:cNvSpPr/>
          <p:nvPr/>
        </p:nvSpPr>
        <p:spPr>
          <a:xfrm>
            <a:off x="7701608" y="4063974"/>
            <a:ext cx="164593" cy="594361"/>
          </a:xfrm>
          <a:prstGeom prst="rect">
            <a:avLst/>
          </a:prstGeom>
          <a:solidFill>
            <a:srgbClr val="D62B1F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352" name="Shape 32"/>
          <p:cNvSpPr/>
          <p:nvPr/>
        </p:nvSpPr>
        <p:spPr>
          <a:xfrm>
            <a:off x="7948496" y="3789654"/>
            <a:ext cx="164593" cy="868681"/>
          </a:xfrm>
          <a:prstGeom prst="rect">
            <a:avLst/>
          </a:prstGeom>
          <a:solidFill>
            <a:srgbClr val="FF7060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353" name="Shape 33"/>
          <p:cNvSpPr/>
          <p:nvPr/>
        </p:nvSpPr>
        <p:spPr>
          <a:xfrm>
            <a:off x="8195384" y="3926814"/>
            <a:ext cx="164593" cy="731521"/>
          </a:xfrm>
          <a:prstGeom prst="rect">
            <a:avLst/>
          </a:prstGeom>
          <a:solidFill>
            <a:srgbClr val="D62B1F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354" name="Shape 34"/>
          <p:cNvSpPr/>
          <p:nvPr/>
        </p:nvSpPr>
        <p:spPr>
          <a:xfrm>
            <a:off x="8442272" y="3652494"/>
            <a:ext cx="164593" cy="1005840"/>
          </a:xfrm>
          <a:prstGeom prst="rect">
            <a:avLst/>
          </a:prstGeom>
          <a:solidFill>
            <a:srgbClr val="FF7060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355" name="Shape 35"/>
          <p:cNvSpPr/>
          <p:nvPr/>
        </p:nvSpPr>
        <p:spPr>
          <a:xfrm>
            <a:off x="6714056" y="3606774"/>
            <a:ext cx="1975106" cy="914401"/>
          </a:xfrm>
          <a:prstGeom prst="line">
            <a:avLst/>
          </a:prstGeom>
          <a:ln w="31750">
            <a:solidFill>
              <a:srgbClr val="16A34A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356" name="Text 36"/>
          <p:cNvSpPr txBox="1"/>
          <p:nvPr/>
        </p:nvSpPr>
        <p:spPr>
          <a:xfrm>
            <a:off x="6537895" y="803463"/>
            <a:ext cx="2286001" cy="10947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sz="6000">
                <a:latin typeface="+mj-lt"/>
                <a:ea typeface="+mj-ea"/>
                <a:cs typeface="+mj-cs"/>
                <a:sym typeface="Helvetica"/>
              </a:defRPr>
            </a:lvl1pPr>
          </a:lstStyle>
          <a:p>
            <a:pPr>
              <a:defRPr>
                <a:latin typeface="+mn-lt"/>
                <a:ea typeface="+mn-ea"/>
                <a:cs typeface="+mn-cs"/>
                <a:sym typeface="Calibri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📈</a:t>
            </a:r>
          </a:p>
        </p:txBody>
      </p:sp>
      <p:sp>
        <p:nvSpPr>
          <p:cNvPr id="357" name="Text 37"/>
          <p:cNvSpPr txBox="1"/>
          <p:nvPr/>
        </p:nvSpPr>
        <p:spPr>
          <a:xfrm>
            <a:off x="8732519" y="4929124"/>
            <a:ext cx="27432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r">
              <a:defRPr b="1" sz="900">
                <a:solidFill>
                  <a:srgbClr val="FFFFFF"/>
                </a:solidFill>
              </a:defRPr>
            </a:lvl1pPr>
          </a:lstStyle>
          <a:p>
            <a:pPr/>
            <a:r>
              <a:t>7</a:t>
            </a:r>
          </a:p>
        </p:txBody>
      </p:sp>
      <p:sp>
        <p:nvSpPr>
          <p:cNvPr id="358" name="Text 33"/>
          <p:cNvSpPr txBox="1"/>
          <p:nvPr/>
        </p:nvSpPr>
        <p:spPr>
          <a:xfrm>
            <a:off x="6631761" y="1774343"/>
            <a:ext cx="2103121" cy="25820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b="1" sz="1300">
                <a:solidFill>
                  <a:srgbClr val="16A34A"/>
                </a:solidFill>
              </a:defRPr>
            </a:lvl1pPr>
          </a:lstStyle>
          <a:p>
            <a:pPr/>
            <a:r>
              <a:t>R² = 0.8977</a:t>
            </a:r>
          </a:p>
        </p:txBody>
      </p:sp>
      <p:sp>
        <p:nvSpPr>
          <p:cNvPr id="359" name="Text 34"/>
          <p:cNvSpPr txBox="1"/>
          <p:nvPr/>
        </p:nvSpPr>
        <p:spPr>
          <a:xfrm>
            <a:off x="6629335" y="2004673"/>
            <a:ext cx="2103121" cy="2285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sz="1000">
                <a:solidFill>
                  <a:srgbClr val="64748B"/>
                </a:solidFill>
              </a:defRPr>
            </a:lvl1pPr>
          </a:lstStyle>
          <a:p>
            <a:pPr/>
            <a:r>
              <a:t>LSTM Best Model</a:t>
            </a:r>
          </a:p>
        </p:txBody>
      </p:sp>
      <p:sp>
        <p:nvSpPr>
          <p:cNvPr id="360" name="Shape 35"/>
          <p:cNvSpPr/>
          <p:nvPr/>
        </p:nvSpPr>
        <p:spPr>
          <a:xfrm>
            <a:off x="6636258" y="2264841"/>
            <a:ext cx="2103121" cy="36577"/>
          </a:xfrm>
          <a:prstGeom prst="rect">
            <a:avLst/>
          </a:prstGeom>
          <a:solidFill>
            <a:srgbClr val="E2E8F0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361" name="Text 36"/>
          <p:cNvSpPr txBox="1"/>
          <p:nvPr/>
        </p:nvSpPr>
        <p:spPr>
          <a:xfrm>
            <a:off x="6636258" y="2394414"/>
            <a:ext cx="2103121" cy="22570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b="1" sz="1100">
                <a:solidFill>
                  <a:srgbClr val="1A6FD8"/>
                </a:solidFill>
              </a:defRPr>
            </a:lvl1pPr>
          </a:lstStyle>
          <a:p>
            <a:pPr/>
            <a:r>
              <a:t>RMSE = 41.69</a:t>
            </a:r>
          </a:p>
        </p:txBody>
      </p:sp>
      <p:sp>
        <p:nvSpPr>
          <p:cNvPr id="362" name="Text 37"/>
          <p:cNvSpPr txBox="1"/>
          <p:nvPr/>
        </p:nvSpPr>
        <p:spPr>
          <a:xfrm>
            <a:off x="6631761" y="2648279"/>
            <a:ext cx="2103121" cy="20591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sz="900">
                <a:solidFill>
                  <a:srgbClr val="64748B"/>
                </a:solidFill>
              </a:defRPr>
            </a:lvl1pPr>
          </a:lstStyle>
          <a:p>
            <a:pPr/>
            <a:r>
              <a:t>TCS.NS Dataset</a:t>
            </a:r>
          </a:p>
        </p:txBody>
      </p:sp>
      <p:sp>
        <p:nvSpPr>
          <p:cNvPr id="363" name="Shape 38"/>
          <p:cNvSpPr/>
          <p:nvPr/>
        </p:nvSpPr>
        <p:spPr>
          <a:xfrm>
            <a:off x="6629335" y="2892812"/>
            <a:ext cx="2103121" cy="36577"/>
          </a:xfrm>
          <a:prstGeom prst="rect">
            <a:avLst/>
          </a:prstGeom>
          <a:solidFill>
            <a:srgbClr val="E2E8F0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364" name="Text 39"/>
          <p:cNvSpPr txBox="1"/>
          <p:nvPr/>
        </p:nvSpPr>
        <p:spPr>
          <a:xfrm>
            <a:off x="6629335" y="3006147"/>
            <a:ext cx="2103121" cy="3456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/>
          <a:p>
            <a:pPr algn="ctr">
              <a:defRPr b="1" sz="900">
                <a:solidFill>
                  <a:srgbClr val="D62B1F"/>
                </a:solidFill>
              </a:defRPr>
            </a:pPr>
            <a:r>
              <a:t>ARIMA R² = −0.24</a:t>
            </a:r>
          </a:p>
          <a:p>
            <a:pPr algn="ctr">
              <a:defRPr b="1" sz="900">
                <a:solidFill>
                  <a:srgbClr val="D62B1F"/>
                </a:solidFill>
              </a:defRPr>
            </a:pPr>
            <a:r>
              <a:t>Prophet R² = −0.28</a:t>
            </a:r>
          </a:p>
        </p:txBody>
      </p:sp>
      <p:sp>
        <p:nvSpPr>
          <p:cNvPr id="365" name="Text 40"/>
          <p:cNvSpPr txBox="1"/>
          <p:nvPr/>
        </p:nvSpPr>
        <p:spPr>
          <a:xfrm>
            <a:off x="6629335" y="3438748"/>
            <a:ext cx="2103121" cy="32301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/>
          <a:p>
            <a:pPr algn="ctr">
              <a:defRPr sz="800">
                <a:solidFill>
                  <a:srgbClr val="64748B"/>
                </a:solidFill>
              </a:defRPr>
            </a:pPr>
            <a:r>
              <a:t>Poor performers</a:t>
            </a:r>
          </a:p>
          <a:p>
            <a:pPr algn="ctr">
              <a:defRPr sz="800">
                <a:solidFill>
                  <a:srgbClr val="64748B"/>
                </a:solidFill>
              </a:defRPr>
            </a:pPr>
            <a:r>
              <a:t>(volatile market)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67" name="Image 0" descr="Image 0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-1" y="-4745"/>
            <a:ext cx="9144001" cy="5143501"/>
          </a:xfrm>
          <a:prstGeom prst="rect">
            <a:avLst/>
          </a:prstGeom>
          <a:ln w="12700">
            <a:miter lim="400000"/>
          </a:ln>
        </p:spPr>
      </p:pic>
      <p:sp>
        <p:nvSpPr>
          <p:cNvPr id="368" name="Text 0"/>
          <p:cNvSpPr txBox="1"/>
          <p:nvPr/>
        </p:nvSpPr>
        <p:spPr>
          <a:xfrm>
            <a:off x="102427" y="153820"/>
            <a:ext cx="7315201" cy="40560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3200">
                <a:latin typeface="Carlito"/>
                <a:ea typeface="Carlito"/>
                <a:cs typeface="Carlito"/>
                <a:sym typeface="Carlito"/>
              </a:defRPr>
            </a:lvl1pPr>
          </a:lstStyle>
          <a:p>
            <a:pPr/>
            <a:r>
              <a:t>References</a:t>
            </a:r>
          </a:p>
        </p:txBody>
      </p:sp>
      <p:sp>
        <p:nvSpPr>
          <p:cNvPr id="369" name="Shape 1"/>
          <p:cNvSpPr/>
          <p:nvPr/>
        </p:nvSpPr>
        <p:spPr>
          <a:xfrm>
            <a:off x="210756" y="658749"/>
            <a:ext cx="256033" cy="256033"/>
          </a:xfrm>
          <a:prstGeom prst="ellipse">
            <a:avLst/>
          </a:prstGeom>
          <a:solidFill>
            <a:srgbClr val="D62B1F"/>
          </a:solidFill>
          <a:ln w="12700">
            <a:miter lim="400000"/>
          </a:ln>
        </p:spPr>
        <p:txBody>
          <a:bodyPr lIns="45719" rIns="45719"/>
          <a:lstStyle/>
          <a:p>
            <a:pPr>
              <a:defRPr sz="1100"/>
            </a:pPr>
          </a:p>
        </p:txBody>
      </p:sp>
      <p:sp>
        <p:nvSpPr>
          <p:cNvPr id="370" name="Text 2"/>
          <p:cNvSpPr txBox="1"/>
          <p:nvPr/>
        </p:nvSpPr>
        <p:spPr>
          <a:xfrm>
            <a:off x="210756" y="710487"/>
            <a:ext cx="256033" cy="13426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1100">
                <a:solidFill>
                  <a:srgbClr val="FFFFFF"/>
                </a:solidFill>
              </a:defRPr>
            </a:lvl1pPr>
          </a:lstStyle>
          <a:p>
            <a:pPr/>
            <a:r>
              <a:t>1</a:t>
            </a:r>
          </a:p>
        </p:txBody>
      </p:sp>
      <p:sp>
        <p:nvSpPr>
          <p:cNvPr id="371" name="Text 3"/>
          <p:cNvSpPr txBox="1"/>
          <p:nvPr/>
        </p:nvSpPr>
        <p:spPr>
          <a:xfrm>
            <a:off x="603948" y="665290"/>
            <a:ext cx="3657601" cy="39167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/>
          <a:p>
            <a:pPr defTabSz="457200">
              <a:defRPr sz="1100">
                <a:latin typeface="Arial"/>
                <a:ea typeface="Arial"/>
                <a:cs typeface="Arial"/>
                <a:sym typeface="Arial"/>
              </a:defRPr>
            </a:pPr>
            <a:r>
              <a:t>S. Khanna and P. Sharma,“Stock prediction using machine learning,” </a:t>
            </a:r>
            <a:r>
              <a:rPr i="1"/>
              <a:t>JETIR</a:t>
            </a:r>
            <a:r>
              <a:t>, vol. 8, no. 6, 2021.</a:t>
            </a:r>
          </a:p>
        </p:txBody>
      </p:sp>
      <p:sp>
        <p:nvSpPr>
          <p:cNvPr id="372" name="Shape 4"/>
          <p:cNvSpPr/>
          <p:nvPr/>
        </p:nvSpPr>
        <p:spPr>
          <a:xfrm>
            <a:off x="219837" y="1207135"/>
            <a:ext cx="256033" cy="256033"/>
          </a:xfrm>
          <a:prstGeom prst="ellipse">
            <a:avLst/>
          </a:prstGeom>
          <a:solidFill>
            <a:srgbClr val="D62B1F"/>
          </a:solidFill>
          <a:ln w="12700">
            <a:miter lim="400000"/>
          </a:ln>
        </p:spPr>
        <p:txBody>
          <a:bodyPr lIns="45719" rIns="45719"/>
          <a:lstStyle/>
          <a:p>
            <a:pPr>
              <a:defRPr sz="1100"/>
            </a:pPr>
          </a:p>
        </p:txBody>
      </p:sp>
      <p:sp>
        <p:nvSpPr>
          <p:cNvPr id="373" name="Text 5"/>
          <p:cNvSpPr txBox="1"/>
          <p:nvPr/>
        </p:nvSpPr>
        <p:spPr>
          <a:xfrm>
            <a:off x="219837" y="1258873"/>
            <a:ext cx="256033" cy="13426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1100">
                <a:solidFill>
                  <a:srgbClr val="FFFFFF"/>
                </a:solidFill>
              </a:defRPr>
            </a:lvl1pPr>
          </a:lstStyle>
          <a:p>
            <a:pPr/>
            <a:r>
              <a:t>2</a:t>
            </a:r>
          </a:p>
        </p:txBody>
      </p:sp>
      <p:sp>
        <p:nvSpPr>
          <p:cNvPr id="374" name="Text 6"/>
          <p:cNvSpPr txBox="1"/>
          <p:nvPr/>
        </p:nvSpPr>
        <p:spPr>
          <a:xfrm>
            <a:off x="603948" y="1095226"/>
            <a:ext cx="3657601" cy="54407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/>
          <a:p>
            <a:pPr defTabSz="457200">
              <a:defRPr sz="1100">
                <a:latin typeface="Arial"/>
                <a:ea typeface="Arial"/>
                <a:cs typeface="Arial"/>
                <a:sym typeface="Arial"/>
              </a:defRPr>
            </a:pPr>
            <a:r>
              <a:t>H. Althelaya, E. El-Alfy, and S. Mohammed,“Machine learning approaches for financial market prediction,” </a:t>
            </a:r>
            <a:r>
              <a:rPr i="1"/>
              <a:t>Analytics</a:t>
            </a:r>
            <a:r>
              <a:t>, vol. 5, no. 3, 2023.</a:t>
            </a:r>
          </a:p>
        </p:txBody>
      </p:sp>
      <p:sp>
        <p:nvSpPr>
          <p:cNvPr id="375" name="Shape 7"/>
          <p:cNvSpPr/>
          <p:nvPr/>
        </p:nvSpPr>
        <p:spPr>
          <a:xfrm>
            <a:off x="210756" y="1755521"/>
            <a:ext cx="256033" cy="256033"/>
          </a:xfrm>
          <a:prstGeom prst="ellipse">
            <a:avLst/>
          </a:prstGeom>
          <a:solidFill>
            <a:srgbClr val="D62B1F"/>
          </a:solidFill>
          <a:ln w="12700">
            <a:miter lim="400000"/>
          </a:ln>
        </p:spPr>
        <p:txBody>
          <a:bodyPr lIns="45719" rIns="45719"/>
          <a:lstStyle/>
          <a:p>
            <a:pPr>
              <a:defRPr sz="1100"/>
            </a:pPr>
          </a:p>
        </p:txBody>
      </p:sp>
      <p:sp>
        <p:nvSpPr>
          <p:cNvPr id="376" name="Text 8"/>
          <p:cNvSpPr txBox="1"/>
          <p:nvPr/>
        </p:nvSpPr>
        <p:spPr>
          <a:xfrm>
            <a:off x="210756" y="1807259"/>
            <a:ext cx="256033" cy="13426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1100">
                <a:solidFill>
                  <a:srgbClr val="FFFFFF"/>
                </a:solidFill>
              </a:defRPr>
            </a:lvl1pPr>
          </a:lstStyle>
          <a:p>
            <a:pPr/>
            <a:r>
              <a:t>3</a:t>
            </a:r>
          </a:p>
        </p:txBody>
      </p:sp>
      <p:sp>
        <p:nvSpPr>
          <p:cNvPr id="377" name="Text 9"/>
          <p:cNvSpPr txBox="1"/>
          <p:nvPr/>
        </p:nvSpPr>
        <p:spPr>
          <a:xfrm>
            <a:off x="603948" y="1710092"/>
            <a:ext cx="3657601" cy="39167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/>
          <a:p>
            <a:pPr defTabSz="457200">
              <a:defRPr sz="1100">
                <a:latin typeface="Arial"/>
                <a:ea typeface="Arial"/>
                <a:cs typeface="Arial"/>
                <a:sym typeface="Arial"/>
              </a:defRPr>
            </a:pPr>
            <a:r>
              <a:t>A. Verma and R. Singh,“Stock prediction using machine learning,” </a:t>
            </a:r>
            <a:r>
              <a:rPr i="1"/>
              <a:t>IJARCCE</a:t>
            </a:r>
            <a:r>
              <a:t>, vol. 13, no. 4, 2024.</a:t>
            </a:r>
          </a:p>
        </p:txBody>
      </p:sp>
      <p:sp>
        <p:nvSpPr>
          <p:cNvPr id="378" name="Shape 10"/>
          <p:cNvSpPr/>
          <p:nvPr/>
        </p:nvSpPr>
        <p:spPr>
          <a:xfrm>
            <a:off x="210756" y="2303907"/>
            <a:ext cx="256033" cy="256033"/>
          </a:xfrm>
          <a:prstGeom prst="ellipse">
            <a:avLst/>
          </a:prstGeom>
          <a:solidFill>
            <a:srgbClr val="D62B1F"/>
          </a:solidFill>
          <a:ln w="12700">
            <a:miter lim="400000"/>
          </a:ln>
        </p:spPr>
        <p:txBody>
          <a:bodyPr lIns="45719" rIns="45719"/>
          <a:lstStyle/>
          <a:p>
            <a:pPr>
              <a:defRPr sz="1100"/>
            </a:pPr>
          </a:p>
        </p:txBody>
      </p:sp>
      <p:sp>
        <p:nvSpPr>
          <p:cNvPr id="379" name="Text 11"/>
          <p:cNvSpPr txBox="1"/>
          <p:nvPr/>
        </p:nvSpPr>
        <p:spPr>
          <a:xfrm>
            <a:off x="210756" y="2355645"/>
            <a:ext cx="256033" cy="13426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1100">
                <a:solidFill>
                  <a:srgbClr val="FFFFFF"/>
                </a:solidFill>
              </a:defRPr>
            </a:lvl1pPr>
          </a:lstStyle>
          <a:p>
            <a:pPr/>
            <a:r>
              <a:t>4</a:t>
            </a:r>
          </a:p>
        </p:txBody>
      </p:sp>
      <p:sp>
        <p:nvSpPr>
          <p:cNvPr id="380" name="Text 12"/>
          <p:cNvSpPr txBox="1"/>
          <p:nvPr/>
        </p:nvSpPr>
        <p:spPr>
          <a:xfrm>
            <a:off x="603948" y="2251762"/>
            <a:ext cx="3657601" cy="39167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/>
          <a:p>
            <a:pPr defTabSz="457200">
              <a:defRPr sz="1100">
                <a:latin typeface="Arial"/>
                <a:ea typeface="Arial"/>
                <a:cs typeface="Arial"/>
                <a:sym typeface="Arial"/>
              </a:defRPr>
            </a:pPr>
            <a:r>
              <a:t>A. Saxena and P. Sharma,</a:t>
            </a:r>
          </a:p>
          <a:p>
            <a:pPr defTabSz="457200">
              <a:defRPr sz="1100">
                <a:latin typeface="Arial"/>
                <a:ea typeface="Arial"/>
                <a:cs typeface="Arial"/>
                <a:sym typeface="Arial"/>
              </a:defRPr>
            </a:pPr>
            <a:r>
              <a:t>“Stock prediction using machine learning,” 2022.</a:t>
            </a:r>
          </a:p>
        </p:txBody>
      </p:sp>
      <p:sp>
        <p:nvSpPr>
          <p:cNvPr id="381" name="Shape 13"/>
          <p:cNvSpPr/>
          <p:nvPr/>
        </p:nvSpPr>
        <p:spPr>
          <a:xfrm>
            <a:off x="210756" y="2859923"/>
            <a:ext cx="256033" cy="256033"/>
          </a:xfrm>
          <a:prstGeom prst="ellipse">
            <a:avLst/>
          </a:prstGeom>
          <a:solidFill>
            <a:srgbClr val="D62B1F"/>
          </a:solidFill>
          <a:ln w="12700">
            <a:miter lim="400000"/>
          </a:ln>
        </p:spPr>
        <p:txBody>
          <a:bodyPr lIns="45719" rIns="45719"/>
          <a:lstStyle/>
          <a:p>
            <a:pPr>
              <a:defRPr sz="1100"/>
            </a:pPr>
          </a:p>
        </p:txBody>
      </p:sp>
      <p:sp>
        <p:nvSpPr>
          <p:cNvPr id="382" name="Text 14"/>
          <p:cNvSpPr txBox="1"/>
          <p:nvPr/>
        </p:nvSpPr>
        <p:spPr>
          <a:xfrm>
            <a:off x="210756" y="2911662"/>
            <a:ext cx="256033" cy="13426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1100">
                <a:solidFill>
                  <a:srgbClr val="FFFFFF"/>
                </a:solidFill>
              </a:defRPr>
            </a:lvl1pPr>
          </a:lstStyle>
          <a:p>
            <a:pPr/>
            <a:r>
              <a:t>5</a:t>
            </a:r>
          </a:p>
        </p:txBody>
      </p:sp>
      <p:sp>
        <p:nvSpPr>
          <p:cNvPr id="383" name="Text 15"/>
          <p:cNvSpPr txBox="1"/>
          <p:nvPr/>
        </p:nvSpPr>
        <p:spPr>
          <a:xfrm>
            <a:off x="558228" y="2792867"/>
            <a:ext cx="3749041" cy="39167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defTabSz="457200">
              <a:defRPr sz="1100"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R. Kumar and A. Singh,“Machine learning techniques for stock market prediction,” 2022.</a:t>
            </a:r>
          </a:p>
        </p:txBody>
      </p:sp>
      <p:sp>
        <p:nvSpPr>
          <p:cNvPr id="384" name="Shape 16"/>
          <p:cNvSpPr/>
          <p:nvPr/>
        </p:nvSpPr>
        <p:spPr>
          <a:xfrm>
            <a:off x="210756" y="3415940"/>
            <a:ext cx="256033" cy="256033"/>
          </a:xfrm>
          <a:prstGeom prst="ellipse">
            <a:avLst/>
          </a:prstGeom>
          <a:solidFill>
            <a:srgbClr val="D62B1F"/>
          </a:solidFill>
          <a:ln w="12700">
            <a:miter lim="400000"/>
          </a:ln>
        </p:spPr>
        <p:txBody>
          <a:bodyPr lIns="45719" rIns="45719"/>
          <a:lstStyle/>
          <a:p>
            <a:pPr>
              <a:defRPr sz="1100"/>
            </a:pPr>
          </a:p>
        </p:txBody>
      </p:sp>
      <p:sp>
        <p:nvSpPr>
          <p:cNvPr id="385" name="Text 17"/>
          <p:cNvSpPr txBox="1"/>
          <p:nvPr/>
        </p:nvSpPr>
        <p:spPr>
          <a:xfrm>
            <a:off x="210756" y="3467678"/>
            <a:ext cx="256033" cy="13426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1100">
                <a:solidFill>
                  <a:srgbClr val="FFFFFF"/>
                </a:solidFill>
              </a:defRPr>
            </a:lvl1pPr>
          </a:lstStyle>
          <a:p>
            <a:pPr/>
            <a:r>
              <a:t>6</a:t>
            </a:r>
          </a:p>
        </p:txBody>
      </p:sp>
      <p:sp>
        <p:nvSpPr>
          <p:cNvPr id="386" name="Text 18"/>
          <p:cNvSpPr txBox="1"/>
          <p:nvPr/>
        </p:nvSpPr>
        <p:spPr>
          <a:xfrm>
            <a:off x="558228" y="3336183"/>
            <a:ext cx="3749041" cy="39167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defTabSz="457200">
              <a:defRPr sz="1100"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F. Khan and P. Singh,“Stock price prediction using ML and LSTM based deep learning models,” 2022.</a:t>
            </a:r>
          </a:p>
        </p:txBody>
      </p:sp>
      <p:sp>
        <p:nvSpPr>
          <p:cNvPr id="387" name="Shape 19"/>
          <p:cNvSpPr/>
          <p:nvPr/>
        </p:nvSpPr>
        <p:spPr>
          <a:xfrm>
            <a:off x="210756" y="3931261"/>
            <a:ext cx="256033" cy="256033"/>
          </a:xfrm>
          <a:prstGeom prst="ellipse">
            <a:avLst/>
          </a:prstGeom>
          <a:solidFill>
            <a:srgbClr val="D62B1F"/>
          </a:solidFill>
          <a:ln w="12700">
            <a:miter lim="400000"/>
          </a:ln>
        </p:spPr>
        <p:txBody>
          <a:bodyPr lIns="45719" rIns="45719"/>
          <a:lstStyle/>
          <a:p>
            <a:pPr>
              <a:defRPr sz="1100"/>
            </a:pPr>
          </a:p>
        </p:txBody>
      </p:sp>
      <p:sp>
        <p:nvSpPr>
          <p:cNvPr id="388" name="Text 20"/>
          <p:cNvSpPr txBox="1"/>
          <p:nvPr/>
        </p:nvSpPr>
        <p:spPr>
          <a:xfrm>
            <a:off x="210756" y="3982999"/>
            <a:ext cx="256033" cy="13426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1100">
                <a:solidFill>
                  <a:srgbClr val="FFFFFF"/>
                </a:solidFill>
              </a:defRPr>
            </a:lvl1pPr>
          </a:lstStyle>
          <a:p>
            <a:pPr/>
            <a:r>
              <a:t>7</a:t>
            </a:r>
          </a:p>
        </p:txBody>
      </p:sp>
      <p:sp>
        <p:nvSpPr>
          <p:cNvPr id="389" name="Text 21"/>
          <p:cNvSpPr txBox="1"/>
          <p:nvPr/>
        </p:nvSpPr>
        <p:spPr>
          <a:xfrm>
            <a:off x="558228" y="3796949"/>
            <a:ext cx="3749041" cy="54407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/>
          <a:p>
            <a:pPr defTabSz="457200">
              <a:defRPr sz="1100">
                <a:latin typeface="Arial"/>
                <a:ea typeface="Arial"/>
                <a:cs typeface="Arial"/>
                <a:sym typeface="Arial"/>
              </a:defRPr>
            </a:pPr>
            <a:r>
              <a:t>W. Bao, J. Yue, and Y. Rao,“A deep learning framework for financial time series using stacked autoencoders and LSTM,” </a:t>
            </a:r>
            <a:r>
              <a:rPr i="1"/>
              <a:t>PLOS ONE</a:t>
            </a:r>
            <a:r>
              <a:t>, vol. 12, no. 7, 2017.</a:t>
            </a:r>
          </a:p>
        </p:txBody>
      </p:sp>
      <p:sp>
        <p:nvSpPr>
          <p:cNvPr id="390" name="Text 22"/>
          <p:cNvSpPr txBox="1"/>
          <p:nvPr/>
        </p:nvSpPr>
        <p:spPr>
          <a:xfrm>
            <a:off x="8732519" y="5428548"/>
            <a:ext cx="27432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r">
              <a:defRPr b="1" sz="900">
                <a:solidFill>
                  <a:srgbClr val="FFFFFF"/>
                </a:solidFill>
              </a:defRPr>
            </a:lvl1pPr>
          </a:lstStyle>
          <a:p>
            <a:pPr/>
            <a:r>
              <a:t>8</a:t>
            </a:r>
          </a:p>
        </p:txBody>
      </p:sp>
      <p:sp>
        <p:nvSpPr>
          <p:cNvPr id="391" name="Shape 1"/>
          <p:cNvSpPr/>
          <p:nvPr/>
        </p:nvSpPr>
        <p:spPr>
          <a:xfrm>
            <a:off x="4732688" y="791327"/>
            <a:ext cx="256033" cy="256033"/>
          </a:xfrm>
          <a:prstGeom prst="ellipse">
            <a:avLst/>
          </a:prstGeom>
          <a:solidFill>
            <a:srgbClr val="D62B1F"/>
          </a:solidFill>
          <a:ln w="12700">
            <a:miter lim="400000"/>
          </a:ln>
        </p:spPr>
        <p:txBody>
          <a:bodyPr lIns="45719" rIns="45719"/>
          <a:lstStyle/>
          <a:p>
            <a:pPr>
              <a:defRPr sz="1100"/>
            </a:pPr>
          </a:p>
        </p:txBody>
      </p:sp>
      <p:sp>
        <p:nvSpPr>
          <p:cNvPr id="392" name="Text 2"/>
          <p:cNvSpPr txBox="1"/>
          <p:nvPr/>
        </p:nvSpPr>
        <p:spPr>
          <a:xfrm>
            <a:off x="4732688" y="843065"/>
            <a:ext cx="256033" cy="13426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1100">
                <a:solidFill>
                  <a:srgbClr val="FFFFFF"/>
                </a:solidFill>
              </a:defRPr>
            </a:lvl1pPr>
          </a:lstStyle>
          <a:p>
            <a:pPr/>
            <a:r>
              <a:t>9</a:t>
            </a:r>
          </a:p>
        </p:txBody>
      </p:sp>
      <p:sp>
        <p:nvSpPr>
          <p:cNvPr id="393" name="Text 3"/>
          <p:cNvSpPr txBox="1"/>
          <p:nvPr/>
        </p:nvSpPr>
        <p:spPr>
          <a:xfrm>
            <a:off x="5125880" y="668248"/>
            <a:ext cx="3657601" cy="54407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/>
          <a:p>
            <a:pPr defTabSz="457200">
              <a:defRPr sz="1100">
                <a:latin typeface="Arial"/>
                <a:ea typeface="Arial"/>
                <a:cs typeface="Arial"/>
                <a:sym typeface="Arial"/>
              </a:defRPr>
            </a:pPr>
            <a:r>
              <a:t>V. Chang </a:t>
            </a:r>
            <a:r>
              <a:rPr i="1"/>
              <a:t>et al.</a:t>
            </a:r>
            <a:r>
              <a:t>,“Predicting economic trends and stock market prices with deep learning,” </a:t>
            </a:r>
            <a:r>
              <a:rPr i="1"/>
              <a:t>Electronics</a:t>
            </a:r>
            <a:r>
              <a:t>, vol. 13, no. 17, 2024.</a:t>
            </a:r>
          </a:p>
        </p:txBody>
      </p:sp>
      <p:sp>
        <p:nvSpPr>
          <p:cNvPr id="394" name="Shape 4"/>
          <p:cNvSpPr/>
          <p:nvPr/>
        </p:nvSpPr>
        <p:spPr>
          <a:xfrm>
            <a:off x="4732688" y="1361630"/>
            <a:ext cx="256033" cy="256033"/>
          </a:xfrm>
          <a:prstGeom prst="ellipse">
            <a:avLst/>
          </a:prstGeom>
          <a:solidFill>
            <a:srgbClr val="D62B1F"/>
          </a:solidFill>
          <a:ln w="12700">
            <a:miter lim="400000"/>
          </a:ln>
        </p:spPr>
        <p:txBody>
          <a:bodyPr lIns="45719" rIns="45719"/>
          <a:lstStyle/>
          <a:p>
            <a:pPr>
              <a:defRPr sz="1100"/>
            </a:pPr>
          </a:p>
        </p:txBody>
      </p:sp>
      <p:sp>
        <p:nvSpPr>
          <p:cNvPr id="395" name="Text 5"/>
          <p:cNvSpPr txBox="1"/>
          <p:nvPr/>
        </p:nvSpPr>
        <p:spPr>
          <a:xfrm>
            <a:off x="4732688" y="1413368"/>
            <a:ext cx="256033" cy="13426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1100">
                <a:solidFill>
                  <a:srgbClr val="FFFFFF"/>
                </a:solidFill>
              </a:defRPr>
            </a:lvl1pPr>
          </a:lstStyle>
          <a:p>
            <a:pPr/>
            <a:r>
              <a:t>10</a:t>
            </a:r>
          </a:p>
        </p:txBody>
      </p:sp>
      <p:sp>
        <p:nvSpPr>
          <p:cNvPr id="396" name="Text 6"/>
          <p:cNvSpPr txBox="1"/>
          <p:nvPr/>
        </p:nvSpPr>
        <p:spPr>
          <a:xfrm>
            <a:off x="5125880" y="1258873"/>
            <a:ext cx="3657601" cy="54407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/>
          <a:p>
            <a:pPr defTabSz="457200">
              <a:defRPr sz="1100">
                <a:latin typeface="Arial"/>
                <a:ea typeface="Arial"/>
                <a:cs typeface="Arial"/>
                <a:sym typeface="Arial"/>
              </a:defRPr>
            </a:pPr>
            <a:r>
              <a:t>H. Al-Dmour </a:t>
            </a:r>
            <a:r>
              <a:rPr i="1"/>
              <a:t>et al.</a:t>
            </a:r>
            <a:r>
              <a:t>,“Stock market price prediction using machine learning and deep learning techniques,” </a:t>
            </a:r>
            <a:r>
              <a:rPr i="1"/>
              <a:t>Scientific Reports</a:t>
            </a:r>
            <a:r>
              <a:t>, vol. 14, no. 1, 2024.</a:t>
            </a:r>
          </a:p>
        </p:txBody>
      </p:sp>
      <p:sp>
        <p:nvSpPr>
          <p:cNvPr id="397" name="Shape 7"/>
          <p:cNvSpPr/>
          <p:nvPr/>
        </p:nvSpPr>
        <p:spPr>
          <a:xfrm>
            <a:off x="4732688" y="1950220"/>
            <a:ext cx="256033" cy="256033"/>
          </a:xfrm>
          <a:prstGeom prst="ellipse">
            <a:avLst/>
          </a:prstGeom>
          <a:solidFill>
            <a:srgbClr val="D62B1F"/>
          </a:solidFill>
          <a:ln w="12700">
            <a:miter lim="400000"/>
          </a:ln>
        </p:spPr>
        <p:txBody>
          <a:bodyPr lIns="45719" rIns="45719"/>
          <a:lstStyle/>
          <a:p>
            <a:pPr>
              <a:defRPr sz="1100"/>
            </a:pPr>
          </a:p>
        </p:txBody>
      </p:sp>
      <p:sp>
        <p:nvSpPr>
          <p:cNvPr id="398" name="Text 8"/>
          <p:cNvSpPr txBox="1"/>
          <p:nvPr/>
        </p:nvSpPr>
        <p:spPr>
          <a:xfrm>
            <a:off x="4732688" y="2001959"/>
            <a:ext cx="256033" cy="13426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1100">
                <a:solidFill>
                  <a:srgbClr val="FFFFFF"/>
                </a:solidFill>
              </a:defRPr>
            </a:lvl1pPr>
          </a:lstStyle>
          <a:p>
            <a:pPr/>
            <a:r>
              <a:t>11</a:t>
            </a:r>
          </a:p>
        </p:txBody>
      </p:sp>
      <p:sp>
        <p:nvSpPr>
          <p:cNvPr id="399" name="Text 9"/>
          <p:cNvSpPr txBox="1"/>
          <p:nvPr/>
        </p:nvSpPr>
        <p:spPr>
          <a:xfrm>
            <a:off x="5125880" y="1878747"/>
            <a:ext cx="3657601" cy="54407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/>
          <a:p>
            <a:pPr defTabSz="457200">
              <a:defRPr sz="1100">
                <a:latin typeface="Arial"/>
                <a:ea typeface="Arial"/>
                <a:cs typeface="Arial"/>
                <a:sym typeface="Arial"/>
              </a:defRPr>
            </a:pPr>
            <a:r>
              <a:t>T. Fischer and C. Krauss,“Deep learning with LSTM networks for financial market predictions,” </a:t>
            </a:r>
            <a:r>
              <a:rPr i="1"/>
              <a:t>EJOR</a:t>
            </a:r>
            <a:r>
              <a:t>, vol. 270, no. 2, 2018.</a:t>
            </a:r>
          </a:p>
        </p:txBody>
      </p:sp>
      <p:sp>
        <p:nvSpPr>
          <p:cNvPr id="400" name="Shape 10"/>
          <p:cNvSpPr/>
          <p:nvPr/>
        </p:nvSpPr>
        <p:spPr>
          <a:xfrm>
            <a:off x="4732688" y="2498606"/>
            <a:ext cx="256033" cy="256033"/>
          </a:xfrm>
          <a:prstGeom prst="ellipse">
            <a:avLst/>
          </a:prstGeom>
          <a:solidFill>
            <a:srgbClr val="D62B1F"/>
          </a:solidFill>
          <a:ln w="12700">
            <a:miter lim="400000"/>
          </a:ln>
        </p:spPr>
        <p:txBody>
          <a:bodyPr lIns="45719" rIns="45719"/>
          <a:lstStyle/>
          <a:p>
            <a:pPr>
              <a:defRPr sz="1100"/>
            </a:pPr>
          </a:p>
        </p:txBody>
      </p:sp>
      <p:sp>
        <p:nvSpPr>
          <p:cNvPr id="401" name="Text 11"/>
          <p:cNvSpPr txBox="1"/>
          <p:nvPr/>
        </p:nvSpPr>
        <p:spPr>
          <a:xfrm>
            <a:off x="4732688" y="2550344"/>
            <a:ext cx="256033" cy="13426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1100">
                <a:solidFill>
                  <a:srgbClr val="FFFFFF"/>
                </a:solidFill>
              </a:defRPr>
            </a:lvl1pPr>
          </a:lstStyle>
          <a:p>
            <a:pPr/>
            <a:r>
              <a:t>12</a:t>
            </a:r>
          </a:p>
        </p:txBody>
      </p:sp>
      <p:sp>
        <p:nvSpPr>
          <p:cNvPr id="402" name="Text 12"/>
          <p:cNvSpPr txBox="1"/>
          <p:nvPr/>
        </p:nvSpPr>
        <p:spPr>
          <a:xfrm>
            <a:off x="5125880" y="2460417"/>
            <a:ext cx="3657601" cy="39167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/>
          <a:p>
            <a:pPr defTabSz="457200">
              <a:defRPr sz="1100">
                <a:latin typeface="Arial"/>
                <a:ea typeface="Arial"/>
                <a:cs typeface="Arial"/>
                <a:sym typeface="Arial"/>
              </a:defRPr>
            </a:pPr>
            <a:r>
              <a:t>Y. LeCun, Y. Bengio, and G. Hinton,</a:t>
            </a:r>
          </a:p>
          <a:p>
            <a:pPr defTabSz="457200">
              <a:defRPr sz="1100">
                <a:latin typeface="Arial"/>
                <a:ea typeface="Arial"/>
                <a:cs typeface="Arial"/>
                <a:sym typeface="Arial"/>
              </a:defRPr>
            </a:pPr>
            <a:r>
              <a:t>“Deep learning,” </a:t>
            </a:r>
            <a:r>
              <a:rPr i="1"/>
              <a:t>Nature</a:t>
            </a:r>
            <a:r>
              <a:t>, vol. 521, no. 7553, 2015.</a:t>
            </a:r>
          </a:p>
        </p:txBody>
      </p:sp>
      <p:sp>
        <p:nvSpPr>
          <p:cNvPr id="403" name="Shape 13"/>
          <p:cNvSpPr/>
          <p:nvPr/>
        </p:nvSpPr>
        <p:spPr>
          <a:xfrm>
            <a:off x="4732688" y="3117018"/>
            <a:ext cx="256033" cy="256033"/>
          </a:xfrm>
          <a:prstGeom prst="ellipse">
            <a:avLst/>
          </a:prstGeom>
          <a:solidFill>
            <a:srgbClr val="D62B1F"/>
          </a:solidFill>
          <a:ln w="12700">
            <a:miter lim="400000"/>
          </a:ln>
        </p:spPr>
        <p:txBody>
          <a:bodyPr lIns="45719" rIns="45719"/>
          <a:lstStyle/>
          <a:p>
            <a:pPr>
              <a:defRPr sz="1100"/>
            </a:pPr>
          </a:p>
        </p:txBody>
      </p:sp>
      <p:sp>
        <p:nvSpPr>
          <p:cNvPr id="404" name="Text 14"/>
          <p:cNvSpPr txBox="1"/>
          <p:nvPr/>
        </p:nvSpPr>
        <p:spPr>
          <a:xfrm>
            <a:off x="4732688" y="3168756"/>
            <a:ext cx="256033" cy="13426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1100">
                <a:solidFill>
                  <a:srgbClr val="FFFFFF"/>
                </a:solidFill>
              </a:defRPr>
            </a:lvl1pPr>
          </a:lstStyle>
          <a:p>
            <a:pPr/>
            <a:r>
              <a:t>13</a:t>
            </a:r>
          </a:p>
        </p:txBody>
      </p:sp>
      <p:sp>
        <p:nvSpPr>
          <p:cNvPr id="405" name="Text 15"/>
          <p:cNvSpPr txBox="1"/>
          <p:nvPr/>
        </p:nvSpPr>
        <p:spPr>
          <a:xfrm>
            <a:off x="5080160" y="3052911"/>
            <a:ext cx="3749041" cy="54407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/>
          <a:p>
            <a:pPr defTabSz="457200">
              <a:defRPr sz="1100">
                <a:latin typeface="Arial"/>
                <a:ea typeface="Arial"/>
                <a:cs typeface="Arial"/>
                <a:sym typeface="Arial"/>
              </a:defRPr>
            </a:pPr>
            <a:r>
              <a:t>J. Patel </a:t>
            </a:r>
            <a:r>
              <a:rPr i="1"/>
              <a:t>et al.</a:t>
            </a:r>
            <a:r>
              <a:t>,“Predicting stock market index using fusion of machine learning techniques,” </a:t>
            </a:r>
            <a:r>
              <a:rPr i="1"/>
              <a:t>Expert Systems with Applications</a:t>
            </a:r>
            <a:r>
              <a:t>, vol. 42, no. 4, 2015.</a:t>
            </a:r>
          </a:p>
        </p:txBody>
      </p:sp>
      <p:sp>
        <p:nvSpPr>
          <p:cNvPr id="406" name="Shape 16"/>
          <p:cNvSpPr/>
          <p:nvPr/>
        </p:nvSpPr>
        <p:spPr>
          <a:xfrm>
            <a:off x="4732688" y="3740500"/>
            <a:ext cx="256033" cy="256033"/>
          </a:xfrm>
          <a:prstGeom prst="ellipse">
            <a:avLst/>
          </a:prstGeom>
          <a:solidFill>
            <a:srgbClr val="D62B1F"/>
          </a:solidFill>
          <a:ln w="12700">
            <a:miter lim="400000"/>
          </a:ln>
        </p:spPr>
        <p:txBody>
          <a:bodyPr lIns="45719" rIns="45719"/>
          <a:lstStyle/>
          <a:p>
            <a:pPr>
              <a:defRPr sz="1100"/>
            </a:pPr>
          </a:p>
        </p:txBody>
      </p:sp>
      <p:sp>
        <p:nvSpPr>
          <p:cNvPr id="407" name="Text 17"/>
          <p:cNvSpPr txBox="1"/>
          <p:nvPr/>
        </p:nvSpPr>
        <p:spPr>
          <a:xfrm>
            <a:off x="4732688" y="3792239"/>
            <a:ext cx="256033" cy="13426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1100">
                <a:solidFill>
                  <a:srgbClr val="FFFFFF"/>
                </a:solidFill>
              </a:defRPr>
            </a:lvl1pPr>
          </a:lstStyle>
          <a:p>
            <a:pPr/>
            <a:r>
              <a:t>14</a:t>
            </a:r>
          </a:p>
        </p:txBody>
      </p:sp>
      <p:sp>
        <p:nvSpPr>
          <p:cNvPr id="408" name="Text 18"/>
          <p:cNvSpPr txBox="1"/>
          <p:nvPr/>
        </p:nvSpPr>
        <p:spPr>
          <a:xfrm>
            <a:off x="5080160" y="3715993"/>
            <a:ext cx="3749041" cy="39167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/>
          <a:p>
            <a:pPr defTabSz="457200">
              <a:spcBef>
                <a:spcPts val="1200"/>
              </a:spcBef>
              <a:defRPr sz="1100">
                <a:latin typeface="Arial"/>
                <a:ea typeface="Arial"/>
                <a:cs typeface="Arial"/>
                <a:sym typeface="Arial"/>
              </a:defRPr>
            </a:pPr>
            <a:r>
              <a:t>S. Siami-Namini </a:t>
            </a:r>
            <a:r>
              <a:rPr i="1"/>
              <a:t>et al.</a:t>
            </a:r>
            <a:r>
              <a:t>,“A comparison of ARIMA and LSTM in forecasting time series,” </a:t>
            </a:r>
            <a:r>
              <a:rPr i="1"/>
              <a:t>ICMLA</a:t>
            </a:r>
            <a:r>
              <a:t>, 2018.</a:t>
            </a:r>
          </a:p>
        </p:txBody>
      </p:sp>
      <p:sp>
        <p:nvSpPr>
          <p:cNvPr id="409" name="Shape 19"/>
          <p:cNvSpPr/>
          <p:nvPr/>
        </p:nvSpPr>
        <p:spPr>
          <a:xfrm>
            <a:off x="4732688" y="4265528"/>
            <a:ext cx="256033" cy="256033"/>
          </a:xfrm>
          <a:prstGeom prst="ellipse">
            <a:avLst/>
          </a:prstGeom>
          <a:solidFill>
            <a:srgbClr val="D62B1F"/>
          </a:solidFill>
          <a:ln w="12700">
            <a:miter lim="400000"/>
          </a:ln>
        </p:spPr>
        <p:txBody>
          <a:bodyPr lIns="45719" rIns="45719"/>
          <a:lstStyle/>
          <a:p>
            <a:pPr>
              <a:defRPr sz="1100"/>
            </a:pPr>
          </a:p>
        </p:txBody>
      </p:sp>
      <p:sp>
        <p:nvSpPr>
          <p:cNvPr id="410" name="Text 20"/>
          <p:cNvSpPr txBox="1"/>
          <p:nvPr/>
        </p:nvSpPr>
        <p:spPr>
          <a:xfrm>
            <a:off x="4732688" y="4317267"/>
            <a:ext cx="256033" cy="13426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1100">
                <a:solidFill>
                  <a:srgbClr val="FFFFFF"/>
                </a:solidFill>
              </a:defRPr>
            </a:lvl1pPr>
          </a:lstStyle>
          <a:p>
            <a:pPr/>
            <a:r>
              <a:t>15</a:t>
            </a:r>
          </a:p>
        </p:txBody>
      </p:sp>
      <p:sp>
        <p:nvSpPr>
          <p:cNvPr id="411" name="Text 21"/>
          <p:cNvSpPr txBox="1"/>
          <p:nvPr/>
        </p:nvSpPr>
        <p:spPr>
          <a:xfrm>
            <a:off x="5080160" y="4226673"/>
            <a:ext cx="3749041" cy="39167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/>
          <a:p>
            <a:pPr defTabSz="457200">
              <a:defRPr sz="1100">
                <a:latin typeface="Arial"/>
                <a:ea typeface="Arial"/>
                <a:cs typeface="Arial"/>
                <a:sym typeface="Arial"/>
              </a:defRPr>
            </a:pPr>
            <a:r>
              <a:t>Z. Zhang </a:t>
            </a:r>
            <a:r>
              <a:rPr i="1"/>
              <a:t>et al.</a:t>
            </a:r>
            <a:r>
              <a:t>,“Deep learning for portfolio optimization,” </a:t>
            </a:r>
            <a:r>
              <a:rPr i="1"/>
              <a:t>Journal of Financial Data Science</a:t>
            </a:r>
            <a:r>
              <a:t>, vol. 2, no. 4, 2020.</a:t>
            </a:r>
          </a:p>
        </p:txBody>
      </p:sp>
      <p:sp>
        <p:nvSpPr>
          <p:cNvPr id="412" name="Shape 19"/>
          <p:cNvSpPr/>
          <p:nvPr/>
        </p:nvSpPr>
        <p:spPr>
          <a:xfrm>
            <a:off x="228791" y="4472366"/>
            <a:ext cx="256033" cy="256033"/>
          </a:xfrm>
          <a:prstGeom prst="ellipse">
            <a:avLst/>
          </a:prstGeom>
          <a:solidFill>
            <a:srgbClr val="D62B1F"/>
          </a:solidFill>
          <a:ln w="12700">
            <a:miter lim="400000"/>
          </a:ln>
        </p:spPr>
        <p:txBody>
          <a:bodyPr lIns="45719" rIns="45719"/>
          <a:lstStyle/>
          <a:p>
            <a:pPr>
              <a:defRPr sz="1100"/>
            </a:pPr>
          </a:p>
        </p:txBody>
      </p:sp>
      <p:sp>
        <p:nvSpPr>
          <p:cNvPr id="413" name="Text 20"/>
          <p:cNvSpPr txBox="1"/>
          <p:nvPr/>
        </p:nvSpPr>
        <p:spPr>
          <a:xfrm>
            <a:off x="228791" y="4524104"/>
            <a:ext cx="256033" cy="13426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1100">
                <a:solidFill>
                  <a:srgbClr val="FFFFFF"/>
                </a:solidFill>
              </a:defRPr>
            </a:lvl1pPr>
          </a:lstStyle>
          <a:p>
            <a:pPr/>
            <a:r>
              <a:t>8</a:t>
            </a:r>
          </a:p>
        </p:txBody>
      </p:sp>
      <p:sp>
        <p:nvSpPr>
          <p:cNvPr id="414" name="Text 21"/>
          <p:cNvSpPr txBox="1"/>
          <p:nvPr/>
        </p:nvSpPr>
        <p:spPr>
          <a:xfrm>
            <a:off x="576263" y="4414254"/>
            <a:ext cx="3749041" cy="39167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defTabSz="457200">
              <a:defRPr sz="1100"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“Stock market prediction method based on simple market feature data and attention framework”,2024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6" name="THANK YOU"/>
          <p:cNvSpPr txBox="1"/>
          <p:nvPr>
            <p:ph type="title" idx="4294967295"/>
          </p:nvPr>
        </p:nvSpPr>
        <p:spPr>
          <a:xfrm>
            <a:off x="457200" y="2212039"/>
            <a:ext cx="8229600" cy="1131095"/>
          </a:xfrm>
          <a:prstGeom prst="rect">
            <a:avLst/>
          </a:prstGeom>
        </p:spPr>
        <p:txBody>
          <a:bodyPr/>
          <a:lstStyle>
            <a:lvl1pPr>
              <a:defRPr b="1" sz="5000"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THANK YOU</a:t>
            </a:r>
          </a:p>
        </p:txBody>
      </p:sp>
      <p:pic>
        <p:nvPicPr>
          <p:cNvPr id="417" name="Image 0" descr="Image 0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-1" y="-1"/>
            <a:ext cx="9144001" cy="5143501"/>
          </a:xfrm>
          <a:prstGeom prst="rect">
            <a:avLst/>
          </a:prstGeom>
          <a:ln w="12700">
            <a:miter lim="400000"/>
          </a:ln>
        </p:spPr>
      </p:pic>
      <p:sp>
        <p:nvSpPr>
          <p:cNvPr id="418" name="THANK YOU"/>
          <p:cNvSpPr txBox="1"/>
          <p:nvPr/>
        </p:nvSpPr>
        <p:spPr>
          <a:xfrm>
            <a:off x="2826614" y="2532206"/>
            <a:ext cx="3263018" cy="73869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 algn="ctr">
              <a:defRPr b="1" sz="5000">
                <a:latin typeface="Carlito"/>
                <a:ea typeface="Carlito"/>
                <a:cs typeface="Carlito"/>
                <a:sym typeface="Carlito"/>
              </a:defRPr>
            </a:lvl1pPr>
          </a:lstStyle>
          <a:p>
            <a:pPr/>
            <a:r>
              <a:t>THANK YOU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 Them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000FF"/>
      </a:hlink>
      <a:folHlink>
        <a:srgbClr val="FF00FF"/>
      </a:folHlink>
    </a:clrScheme>
    <a:fontScheme name="Office Theme">
      <a:majorFont>
        <a:latin typeface="Helvetica"/>
        <a:ea typeface="Helvetica"/>
        <a:cs typeface="Helvetica"/>
      </a:majorFont>
      <a:minorFont>
        <a:latin typeface="Calibri"/>
        <a:ea typeface="Calibri"/>
        <a:cs typeface="Calibri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12700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ctr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12700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t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 Them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000FF"/>
      </a:hlink>
      <a:folHlink>
        <a:srgbClr val="FF00FF"/>
      </a:folHlink>
    </a:clrScheme>
    <a:fontScheme name="Office Theme">
      <a:majorFont>
        <a:latin typeface="Helvetica"/>
        <a:ea typeface="Helvetica"/>
        <a:cs typeface="Helvetica"/>
      </a:majorFont>
      <a:minorFont>
        <a:latin typeface="Calibri"/>
        <a:ea typeface="Calibri"/>
        <a:cs typeface="Calibri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12700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ctr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12700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t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docProps/app.xml><?xml version="1.0" encoding="utf-8"?>
<Properties xmlns="http://schemas.openxmlformats.org/officeDocument/2006/extended-properties" xmlns:vt="http://schemas.openxmlformats.org/officeDocument/2006/docPropsVTypes"/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/>
</file>